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4213D"/>
                </a:solidFill>
                <a:latin typeface="Calibri"/>
              </a:rPr>
              <a:t>Casos funcionales por épica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Casos funcionales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A556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EP01 Catálogo de productos</c:v>
                  </c:pt>
                  <c:pt idx="1">
                    <c:v>EP02 Carrito de compras</c:v>
                  </c:pt>
                  <c:pt idx="2">
                    <c:v>EP03 Cuenta y seguridad</c:v>
                  </c:pt>
                  <c:pt idx="3">
                    <c:v>EP04 Checkout y pago</c:v>
                  </c:pt>
                  <c:pt idx="4">
                    <c:v>EP05 Post-compra y fidelización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21</c:v>
                </c:pt>
                <c:pt idx="2">
                  <c:v>18</c:v>
                </c:pt>
                <c:pt idx="3">
                  <c:v>15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A556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4213D"/>
                </a:solidFill>
                <a:latin typeface="Calibri"/>
              </a:rPr>
              <a:t>Puntaje Lighthouse (0–100)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Accesibilidad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login</c:v>
                  </c:pt>
                  <c:pt idx="1">
                    <c:v>registro</c:v>
                  </c:pt>
                  <c:pt idx="2">
                    <c:v>index</c:v>
                  </c:pt>
                  <c:pt idx="3">
                    <c:v>producto</c:v>
                  </c:pt>
                  <c:pt idx="4">
                    <c:v>carrito</c:v>
                  </c:pt>
                  <c:pt idx="5">
                    <c:v>checkout</c:v>
                  </c:pt>
                  <c:pt idx="6">
                    <c:v>confirmacion</c:v>
                  </c:pt>
                  <c:pt idx="7">
                    <c:v>perfil</c:v>
                  </c:pt>
                  <c:pt idx="8">
                    <c:v>pedidos</c:v>
                  </c:pt>
                  <c:pt idx="9">
                    <c:v>favoritos</c:v>
                  </c:pt>
                  <c:pt idx="10">
                    <c:v>privacidad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100</c:v>
                </c:pt>
                <c:pt idx="2">
                  <c:v>96</c:v>
                </c:pt>
                <c:pt idx="3">
                  <c:v>96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95</c:v>
                </c:pt>
                <c:pt idx="9">
                  <c:v>96</c:v>
                </c:pt>
                <c:pt idx="10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Rendimiento</c:v>
                </c:pt>
              </c:strCache>
            </c:strRef>
          </c:tx>
          <c:spPr>
            <a:solidFill>
              <a:srgbClr val="FCA3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login</c:v>
                  </c:pt>
                  <c:pt idx="1">
                    <c:v>registro</c:v>
                  </c:pt>
                  <c:pt idx="2">
                    <c:v>index</c:v>
                  </c:pt>
                  <c:pt idx="3">
                    <c:v>producto</c:v>
                  </c:pt>
                  <c:pt idx="4">
                    <c:v>carrito</c:v>
                  </c:pt>
                  <c:pt idx="5">
                    <c:v>checkout</c:v>
                  </c:pt>
                  <c:pt idx="6">
                    <c:v>confirmacion</c:v>
                  </c:pt>
                  <c:pt idx="7">
                    <c:v>perfil</c:v>
                  </c:pt>
                  <c:pt idx="8">
                    <c:v>pedidos</c:v>
                  </c:pt>
                  <c:pt idx="9">
                    <c:v>favoritos</c:v>
                  </c:pt>
                  <c:pt idx="10">
                    <c:v>privacidad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94</c:v>
                </c:pt>
                <c:pt idx="1">
                  <c:v>100</c:v>
                </c:pt>
                <c:pt idx="2">
                  <c:v>76</c:v>
                </c:pt>
                <c:pt idx="3">
                  <c:v>100</c:v>
                </c:pt>
                <c:pt idx="4">
                  <c:v>94</c:v>
                </c:pt>
                <c:pt idx="5">
                  <c:v>94</c:v>
                </c:pt>
                <c:pt idx="6">
                  <c:v>96</c:v>
                </c:pt>
                <c:pt idx="7">
                  <c:v>94</c:v>
                </c:pt>
                <c:pt idx="8">
                  <c:v>94</c:v>
                </c:pt>
                <c:pt idx="9">
                  <c:v>100</c:v>
                </c:pt>
                <c:pt idx="10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/>
          <a:lstStyle/>
          <a:p>
            <a:pPr>
              <a:defRPr sz="9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4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A55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los tres entregables de aseguramiento de la calidad de TechStore: el Plan de Pruebas, el Plan de Calidad y la Prueba de Conformidad con ISO/IEC 25010.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TechStore es una tienda 100 % frontend. Tiene 30 historias de usuario con 84 criterios de aceptación, que son la base de todos los casos de prueba.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resultados salen de ejecuciones reales sobre GitHub Pages el 9 de octubre de 2026. Las métricas de usuarios reales se completarán con Maze.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parte: el Plan de Pruebas, que sigue las 12 secciones del modelo del curso y la norma ISO/IEC/IEEE 29119.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niveles, de unitarias a aceptación. No se hacen pruebas de carga porque no hay servidor: cada usuario ejecuta la app en su propio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técnicas de diseño de casos y diez tipos de prueba, que cubren tanto los requisitos funcionales como los no funcionales.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caso indica la historia y el criterio que verifica, y su resultado esperado usa los mensajes reales de la app, comprobados contra el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casos de mayor riesgo se detallan con el formato del modelo: precondiciones, entradas, pasos y resultado esperado.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de entrada ya se cumplen. El cronograma es tentativo y se ajusta al calendario del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riesgo R5 se detectó al diseñar el plan: restablecer los datos de demo no reinicia los intentos fallidos. Quedó registrado como defecto D-01.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parte: el Plan de Calidad, según el modelo del curso e IEEE 730, con la línea base medida el 9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Roles: líder de proyecto, desarrollo, QA y usuarios clave. Las estrategias combinan revisiones, pruebas planificadas, automatización y control de cambios.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de 14 métricas ya cumplen y ninguna medida está por debajo de su meta. Las pendientes requieren ejecutar los casos funcionales, la prueba en Maze, Firefox y corregir defectos para medir el MTTR.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Rendimiento 94–100 en todas las páginas salvo el catálogo (76) por un salto de diseño en la primera carga, registrado como defecto D-03. La carga real es de milisegundos.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defectos de severidad media o baja. D-01 y D-02 son correcciones pequeñas que además permitirán medir el MTTR.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parte: la Prueba de Conformidad, con los casos CC01 a CC07 ejecutados en Chrome y 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norma se tradujo en un caso con requisito, precondiciones, pasos, resultado esperado y criterio de conformidad, como pide 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siete casos cumplen en Chrome y Edge. CC06 cumple su criterio (compra solo con teclado y puntaje ≥ 90), pero se registró la observación de contraste.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caso tiene captura como evidencia en el documento. La única no conformidad es el contraste del texto verde, que se corrige cambiando un color.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Cierro con los resultados principales y los cuatro pasos que faltan para la aceptación completa del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· Calidad de Software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502920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Logo de la Universidad Tecnológica del Per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589788"/>
            <a:ext cx="1865376" cy="496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685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· INGENIERÍA DE SOFTWARE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32588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Pruebas, Plan de Calidad y Prueba de Conformidad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514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– Tienda web de tecnología con carrito de compras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2461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Software – Sección 37648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Jorge Luis Blanco Reyna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DAMIÁN VALDIVIA, Diego Aarón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– Perú,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TechStore: el sistema bajo evaluación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web de tecnología: catálogo, carrito, cupones, cuenta de cliente, checkout con pago simulado, pedidos y favoritos.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 puro, sin backend; datos en localStorage.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Publicada en: 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diegoaaron.github.io/calidadProyecto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26280" y="109728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09160" y="12801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965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de usuario (HU01–HU30)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629400" y="109728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12280" y="12801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812280" y="1965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aceptación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27889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29718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6576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evaluadas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29400" y="278892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12280" y="29718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36576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automatizadas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obtuvieron los resultados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28016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criterio de aceptación del Informe de HU se convirtió en un caso de prueba: 84 funcionales y 12 no funcionales.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128016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real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96596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navegador automatizado (Chrome 154 y Edge 155) usó la app publicada como un usuario: llenó formularios, pulsó botones y guardó capturas.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28016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96596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midió rendimiento, accesibilidad y buenas prácticas en las 11 páginas; se midió la carga real y el ancho a 375 px.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9319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datos simulados: </a:t>
            </a:r>
            <a:pPr indent="0" marL="0">
              <a:buNone/>
            </a:pPr>
            <a:r>
              <a:rPr lang="en-US" sz="1300" dirty="0">
                <a:solidFill>
                  <a:srgbClr val="5C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depende de personas (tasa de éxito y SUS en Maze) queda como pendiente, no como un número inventado.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Alcance, estrategia, casos de prueba, criterios y riesgos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estrategia por niveles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15568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0515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 · Desarrollador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3441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auth, cart, catalog y checkout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01368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37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7373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 y manual · Dev + QA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029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+ cupones + envío + checkout + Store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87168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4231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2423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Navegador, DevTools, Lighthouse · QA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2715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casos funcionales y 12 no funcionales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72968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1089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Aceptación (UAT)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31089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 + SUS · Usuarios clave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4015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 de compra con usuarios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1051560"/>
            <a:ext cx="3200400" cy="1600200"/>
          </a:xfrm>
          <a:prstGeom prst="roundRect">
            <a:avLst>
              <a:gd name="adj" fmla="val 457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1143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1463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RF de las 5 épicas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RNF (12 casos)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de 53 pruebas unitarias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0" y="2788920"/>
            <a:ext cx="3200400" cy="1600200"/>
          </a:xfrm>
          <a:prstGeom prst="roundRect">
            <a:avLst>
              <a:gd name="adj" fmla="val 4571"/>
            </a:avLst>
          </a:prstGeom>
          <a:solidFill>
            <a:srgbClr val="FDE7E7"/>
          </a:solidFill>
          <a:ln w="12700">
            <a:solidFill>
              <a:srgbClr val="FDE7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0" y="28803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32004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 real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o base de datos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y estrés (no hay servidor)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diseño y tipos de prueba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Aplicación en TechStore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Partición de equivalencia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Contraseñas, correos y tarjetas válidas e inválidas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Valores límite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Cantidad 0, 1, 10 y 11; montos de S/ 300, 500 y 1000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 de decisión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Cupones (código × monto) y costo de envío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Transición de estados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Sesión activa → expirada; cuenta normal → bloqueada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Conjetura de errores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en la búsqueda, acceso directo a páginas protegidas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852160" y="1051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prueba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852160" y="1463040"/>
            <a:ext cx="1325880" cy="411480"/>
          </a:xfrm>
          <a:prstGeom prst="roundRect">
            <a:avLst>
              <a:gd name="adj" fmla="val 17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5216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315200" y="1463040"/>
            <a:ext cx="1325880" cy="411480"/>
          </a:xfrm>
          <a:prstGeom prst="roundRect">
            <a:avLst>
              <a:gd name="adj" fmla="val 17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852160" y="2011680"/>
            <a:ext cx="1325880" cy="411480"/>
          </a:xfrm>
          <a:prstGeom prst="roundRect">
            <a:avLst>
              <a:gd name="adj" fmla="val 17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0" y="2011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2011680"/>
            <a:ext cx="1325880" cy="411480"/>
          </a:xfrm>
          <a:prstGeom prst="roundRect">
            <a:avLst>
              <a:gd name="adj" fmla="val 17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0" y="2011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852160" y="2560320"/>
            <a:ext cx="1325880" cy="411480"/>
          </a:xfrm>
          <a:prstGeom prst="roundRect">
            <a:avLst>
              <a:gd name="adj" fmla="val 17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52160" y="25603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Adaptabilidad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315200" y="2560320"/>
            <a:ext cx="1325880" cy="411480"/>
          </a:xfrm>
          <a:prstGeom prst="roundRect">
            <a:avLst>
              <a:gd name="adj" fmla="val 17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0" y="25603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3108960"/>
            <a:ext cx="1325880" cy="411480"/>
          </a:xfrm>
          <a:prstGeom prst="roundRect">
            <a:avLst>
              <a:gd name="adj" fmla="val 17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52160" y="31089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315200" y="3108960"/>
            <a:ext cx="1325880" cy="411480"/>
          </a:xfrm>
          <a:prstGeom prst="roundRect">
            <a:avLst>
              <a:gd name="adj" fmla="val 17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0" y="31089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852160" y="3657600"/>
            <a:ext cx="1325880" cy="411480"/>
          </a:xfrm>
          <a:prstGeom prst="roundRect">
            <a:avLst>
              <a:gd name="adj" fmla="val 17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852160" y="36576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315200" y="3657600"/>
            <a:ext cx="1325880" cy="411480"/>
          </a:xfrm>
          <a:prstGeom prst="roundRect">
            <a:avLst>
              <a:gd name="adj" fmla="val 177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0" y="365760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casos de prueba con trazabilidad completa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49377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577840" y="105156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60720" y="1143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6751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funcionales: uno por criterio de aceptación (CP001–CP084)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577840" y="219456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60720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2286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no funcionales para los 9 RNF (CNF01–CNF12)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3429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(heredada de MoSCoW)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Alta: 59   ·   Media: 18   ·   Baja: 7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4114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diseño: 100 % de los criterios y de los RNF.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caso: CP055 bloqueo tras 5 intentos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97280"/>
          <a:ext cx="7680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852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HU20 Iniciar sesión · CA3 · Prioridad Alta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Precondiciones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 demo@techstore.pe sin intentos fallidos previos.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Contraseña incorrecta «Clave@0000» × 5; luego la correcta «Demo@1234».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Abrir login.html  2. Fallar 5 veces  3. Ingresar la contraseña correcta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esperado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Intentos 1–4: «Intentos restantes: N». Intento 5: «Has superado 5 intentos. Cuenta bloqueada por 5 minutos.» Luego: acceso denegado.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31520" y="3977640"/>
            <a:ext cx="7680960" cy="502920"/>
          </a:xfrm>
          <a:prstGeom prst="roundRect">
            <a:avLst>
              <a:gd name="adj" fmla="val 1454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39776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Ejecutado: </a:t>
            </a:r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escenario que CC02 de la Prueba de Conformidad, cumple en Chrome y Edge.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entrada y salida, y cronograma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aprobadas, casos diseñados, app publicada, 53/53 unitarias, datos de demo restablecidos.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10515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48132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 de casos ejecutados, ≥ 90 % aprobados, 0 defectos críticos y altos abiertos.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05156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DE7E7"/>
          </a:solidFill>
          <a:ln w="12700">
            <a:solidFill>
              <a:srgbClr val="FDE7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Suspensión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48132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 bloqueante en el flujo de compra o el login; se reanuda tras corregir y pasar la regresión.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7498080" cy="0"/>
          </a:xfrm>
          <a:prstGeom prst="line">
            <a:avLst/>
          </a:prstGeom>
          <a:noFill/>
          <a:ln w="25400">
            <a:solidFill>
              <a:srgbClr val="E4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3000" y="3063240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12–16 oct.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casos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26080" y="3063240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19–23 oct.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31720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sistema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3063240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0916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26–30 oct.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y regresión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92240" y="3063240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26–30 oct.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897880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con Maze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75320" y="3063240"/>
            <a:ext cx="365760" cy="36576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68096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nov.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680960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y aprobación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y criterios de aprobación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560320" cy="685800"/>
          </a:xfrm>
          <a:prstGeom prst="roundRect">
            <a:avLst>
              <a:gd name="adj" fmla="val 10667"/>
            </a:avLst>
          </a:prstGeom>
          <a:solidFill>
            <a:srgbClr val="FDE7E7"/>
          </a:solidFill>
          <a:ln w="12700">
            <a:solidFill>
              <a:srgbClr val="FDE7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515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localStorage alterados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05156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337560" y="1051560"/>
            <a:ext cx="2514600" cy="685800"/>
          </a:xfrm>
          <a:prstGeom prst="roundRect">
            <a:avLst>
              <a:gd name="adj" fmla="val 10667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0515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Restablecer datos de demo antes de cada ciclo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560320" cy="685800"/>
          </a:xfrm>
          <a:prstGeom prst="roundRect">
            <a:avLst>
              <a:gd name="adj" fmla="val 10667"/>
            </a:avLst>
          </a:prstGeom>
          <a:solidFill>
            <a:srgbClr val="FDE7E7"/>
          </a:solidFill>
          <a:ln w="12700">
            <a:solidFill>
              <a:srgbClr val="FDE7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8745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participantes en Maze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187452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37560" y="1874520"/>
            <a:ext cx="2514600" cy="685800"/>
          </a:xfrm>
          <a:prstGeom prst="roundRect">
            <a:avLst>
              <a:gd name="adj" fmla="val 10667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874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Invitar con una semana de anticipación (mín. 5)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2560320" cy="685800"/>
          </a:xfrm>
          <a:prstGeom prst="roundRect">
            <a:avLst>
              <a:gd name="adj" fmla="val 10667"/>
            </a:avLst>
          </a:prstGeom>
          <a:solidFill>
            <a:srgbClr val="FDE7E7"/>
          </a:solidFill>
          <a:ln w="12700">
            <a:solidFill>
              <a:srgbClr val="FDE7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697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timeout de 15 min consume tiempo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69748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337560" y="2697480"/>
            <a:ext cx="2514600" cy="685800"/>
          </a:xfrm>
          <a:prstGeom prst="roundRect">
            <a:avLst>
              <a:gd name="adj" fmla="val 10667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2697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el tiempo desde la consola solo en pruebas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2560320" cy="685800"/>
          </a:xfrm>
          <a:prstGeom prst="roundRect">
            <a:avLst>
              <a:gd name="adj" fmla="val 10667"/>
            </a:avLst>
          </a:prstGeom>
          <a:solidFill>
            <a:srgbClr val="FDE7E7"/>
          </a:solidFill>
          <a:ln w="12700">
            <a:solidFill>
              <a:srgbClr val="FDE7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5204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«Restablecer» no desbloquea la cuenta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352044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337560" y="3520440"/>
            <a:ext cx="2514600" cy="685800"/>
          </a:xfrm>
          <a:prstGeom prst="roundRect">
            <a:avLst>
              <a:gd name="adj" fmla="val 10667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4720" y="35204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CP055 al final; registrado como defecto D-01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26480" y="1051560"/>
            <a:ext cx="2560320" cy="3154680"/>
          </a:xfrm>
          <a:prstGeom prst="roundRect">
            <a:avLst>
              <a:gd name="adj" fmla="val 285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1188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aprueba si…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164592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los criterios de salida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críticos y altos corregidos y verificados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en Maze: éxito ≥ 80 % y SUS ≥ 68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firmado por QA y docente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Calidad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Normas, métricas con línea base medida, defectos y aceptación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Normas, roles y estrategias de aseguramiento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y estándares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05740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PHVA en cada entrega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745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calidad del producto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730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plan de calidad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80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ISO/IEC/IEEE 29119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880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 casos de prueba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383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33832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(RNF03)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86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N.° 29733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0574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(RNF05)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754880" y="137160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Revisiones técnicas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16916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antes de codificar; documentos contra el código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13055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2176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planificadas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24505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unitarias, 96 casos de sistema, UAT y conformidad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889504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29352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3209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automatizado y Lighthouse sobre la versión publicada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648456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36941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cambios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39684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Git/GitHub: cada cambio en js/ con sus pruebas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calidad: línea base del 9/10/2026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05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0058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cumplen su meta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901952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01952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98064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798064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98064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 de medir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FDE7E7"/>
          </a:solidFill>
          <a:ln w="12700">
            <a:solidFill>
              <a:srgbClr val="FDE7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694176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694176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debajo de la meta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88920" y="960120"/>
          <a:ext cx="58978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2057400"/>
                <a:gridCol w="960120"/>
              </a:tblGrid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Cumplimiento de requisitos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95 %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ejecutar CP001–CP084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Exactitud de cálculos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 (6/6 + CC07)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 unitarias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53/53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Densidad de defectos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5/KLOC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3.5/KLOC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Defectos críticos abiertos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de carga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 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30–77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Navegadores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de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de 3 (sin Firefox)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 de éxito (Maze)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con usuarios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Satisfacción SUS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con usuarios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 (Lighthouse)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95–100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Controles de seguridad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(CC01–CC05)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Módulos con pruebas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Páginas sin scroll a 375 px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 días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defectos corregidos aún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en las 11 páginas publicadas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60120"/>
          <a:ext cx="56692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309360" y="10058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46520" y="1078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ms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58191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carga de la página más lenta (meta: &lt; 2 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309360" y="219456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46520" y="22677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95+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277063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en todas las páginas (meta ≥ 90)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09360" y="33832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4564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9593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sin scroll horizontal a 375 y 1920 px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encontrados y estado de la aceptación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24712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12471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43560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«Restablecer datos de demo» no desbloquea una cuenta bloqueada (RNF09).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075688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1488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D-02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14884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45973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de 4.17:1 en el texto verde de stock (WCAG pide 4.5:1).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99816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17296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D-03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172968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8386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 de diseño (CLS 0.89) en la primera carga del catálogo.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defectos críticos · densidad 3.5/KLOC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aceptación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141732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 de RF validados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543800" y="147218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43800" y="14721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937760" y="2020824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dentro de la meta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543800" y="2075688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07568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262432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defectos críticos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543800" y="2679192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43800" y="267919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3227832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conformidad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543800" y="3282696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43800" y="328269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3831336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con usuarios (Maze)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543800" y="3886200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43800" y="38862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Conformidad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y regulaciones: ISO/IEC 25010, Ley N.° 29733, PCI DSS, WCAG e IGV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evaluadas y cómo se verificaron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EEF2F7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0584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 – Seguridad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97480" y="100584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Contraseñas seguras, bloqueo tras 5 intentos, sesión de 15 min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100584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CC01–CC03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09344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60934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N.° 29733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609344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Consentimiento expreso y política de privacidad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609344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212848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EEF2F7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21284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(buenas prácticas)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221284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guardar el número completo ni el CVV; validar con Luhn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212848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81635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2816352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solo con teclado, etiquetas, foco visible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2816352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CC06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419856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EEF2F7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4198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IGV · Ley N.° 29571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697480" y="3419856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con IGV incluido y sin cargos ocultos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3419856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CC07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1005840"/>
            <a:ext cx="2468880" cy="2926080"/>
          </a:xfrm>
          <a:prstGeom prst="roundRect">
            <a:avLst>
              <a:gd name="adj" fmla="val 296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1097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150876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154 y Edge 155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limpio en cada caso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como evidencia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Esperas de 5 y 15 min acortadas y documentadas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resultados de conformidad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60350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234440"/>
                <a:gridCol w="1645920"/>
                <a:gridCol w="731520"/>
                <a:gridCol w="73152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Veredicto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contraseñas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Bloqueo por intentos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Expiración de sesión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N.° 29733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Consentimiento de datos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 DSS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de tarjeta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WCAG 2.1 AA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A6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 con observación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IGV / Ley 29571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transparentes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766560" y="1005840"/>
            <a:ext cx="1920240" cy="3291840"/>
          </a:xfrm>
          <a:prstGeom prst="roundRect">
            <a:avLst>
              <a:gd name="adj" fmla="val 381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630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cumplen en los dos navegadores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3291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CC06 con observación de contraste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y no conformidades</a:t>
            </a:r>
            <a:endParaRPr lang="en-US" sz="2600" dirty="0"/>
          </a:p>
        </p:txBody>
      </p:sp>
      <p:pic>
        <p:nvPicPr>
          <p:cNvPr id="3" name="Image 0" descr="Captura: número de tarjeta rechazado por el algoritmo de Luh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023360" cy="27066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005840"/>
            <a:ext cx="4023360" cy="2706624"/>
          </a:xfrm>
          <a:prstGeom prst="rect">
            <a:avLst/>
          </a:prstGeom>
          <a:ln w="12700">
            <a:solidFill>
              <a:srgbClr val="E4EAF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37947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CC05: la tarjeta 4111 1111 1111 1112 se rechaza; el pedido guarda solo «Visa» y «1111».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92040" y="10698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NC-01  </a:t>
            </a:r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insuficiente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92040" y="1389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verde de stock 4.17:1; WCAG 1.4.3 pide 4.5:1. Impide el nivel AA completo.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210312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2040" y="2167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OBS-01  </a:t>
            </a:r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 contraseñas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48716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están en texto plano, pero el hash no es criptográfico: limitación aceptada sin servidor.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4880" y="320040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2040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OBS-02  </a:t>
            </a:r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Firefox no verificado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35844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instalado en el equipo de pruebas.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114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próximos pasos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cumple las normas evaluadas: 7/7 casos de conformidad.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 14 métricas cumplen y ninguna medida está bajo la meta.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casos diseñados con trazabilidad al 100 % de los criterios.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defectos, ninguno crítico.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93776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937760" y="1554480"/>
            <a:ext cx="384048" cy="384048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554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usabilidad en Maze (éxito y SUS)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2121408"/>
            <a:ext cx="384048" cy="384048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212140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los 84 casos funcionales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37760" y="2688336"/>
            <a:ext cx="384048" cy="384048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6883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D-01 y D-02 y medir el MTTR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937760" y="3255264"/>
            <a:ext cx="384048" cy="384048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2552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el flujo en Firefox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2062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· ¿Preguntas?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Pruebas, Plan de Calidad y Prueba de Conformidad – TechStore</dc:title>
  <dc:subject>PptxGenJS Presentation</dc:subject>
  <dc:creator>PptxGenJS</dc:creator>
  <cp:lastModifiedBy>PptxGenJS</cp:lastModifiedBy>
  <cp:revision>1</cp:revision>
  <dcterms:created xsi:type="dcterms:W3CDTF">2026-10-09T23:14:56Z</dcterms:created>
  <dcterms:modified xsi:type="dcterms:W3CDTF">2026-10-09T23:14:56Z</dcterms:modified>
</cp:coreProperties>
</file>