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80" r:id="rId31"/>
    <p:sldId id="281" r:id="rId32"/>
    <p:sldId id="282" r:id="rId33"/>
    <p:sldId id="283" r:id="rId34"/>
    <p:sldId id="284" r:id="rId35"/>
    <p:sldId id="285" r:id="rId36"/>
    <p:sldId id="286" r:id="rId37"/>
    <p:sldId id="287" r:id="rId38"/>
    <p:sldId id="288" r:id="rId39"/>
    <p:sldId id="289" r:id="rId40"/>
    <p:sldId id="259" r:id="rId5"/>
    <p:sldId id="260" r:id="rId6"/>
    <p:sldId id="276" r:id="rId7"/>
    <p:sldId id="277" r:id="rId8"/>
    <p:sldId id="278" r:id="rId9"/>
    <p:sldId id="279"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90" r:id="rId41"/>
    <p:sldId id="275"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14.xml"/><Relationship Id="rId6" Type="http://schemas.openxmlformats.org/officeDocument/2006/relationships/slide" Target="slides/slide15.xml"/><Relationship Id="rId7" Type="http://schemas.openxmlformats.org/officeDocument/2006/relationships/slide" Target="slides/slide16.xml"/><Relationship Id="rId8" Type="http://schemas.openxmlformats.org/officeDocument/2006/relationships/slide" Target="slides/slide17.xml"/><Relationship Id="rId9" Type="http://schemas.openxmlformats.org/officeDocument/2006/relationships/slide" Target="slides/slide18.xml"/><Relationship Id="rId10" Type="http://schemas.openxmlformats.org/officeDocument/2006/relationships/slide" Target="slides/slide19.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slide" Target="slides/slide22.xml"/><Relationship Id="rId14" Type="http://schemas.openxmlformats.org/officeDocument/2006/relationships/slide" Target="slides/slide23.xml"/><Relationship Id="rId15" Type="http://schemas.openxmlformats.org/officeDocument/2006/relationships/slide" Target="slides/slide24.xml"/><Relationship Id="rId16" Type="http://schemas.openxmlformats.org/officeDocument/2006/relationships/slide" Target="slides/slide25.xml"/><Relationship Id="rId17" Type="http://schemas.openxmlformats.org/officeDocument/2006/relationships/slide" Target="slides/slide26.xml"/><Relationship Id="rId18" Type="http://schemas.openxmlformats.org/officeDocument/2006/relationships/slide" Target="slides/slide27.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1.xml"/><Relationship Id="rId23" Type="http://schemas.openxmlformats.org/officeDocument/2006/relationships/slide" Target="slides/slide32.xml"/><Relationship Id="rId24" Type="http://schemas.openxmlformats.org/officeDocument/2006/relationships/slide" Target="slides/slide33.xml"/><Relationship Id="rId25" Type="http://schemas.openxmlformats.org/officeDocument/2006/relationships/slide" Target="slides/slide35.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40" Type="http://schemas.openxmlformats.org/officeDocument/2006/relationships/slide" Target="slides/slide13.xml"/><Relationship Id="rId41"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200" b="0" i="0" u="none" strike="noStrike">
                <a:solidFill>
                  <a:srgbClr val="14213D"/>
                </a:solidFill>
                <a:latin typeface="Calibri"/>
              </a:defRPr>
            </a:pPr>
            <a:r>
              <a:rPr lang="es-PE" sz="1200" b="0" i="0" u="none" strike="noStrike">
                <a:solidFill>
                  <a:srgbClr val="14213D"/>
                </a:solidFill>
                <a:latin typeface="Calibri"/>
              </a:rPr>
              <a:t>Casos funcionales por épica</a:t>
            </a:r>
          </a:p>
        </c:rich>
      </c:tx>
      <c:overlay val="0"/>
    </c:title>
    <c:autoTitleDeleted val="0"/>
    <c:plotArea>
      <c:layout/>
      <c:barChart>
        <c:barDir val="bar"/>
        <c:grouping val="clustered"/>
        <c:varyColors val="0"/>
        <c:ser>
          <c:idx val="0"/>
          <c:order val="0"/>
          <c:tx>
            <c:strRef>
              <c:f>Sheet1!$B$1</c:f>
              <c:strCache>
                <c:ptCount val="1"/>
                <c:pt idx="0">
                  <c:v>Casos funcionales</c:v>
                </c:pt>
              </c:strCache>
            </c:strRef>
          </c:tx>
          <c:spPr>
            <a:solidFill>
              <a:srgbClr val="14213D"/>
            </a:solidFill>
            <a:effectLst/>
          </c:spPr>
          <c:invertIfNegative val="0"/>
          <c:dLbls>
            <c:numFmt formatCode="#,##0" sourceLinked="0"/>
            <c:spPr>
              <a:noFill/>
              <a:ln>
                <a:noFill/>
              </a:ln>
              <a:effectLst/>
            </c:spPr>
            <c:txPr>
              <a:bodyPr/>
              <a:lstStyle/>
              <a:p>
                <a:pPr>
                  <a:defRPr sz="1100" b="0" i="0" u="none" strike="noStrike">
                    <a:solidFill>
                      <a:srgbClr val="4A5568"/>
                    </a:solidFill>
                    <a:latin typeface="Calibri"/>
                  </a:defRPr>
                </a:pPr>
                <a:endParaRPr lang="es-P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EP01 Catálogo de productos</c:v>
                </c:pt>
                <c:pt idx="1">
                  <c:v>EP02 Carrito de compras</c:v>
                </c:pt>
                <c:pt idx="2">
                  <c:v>EP03 Cuenta y seguridad</c:v>
                </c:pt>
                <c:pt idx="3">
                  <c:v>EP04 Checkout y pago</c:v>
                </c:pt>
                <c:pt idx="4">
                  <c:v>EP05 Post-compra y fidelización</c:v>
                </c:pt>
              </c:strCache>
            </c:strRef>
          </c:cat>
          <c:val>
            <c:numRef>
              <c:f>Sheet1!$B$2:$B$6</c:f>
              <c:numCache>
                <c:formatCode>General</c:formatCode>
                <c:ptCount val="5"/>
                <c:pt idx="0">
                  <c:v>24</c:v>
                </c:pt>
                <c:pt idx="1">
                  <c:v>21</c:v>
                </c:pt>
                <c:pt idx="2">
                  <c:v>18</c:v>
                </c:pt>
                <c:pt idx="3">
                  <c:v>15</c:v>
                </c:pt>
                <c:pt idx="4">
                  <c:v>6</c:v>
                </c:pt>
              </c:numCache>
            </c:numRef>
          </c:val>
          <c:extLst>
            <c:ext xmlns:c16="http://schemas.microsoft.com/office/drawing/2014/chart" uri="{C3380CC4-5D6E-409C-BE32-E72D297353CC}">
              <c16:uniqueId val="{00000000-E642-45B0-8094-4B58ADE993F1}"/>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200" b="0" i="0" u="none" strike="noStrike">
                <a:solidFill>
                  <a:srgbClr val="14213D"/>
                </a:solidFill>
                <a:latin typeface="Calibri"/>
              </a:defRPr>
            </a:pPr>
            <a:r>
              <a:rPr lang="es-PE" sz="1200" b="0" i="0" u="none" strike="noStrike">
                <a:solidFill>
                  <a:srgbClr val="14213D"/>
                </a:solidFill>
                <a:latin typeface="Calibri"/>
              </a:rPr>
              <a:t>Puntaje Lighthouse (0–100)</a:t>
            </a:r>
          </a:p>
        </c:rich>
      </c:tx>
      <c:overlay val="0"/>
    </c:title>
    <c:autoTitleDeleted val="0"/>
    <c:plotArea>
      <c:layout/>
      <c:barChart>
        <c:barDir val="col"/>
        <c:grouping val="clustered"/>
        <c:varyColors val="0"/>
        <c:ser>
          <c:idx val="0"/>
          <c:order val="0"/>
          <c:tx>
            <c:strRef>
              <c:f>Sheet1!$B$1</c:f>
              <c:strCache>
                <c:ptCount val="1"/>
                <c:pt idx="0">
                  <c:v>Accesibilidad</c:v>
                </c:pt>
              </c:strCache>
            </c:strRef>
          </c:tx>
          <c:spPr>
            <a:solidFill>
              <a:srgbClr val="14213D"/>
            </a:solidFill>
            <a:effectLst/>
          </c:spPr>
          <c:invertIfNegative val="0"/>
          <c:cat>
            <c:strRef>
              <c:f>Sheet1!$A$2:$A$12</c:f>
              <c:strCache>
                <c:ptCount val="11"/>
                <c:pt idx="0">
                  <c:v>login</c:v>
                </c:pt>
                <c:pt idx="1">
                  <c:v>registro</c:v>
                </c:pt>
                <c:pt idx="2">
                  <c:v>index</c:v>
                </c:pt>
                <c:pt idx="3">
                  <c:v>producto</c:v>
                </c:pt>
                <c:pt idx="4">
                  <c:v>carrito</c:v>
                </c:pt>
                <c:pt idx="5">
                  <c:v>checkout</c:v>
                </c:pt>
                <c:pt idx="6">
                  <c:v>confirmacion</c:v>
                </c:pt>
                <c:pt idx="7">
                  <c:v>perfil</c:v>
                </c:pt>
                <c:pt idx="8">
                  <c:v>pedidos</c:v>
                </c:pt>
                <c:pt idx="9">
                  <c:v>favoritos</c:v>
                </c:pt>
                <c:pt idx="10">
                  <c:v>privacidad</c:v>
                </c:pt>
              </c:strCache>
            </c:strRef>
          </c:cat>
          <c:val>
            <c:numRef>
              <c:f>Sheet1!$B$2:$B$12</c:f>
              <c:numCache>
                <c:formatCode>General</c:formatCode>
                <c:ptCount val="11"/>
                <c:pt idx="0">
                  <c:v>100</c:v>
                </c:pt>
                <c:pt idx="1">
                  <c:v>100</c:v>
                </c:pt>
                <c:pt idx="2">
                  <c:v>96</c:v>
                </c:pt>
                <c:pt idx="3">
                  <c:v>96</c:v>
                </c:pt>
                <c:pt idx="4">
                  <c:v>100</c:v>
                </c:pt>
                <c:pt idx="5">
                  <c:v>100</c:v>
                </c:pt>
                <c:pt idx="6">
                  <c:v>100</c:v>
                </c:pt>
                <c:pt idx="7">
                  <c:v>100</c:v>
                </c:pt>
                <c:pt idx="8">
                  <c:v>95</c:v>
                </c:pt>
                <c:pt idx="9">
                  <c:v>96</c:v>
                </c:pt>
                <c:pt idx="10">
                  <c:v>100</c:v>
                </c:pt>
              </c:numCache>
            </c:numRef>
          </c:val>
          <c:extLst>
            <c:ext xmlns:c16="http://schemas.microsoft.com/office/drawing/2014/chart" uri="{C3380CC4-5D6E-409C-BE32-E72D297353CC}">
              <c16:uniqueId val="{00000000-1DD0-4EC1-AE74-8C16A90D7BD6}"/>
            </c:ext>
          </c:extLst>
        </c:ser>
        <c:ser>
          <c:idx val="1"/>
          <c:order val="1"/>
          <c:tx>
            <c:strRef>
              <c:f>Sheet1!$C$1</c:f>
              <c:strCache>
                <c:ptCount val="1"/>
                <c:pt idx="0">
                  <c:v>Rendimiento</c:v>
                </c:pt>
              </c:strCache>
            </c:strRef>
          </c:tx>
          <c:spPr>
            <a:solidFill>
              <a:srgbClr val="FCA311"/>
            </a:solidFill>
            <a:effectLst/>
          </c:spPr>
          <c:invertIfNegative val="0"/>
          <c:cat>
            <c:strRef>
              <c:f>Sheet1!$A$2:$A$12</c:f>
              <c:strCache>
                <c:ptCount val="11"/>
                <c:pt idx="0">
                  <c:v>login</c:v>
                </c:pt>
                <c:pt idx="1">
                  <c:v>registro</c:v>
                </c:pt>
                <c:pt idx="2">
                  <c:v>index</c:v>
                </c:pt>
                <c:pt idx="3">
                  <c:v>producto</c:v>
                </c:pt>
                <c:pt idx="4">
                  <c:v>carrito</c:v>
                </c:pt>
                <c:pt idx="5">
                  <c:v>checkout</c:v>
                </c:pt>
                <c:pt idx="6">
                  <c:v>confirmacion</c:v>
                </c:pt>
                <c:pt idx="7">
                  <c:v>perfil</c:v>
                </c:pt>
                <c:pt idx="8">
                  <c:v>pedidos</c:v>
                </c:pt>
                <c:pt idx="9">
                  <c:v>favoritos</c:v>
                </c:pt>
                <c:pt idx="10">
                  <c:v>privacidad</c:v>
                </c:pt>
              </c:strCache>
            </c:strRef>
          </c:cat>
          <c:val>
            <c:numRef>
              <c:f>Sheet1!$C$2:$C$12</c:f>
              <c:numCache>
                <c:formatCode>General</c:formatCode>
                <c:ptCount val="11"/>
                <c:pt idx="0">
                  <c:v>94</c:v>
                </c:pt>
                <c:pt idx="1">
                  <c:v>100</c:v>
                </c:pt>
                <c:pt idx="2">
                  <c:v>76</c:v>
                </c:pt>
                <c:pt idx="3">
                  <c:v>100</c:v>
                </c:pt>
                <c:pt idx="4">
                  <c:v>94</c:v>
                </c:pt>
                <c:pt idx="5">
                  <c:v>94</c:v>
                </c:pt>
                <c:pt idx="6">
                  <c:v>96</c:v>
                </c:pt>
                <c:pt idx="7">
                  <c:v>94</c:v>
                </c:pt>
                <c:pt idx="8">
                  <c:v>94</c:v>
                </c:pt>
                <c:pt idx="9">
                  <c:v>100</c:v>
                </c:pt>
                <c:pt idx="10">
                  <c:v>100</c:v>
                </c:pt>
              </c:numCache>
            </c:numRef>
          </c:val>
          <c:extLst>
            <c:ext xmlns:c16="http://schemas.microsoft.com/office/drawing/2014/chart" uri="{C3380CC4-5D6E-409C-BE32-E72D297353CC}">
              <c16:uniqueId val="{00000001-1DD0-4EC1-AE74-8C16A90D7BD6}"/>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900" b="0" i="0" u="none" strike="noStrike">
                <a:solidFill>
                  <a:srgbClr val="4A5568"/>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4EA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568"/>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4A5568"/>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54512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los tres entregables de aseguramiento de la calidad de TechStore: el Plan de Pruebas, el Plan de Calidad y la Prueba de Conformidad. Para que cada concepto sea concreto, lo explicaré con las cinco tareas que realizan los usuarios en nuestra prueba de usabilidad: buscar, filtrar, agregar al carrito, aplicar un cupón y comprar.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TechStore es una tienda 100 % frontend publicada en GitHub Pages. Sus 30 historias de usuario tienen 84 criterios de aceptación, que son la base de todos los casos de prueba. Las cinco tareas de usuario recorren 14 de esas historias: justamente el camino principal de una compra.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vienen de tres fuentes: el diseño de casos a partir de los criterios, la ejecución real con un navegador automatizado y la medición con Lighthouse. Lo que depende de personas, como la tasa de éxito y la satisfacción SUS, solo se obtiene con usuarios reales en la prueba de usabilidad; por eso figura como pendiente y no como un número inventado.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parte: el Plan de Pruebas, que sigue las 12 secciones del modelo del curso y la norma ISO/IEC/IEEE 29119. Veremos cómo cada nivel y cada técnica se reflejan en las tareas que hace un usuario.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niveles van de lo más pequeño a lo más grande. Tomemos la tarea T4, aplicar el cupón BIENVENIDO10: la prueba unitaria verifica que el 10 % se calcule exacto; la de integración, que el descuento llegue bien al checkout junto con el envío; la de sistema ejecuta los casos en el navegador; y la de aceptación pone a una persona real a hacer la tarea sin ayuda. No hay pruebas de carga porque no hay servidor.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las cinco tareas de la prueba con usuarios. Siguen el recorrido típico de una compra y cubren 14 historias de usuario. Cada participante las hace en su propio dispositivo y sin que nadie le explique nada: si se traba, eso también es un hallazgo. Usamos una herramienta propia dentro de la tienda porque Maze cobra por probar sitios web en vivo.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cada tarea medimos lo mismo que mediría Maze. Eficacia: la tienda detecta sola si el usuario lo logró, por ejemplo que exista un pedido express pagado con tarjeta en T5. Eficiencia: tiempo, clics y clics errados, que muestran dónde la interfaz confunde. Satisfacción: una calificación de 1 a 7 después de cada tarea y el cuestionario SUS al final. Las metas son 80 % de éxito y un SUS de 68, que es el promedio de la industria.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tareas de la prueba con usuarios también se automatizan con Selenium WebDriver como pruebas de extremo a extremo. Cada script abre la tienda, hace lo mismo que haría un usuario y verifica el resultado: que aparezca el producto, el subtotal correcto, el 10 % del cupón o el número de pedido. Los elementos se ubican por su data-testid, y antes de cada prueba se limpia localStorage para partir siempre de los datos de demo.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automatización aporta tres cosas. Regresión: después de cada cambio en la lógica volvemos a correr los cinco flujos sin repetirlos a mano. Compatibilidad: el mismo script corre en Chrome y Edge, y con una ventana de 375 píxeles para móvil, lo que refuerza la Prueba de Conformidad. Evidencia: si algo falla queda una captura y el reporte de pytest, y se registra como defecto. Usamos data-testid porque no cambian aunque cambie el diseño, así las pruebas no se rompen por un cambio de estilo.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técnica de diseño se puede ver en una tarea. Partición de equivalencia: en T5 hay tarjetas válidas e inválidas. Valores límite: en T3 el usuario lleva 2 parlantes, pero el sistema acepta de 1 a 10 y rechaza 11. Tabla de decisión: en T4 el cupón aplica según el código y el monto. Transición de estados: T5 pasa de visitante a sesión iniciada y a pedido confirmado. Conjetura de errores: en T1 alguien puede escribir sin tildes o en mayúsculas. La usabilidad es uno de los diez tipos de prueba y es la que se valida con usuarios.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un caso por cada criterio de aceptación, 84 en total, más 12 para los requisitos no funcionales. La trazabilidad funciona en cadena: la tarea T4 corresponde a la historia HU15; sus criterios de aceptación generan casos de prueba concretos; y la prueba con usuarios confirma que una persona real puede hacerlo. Las cinco tareas recorren 14 de las 30 historias.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caso detallado sigue el formato del modelo: precondiciones, entradas, pasos y resultado esperado. Elegí el bloqueo por intentos porque toca directamente a la tarea T5: para comprar, el participante inicia sesión, y si se equivoca de clave tiene hasta 5 intentos antes del bloqueo. Por eso el panel de la prueba muestra la cuenta de prueba.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empezar deben cumplirse los criterios de entrada, que ahora incluyen tener publicada la herramienta de usabilidad. La prueba con usuarios va del 26 al 30 de octubre, después de las pruebas de sistema, para que los participantes no se topen con defectos ya conocidos. Si el flujo de compra o el login fallan, se suspende, porque bloquearía la tarea T5.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riesgo tiene su mitigación. El más importante para la prueba con usuarios es tener pocos participantes: se reduce enviando el enlace por WhatsApp, porque la prueba dura unos 10 minutos y se puede hacer desde el celular. El producto se aprueba solo si se cumplen los criterios de salida, no quedan defectos críticos y los usuarios logran al menos el 80 % de las tareas con un SUS de 68 o más.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parte: el Plan de Calidad, según el modelo del curso e IEEE 730, con la línea base medida el 9 de octubre.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normas dan el marco. ISO/IEC 25010 define la usabilidad como una característica de calidad del producto, y la prueba con usuarios es la forma de medirla. Las estrategias combinan revisiones técnicas, pruebas planificadas, automatización y control de cambios con Git.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14 métricas, cada una con su meta y su línea base; nueve ya cumplen. Dos de las pendientes dependen de la prueba con usuarios: la tasa de éxito de las tareas T1 a T5 y la satisfacción SUS. La herramienta ya está publicada; solo falta reunir a los participantes.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Medimos las 11 páginas publicadas. Las cinco tareas pasan por seis de ellas: catálogo, producto, carrito, inicio de sesión, checkout y confirmación. El rendimiento es alto salvo en el catálogo, que tiene un salto de diseño en la primera carga (D-03): es justo lo primero que ve el usuario al empezar T1.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encontraron tres defectos, ninguno crítico. Los dos de severidad media tocan las tareas: D-01 podría dejar sin comprar a un participante que se bloquee en el login de T5, y D-02 hace menos legible el stock al elegir producto en T2 y T3. Corregirlos antes de la prueba con usuarios mejora sus resultados y además permite medir el MTTR.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Tercera parte: la Prueba de Conformidad, con los casos CC01 a CC07 ejecutados en Chrome y Edge.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norma se tradujo en un caso de conformidad, y casi todas aparecen en la compra de T5: el inicio de sesión aplica la seguridad de ISO/IEC 25010, el pago aplica las buenas prácticas de PCI DSS y la compra solo con teclado aplica WCAG. En T4 y T5 los totales muestran el IGV incluido. La Ley 29733 también rige la prueba con usuarios: se pide consentimiento y no se guardan datos personales.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siete casos cumplen en los dos navegadores. CC06 cumple su criterio, comprar solo con teclado y puntaje de accesibilidad de 90 o más, pero tiene una observación de contraste que coincide con el defecto D-02.</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caso tiene una captura como evidencia. La única no conformidad es el contraste del texto verde de stock, que se corrige cambiando un color; conviene hacerlo antes de la prueba con usuarios, porque ese texto aparece en T2 y T3.</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resumen: con el diagrama de afinidad, el Ishikawa y los cinco por qués obtuvimos nueve requerimientos, y cada uno quedó como historia de usuario con criterios verificables. Los tres planes cierran el ciclo: TechStore cumple las normas evaluadas, siete de siete casos de conformidad, nueve de catorce métricas cumplen y ninguna medida está bajo la meta, y hay 96 casos diseñados con tres defectos, ninguno crítico. Los próximos pasos son la prueba con al menos cinco usuarios, ejecutar los 84 casos funcionales, corregir D-01 y D-02 para medir el MTTR y verificar el flujo en Firefox.</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Primera pregunta: aplicar técnicas de análisis para obtener al menos cinco requerimientos. Combinamos tres técnicas: el diagrama de afinidad para ordenar lo que pide el cliente, el diagrama de Ishikawa para encontrar las causas de que no se concrete la compra y los cinco por qués para llegar a la causa raíz de cada una.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Anotamos las necesidades del cliente, el dueño de la tienda, y de los compradores, una idea por nota. Luego las agrupamos por similitud y les pusimos nombre. Salieron cinco grupos: encontrar el producto, armar la compra, confiar en la tienda, pagar y recibir, y volver a comprar. Cada grupo se convirtió en una épica, de EP01 a EP05.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problema principal que debe resolver la tienda es que el visitante abandona la compra antes de pagar. Las causas se agrupan en seis categorías: información del producto, precios y costos, seguridad y confianza, proceso de compra, normativa, y usuario y plataforma. Las cinco primeras se profundizan con los cinco por qués; la última se cubre con requisitos no funcionales de adaptabilidad y portabilidad.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Así aplicamos los cinco por qués a la causa de precios. El cliente abandona el carrito al ver el total. ¿Por qué? Porque paga más de lo que esperaba. ¿Por qué? Porque el envío y el cupón aparecen recién al pagar. ¿Por qué? Porque el carrito no desglosa los montos. ¿Por qué? Porque no se definió cómo calcularlos. ¿Por qué? Porque no había una regla de precios transparentes. Esa causa raíz genera dos requerimientos: R1, mostrar el desglose antes de pagar, y R2, cupones con reglas claras.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otras cuatro cadenas siguen el mismo método. La de información del producto lleva a la búsqueda y los filtros. La de seguridad muestra que la seguridad no se trató como requisito medible y genera tres requerimientos. La de normativa revela que la Ley 29733 no estaba en el análisis. Y la del proceso de compra lleva a la persistencia del carrito y al control de stock. El detalle de los cinco por qués de cada cadena está en el documento.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resultado son nueve requerimientos, cuando el mínimo pedido era cinco. Cada uno indica de qué técnica salió y a qué requisitos funcionales y no funcionales del documento de especificaciones corresponde, lo que asegura la trazabilidad hasta las pruebas.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Segunda pregunta: a partir de esos requerimientos, aplicar la técnica de historias de usuario con sus criterios de aceptación, tal como están en el documento de especificaciones de software.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requerimiento quedó expresado como una historia de usuario del Informe de Historias de Usuario, que es nuestro documento de especificaciones. Todas tienen el formato como, quiero, para; prioridad MoSCoW, estimación en puntos y de dos a cuatro criterios de aceptación. Cada criterio es un caso de prueba del Plan de Pruebas, por eso la última columna indica qué casos los verifican.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Primer ejemplo: la historia HU14, que atiende al requerimiento R1. Sus dos criterios usan valores concretos: con dos unidades de 199 soles, el subtotal y el total son 398 y el IGV incluido es 60.71, porque el IGV se calcula como total menos total entre 1.18. Estos criterios son los casos CP037 y CP038 y se comprobaron también en el caso de conformidad CC07.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Segundo ejemplo: HU20, iniciar sesión, que atiende al requerimiento R6 de seguridad. Tiene cuatro criterios: ingreso correcto, contraseña incorrecta con intentos restantes, bloqueo tras cinco intentos y regreso automático al checkout. El tercer criterio es el caso CP055 que se detalla más adelante en el Plan de Pruebas, y coincide con el caso de conformidad CC02.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tabla une las tres preguntas. Cada requerimiento obtenido con las técnicas de análisis tiene su historia de usuario, sus casos en el Plan de Pruebas, una métrica en el Plan de Calidad y, cuando hay una norma de por medio, un caso de conformidad. Por ejemplo, R6 nace de la categoría de seguridad del Ishikawa, se expresa en HU20, se prueba con CP055, se mide con la métrica de controles de seguridad y se demuestra con CC02.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O">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754880"/>
            <a:ext cx="4572000" cy="274320"/>
          </a:xfrm>
          <a:prstGeom prst="rect">
            <a:avLst/>
          </a:prstGeom>
          <a:noFill/>
          <a:ln/>
        </p:spPr>
        <p:txBody>
          <a:bodyPr wrap="square" rtlCol="0" anchor="ctr"/>
          <a:lstStyle/>
          <a:p>
            <a:pPr marL="0" indent="0">
              <a:buNone/>
            </a:pPr>
            <a:r>
              <a:rPr lang="en-US" sz="900" dirty="0">
                <a:solidFill>
                  <a:srgbClr val="8A94A6"/>
                </a:solidFill>
                <a:latin typeface="Calibri" pitchFamily="34" charset="0"/>
                <a:ea typeface="Calibri" pitchFamily="34" charset="-122"/>
                <a:cs typeface="Calibri" pitchFamily="34" charset="-120"/>
              </a:rPr>
              <a:t>TechStore · Calidad de Software</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chart" Target="../charts/char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583680" y="502920"/>
            <a:ext cx="2103120" cy="658368"/>
          </a:xfrm>
          <a:prstGeom prst="roundRect">
            <a:avLst>
              <a:gd name="adj" fmla="val 11111"/>
            </a:avLst>
          </a:prstGeom>
          <a:solidFill>
            <a:srgbClr val="FFFFFF"/>
          </a:solidFill>
          <a:ln w="12700">
            <a:solidFill>
              <a:srgbClr val="FFFFFF"/>
            </a:solidFill>
            <a:prstDash val="solid"/>
          </a:ln>
        </p:spPr>
        <p:txBody>
          <a:bodyPr/>
          <a:lstStyle/>
          <a:p>
            <a:endParaRPr lang="es-PE"/>
          </a:p>
        </p:txBody>
      </p:sp>
      <p:pic>
        <p:nvPicPr>
          <p:cNvPr id="3" name="Image 0" descr="Logo de la Universidad Tecnológica del Perú"/>
          <p:cNvPicPr>
            <a:picLocks noChangeAspect="1"/>
          </p:cNvPicPr>
          <p:nvPr/>
        </p:nvPicPr>
        <p:blipFill>
          <a:blip r:embed="rId3"/>
          <a:stretch>
            <a:fillRect/>
          </a:stretch>
        </p:blipFill>
        <p:spPr>
          <a:xfrm>
            <a:off x="6702552" y="589788"/>
            <a:ext cx="1865376" cy="496519"/>
          </a:xfrm>
          <a:prstGeom prst="rect">
            <a:avLst/>
          </a:prstGeom>
        </p:spPr>
      </p:pic>
      <p:sp>
        <p:nvSpPr>
          <p:cNvPr id="4" name="Text 1"/>
          <p:cNvSpPr txBox="1"/>
          <p:nvPr/>
        </p:nvSpPr>
        <p:spPr>
          <a:xfrm>
            <a:off x="731520" y="685800"/>
            <a:ext cx="5669280" cy="320040"/>
          </a:xfrm>
          <a:prstGeom prst="rect">
            <a:avLst/>
          </a:prstGeom>
          <a:noFill/>
          <a:ln/>
        </p:spPr>
        <p:txBody>
          <a:bodyPr wrap="square" lIns="0" tIns="0" rIns="0" bIns="0" rtlCol="0" anchor="ctr"/>
          <a:lstStyle/>
          <a:p>
            <a:pPr marL="0" indent="0">
              <a:buNone/>
            </a:pPr>
            <a:r>
              <a:rPr lang="en-US" sz="1300" b="1" kern="0" spc="200" dirty="0">
                <a:solidFill>
                  <a:srgbClr val="FCA311"/>
                </a:solidFill>
                <a:latin typeface="Calibri" pitchFamily="34" charset="0"/>
                <a:ea typeface="Calibri" pitchFamily="34" charset="-122"/>
                <a:cs typeface="Calibri" pitchFamily="34" charset="-120"/>
              </a:rPr>
              <a:t>FACULTAD DE INGENIERÍA · INGENIERÍA DE SOFTWARE</a:t>
            </a:r>
            <a:endParaRPr lang="en-US" sz="1300" dirty="0"/>
          </a:p>
        </p:txBody>
      </p:sp>
      <p:sp>
        <p:nvSpPr>
          <p:cNvPr id="5" name="Text 2"/>
          <p:cNvSpPr txBox="1"/>
          <p:nvPr/>
        </p:nvSpPr>
        <p:spPr>
          <a:xfrm>
            <a:off x="731520" y="1325880"/>
            <a:ext cx="7680960" cy="118872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Requerimientos, Historias de Usuario y Planes de Prueba</a:t>
            </a:r>
            <a:endParaRPr lang="en-US" sz="3400" dirty="0"/>
          </a:p>
        </p:txBody>
      </p:sp>
      <p:sp>
        <p:nvSpPr>
          <p:cNvPr id="6" name="Text 3"/>
          <p:cNvSpPr txBox="1"/>
          <p:nvPr/>
        </p:nvSpPr>
        <p:spPr>
          <a:xfrm>
            <a:off x="731520" y="2514600"/>
            <a:ext cx="7680960" cy="36576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TechStore – Tienda web de tecnología con carrito de compras</a:t>
            </a:r>
            <a:endParaRPr lang="en-US" sz="1600" dirty="0"/>
          </a:p>
        </p:txBody>
      </p:sp>
      <p:sp>
        <p:nvSpPr>
          <p:cNvPr id="7" name="Text 4"/>
          <p:cNvSpPr txBox="1"/>
          <p:nvPr/>
        </p:nvSpPr>
        <p:spPr>
          <a:xfrm>
            <a:off x="731520" y="3246120"/>
            <a:ext cx="7680960" cy="1188720"/>
          </a:xfrm>
          <a:prstGeom prst="rect">
            <a:avLst/>
          </a:prstGeom>
          <a:noFill/>
          <a:ln/>
        </p:spPr>
        <p:txBody>
          <a:bodyPr wrap="square" lIns="0" tIns="0" rIns="0" bIns="0" rtlCol="0" anchor="ctr"/>
          <a:lstStyle/>
          <a:p>
            <a:pPr marL="0" indent="0">
              <a:spcAft>
                <a:spcPts val="300"/>
              </a:spcAft>
              <a:buNone/>
            </a:pPr>
            <a:r>
              <a:rPr lang="en-US" sz="1400" b="1" dirty="0">
                <a:solidFill>
                  <a:srgbClr val="FCA311"/>
                </a:solidFill>
                <a:latin typeface="Calibri" pitchFamily="34" charset="0"/>
                <a:ea typeface="Calibri" pitchFamily="34" charset="-122"/>
                <a:cs typeface="Calibri" pitchFamily="34" charset="-120"/>
              </a:rPr>
              <a:t>Curso: </a:t>
            </a:r>
            <a:r>
              <a:rPr lang="en-US" sz="1400" dirty="0">
                <a:solidFill>
                  <a:srgbClr val="C9D3E3"/>
                </a:solidFill>
                <a:latin typeface="Calibri" pitchFamily="34" charset="0"/>
                <a:ea typeface="Calibri" pitchFamily="34" charset="-122"/>
                <a:cs typeface="Calibri" pitchFamily="34" charset="-120"/>
              </a:rPr>
              <a:t>Calidad de Software – Sección 37648</a:t>
            </a:r>
            <a:endParaRPr lang="en-US" sz="1400" dirty="0"/>
          </a:p>
          <a:p>
            <a:pPr marL="0" indent="0">
              <a:spcAft>
                <a:spcPts val="300"/>
              </a:spcAft>
              <a:buNone/>
            </a:pPr>
            <a:r>
              <a:rPr lang="en-US" sz="1400" b="1" dirty="0">
                <a:solidFill>
                  <a:srgbClr val="FCA311"/>
                </a:solidFill>
                <a:latin typeface="Calibri" pitchFamily="34" charset="0"/>
                <a:ea typeface="Calibri" pitchFamily="34" charset="-122"/>
                <a:cs typeface="Calibri" pitchFamily="34" charset="-120"/>
              </a:rPr>
              <a:t>Profesor: </a:t>
            </a:r>
            <a:r>
              <a:rPr lang="en-US" sz="1400" dirty="0">
                <a:solidFill>
                  <a:srgbClr val="C9D3E3"/>
                </a:solidFill>
                <a:latin typeface="Calibri" pitchFamily="34" charset="0"/>
                <a:ea typeface="Calibri" pitchFamily="34" charset="-122"/>
                <a:cs typeface="Calibri" pitchFamily="34" charset="-120"/>
              </a:rPr>
              <a:t>Ing. Jorge Luis Blanco Reyna</a:t>
            </a:r>
            <a:endParaRPr lang="en-US" sz="1400" dirty="0"/>
          </a:p>
          <a:p>
            <a:pPr marL="0" indent="0">
              <a:spcAft>
                <a:spcPts val="300"/>
              </a:spcAft>
              <a:buNone/>
            </a:pPr>
            <a:r>
              <a:rPr lang="en-US" sz="1400" b="1" dirty="0">
                <a:solidFill>
                  <a:srgbClr val="FCA311"/>
                </a:solidFill>
                <a:latin typeface="Calibri" pitchFamily="34" charset="0"/>
                <a:ea typeface="Calibri" pitchFamily="34" charset="-122"/>
                <a:cs typeface="Calibri" pitchFamily="34" charset="-120"/>
              </a:rPr>
              <a:t>Integrantes: </a:t>
            </a:r>
            <a:r>
              <a:rPr lang="en-US" sz="1400" dirty="0">
                <a:solidFill>
                  <a:srgbClr val="C9D3E3"/>
                </a:solidFill>
                <a:latin typeface="Calibri" pitchFamily="34" charset="0"/>
                <a:ea typeface="Calibri" pitchFamily="34" charset="-122"/>
                <a:cs typeface="Calibri" pitchFamily="34" charset="-120"/>
              </a:rPr>
              <a:t>DAMIÁN VALDIVIA, Diego Aarón</a:t>
            </a:r>
            <a:endParaRPr lang="en-US" sz="1400" dirty="0"/>
          </a:p>
          <a:p>
            <a:pPr marL="0" indent="0">
              <a:spcAft>
                <a:spcPts val="300"/>
              </a:spcAft>
              <a:buNone/>
            </a:pPr>
            <a:r>
              <a:rPr lang="en-US" sz="1400" dirty="0">
                <a:solidFill>
                  <a:srgbClr val="C9D3E3"/>
                </a:solidFill>
                <a:latin typeface="Calibri" pitchFamily="34" charset="0"/>
                <a:ea typeface="Calibri" pitchFamily="34" charset="-122"/>
                <a:cs typeface="Calibri" pitchFamily="34" charset="-120"/>
              </a:rPr>
              <a:t>Lima – Perú,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TechStore: el sistema bajo evaluación</a:t>
            </a:r>
            <a:endParaRPr lang="en-US" sz="2600" dirty="0"/>
          </a:p>
        </p:txBody>
      </p:sp>
      <p:sp>
        <p:nvSpPr>
          <p:cNvPr id="3" name="Text 1"/>
          <p:cNvSpPr txBox="1"/>
          <p:nvPr/>
        </p:nvSpPr>
        <p:spPr>
          <a:xfrm>
            <a:off x="457200" y="1143000"/>
            <a:ext cx="3749040" cy="3291840"/>
          </a:xfrm>
          <a:prstGeom prst="rect">
            <a:avLst/>
          </a:prstGeom>
          <a:noFill/>
          <a:ln/>
        </p:spPr>
        <p:txBody>
          <a:bodyPr wrap="square" lIns="0" tIns="0" rIns="0" bIns="0" rtlCol="0" anchor="t"/>
          <a:lstStyle/>
          <a:p>
            <a:pPr marL="0" indent="0">
              <a:spcAft>
                <a:spcPts val="1000"/>
              </a:spcAft>
              <a:buNone/>
            </a:pPr>
            <a:r>
              <a:rPr lang="en-US" sz="1500" dirty="0">
                <a:solidFill>
                  <a:srgbClr val="4A5568"/>
                </a:solidFill>
                <a:latin typeface="Calibri" pitchFamily="34" charset="0"/>
                <a:ea typeface="Calibri" pitchFamily="34" charset="-122"/>
                <a:cs typeface="Calibri" pitchFamily="34" charset="-120"/>
              </a:rPr>
              <a:t>Tienda web de tecnología: catálogo, carrito, cupones, cuenta de cliente, checkout con pago simulado, pedidos y favoritos.</a:t>
            </a:r>
            <a:endParaRPr lang="en-US" sz="1500" dirty="0"/>
          </a:p>
          <a:p>
            <a:pPr marL="0" indent="0">
              <a:buNone/>
            </a:pPr>
            <a:r>
              <a:rPr lang="en-US" sz="1500" b="1" dirty="0">
                <a:solidFill>
                  <a:srgbClr val="4A5568"/>
                </a:solidFill>
                <a:latin typeface="Calibri" pitchFamily="34" charset="0"/>
                <a:ea typeface="Calibri" pitchFamily="34" charset="-122"/>
                <a:cs typeface="Calibri" pitchFamily="34" charset="-120"/>
              </a:rPr>
              <a:t>Tecnología: </a:t>
            </a:r>
            <a:r>
              <a:rPr lang="en-US" sz="1500" dirty="0">
                <a:solidFill>
                  <a:srgbClr val="4A5568"/>
                </a:solidFill>
                <a:latin typeface="Calibri" pitchFamily="34" charset="0"/>
                <a:ea typeface="Calibri" pitchFamily="34" charset="-122"/>
                <a:cs typeface="Calibri" pitchFamily="34" charset="-120"/>
              </a:rPr>
              <a:t>HTML, CSS y JavaScript puro, sin backend; datos en localStorage.</a:t>
            </a:r>
            <a:endParaRPr lang="en-US" sz="1500" dirty="0"/>
          </a:p>
          <a:p>
            <a:pPr marL="0" indent="0">
              <a:buNone/>
            </a:pPr>
            <a:r>
              <a:rPr lang="en-US" sz="1500" b="1" dirty="0">
                <a:solidFill>
                  <a:srgbClr val="4A5568"/>
                </a:solidFill>
                <a:latin typeface="Calibri" pitchFamily="34" charset="0"/>
                <a:ea typeface="Calibri" pitchFamily="34" charset="-122"/>
                <a:cs typeface="Calibri" pitchFamily="34" charset="-120"/>
              </a:rPr>
              <a:t>Publicada en: </a:t>
            </a:r>
            <a:r>
              <a:rPr lang="en-US" sz="1500" dirty="0">
                <a:solidFill>
                  <a:srgbClr val="4A5568"/>
                </a:solidFill>
                <a:latin typeface="Calibri" pitchFamily="34" charset="0"/>
                <a:ea typeface="Calibri" pitchFamily="34" charset="-122"/>
                <a:cs typeface="Calibri" pitchFamily="34" charset="-120"/>
              </a:rPr>
              <a:t>diegoaaron.github.io/calidadProyecto</a:t>
            </a:r>
            <a:endParaRPr lang="en-US" sz="1500" dirty="0"/>
          </a:p>
        </p:txBody>
      </p:sp>
      <p:sp>
        <p:nvSpPr>
          <p:cNvPr id="4" name="Shape 2"/>
          <p:cNvSpPr/>
          <p:nvPr/>
        </p:nvSpPr>
        <p:spPr>
          <a:xfrm>
            <a:off x="4526280" y="109728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5" name="Text 3"/>
          <p:cNvSpPr txBox="1"/>
          <p:nvPr/>
        </p:nvSpPr>
        <p:spPr>
          <a:xfrm>
            <a:off x="4709160" y="1280160"/>
            <a:ext cx="1554480" cy="685800"/>
          </a:xfrm>
          <a:prstGeom prst="rect">
            <a:avLst/>
          </a:prstGeom>
          <a:noFill/>
          <a:ln/>
        </p:spPr>
        <p:txBody>
          <a:bodyPr wrap="square" lIns="0" tIns="0" rIns="0" bIns="0" rtlCol="0" anchor="ctr"/>
          <a:lstStyle/>
          <a:p>
            <a:pPr marL="0" indent="0">
              <a:buNone/>
            </a:pPr>
            <a:r>
              <a:rPr lang="en-US" sz="4000" b="1" dirty="0">
                <a:solidFill>
                  <a:srgbClr val="B7791F"/>
                </a:solidFill>
                <a:latin typeface="Calibri" pitchFamily="34" charset="0"/>
                <a:ea typeface="Calibri" pitchFamily="34" charset="-122"/>
                <a:cs typeface="Calibri" pitchFamily="34" charset="-120"/>
              </a:rPr>
              <a:t>30</a:t>
            </a:r>
            <a:endParaRPr lang="en-US" sz="4000" dirty="0"/>
          </a:p>
        </p:txBody>
      </p:sp>
      <p:sp>
        <p:nvSpPr>
          <p:cNvPr id="6" name="Text 4"/>
          <p:cNvSpPr txBox="1"/>
          <p:nvPr/>
        </p:nvSpPr>
        <p:spPr>
          <a:xfrm>
            <a:off x="4709160" y="196596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historias de usuario (HU01–HU30)</a:t>
            </a:r>
            <a:endParaRPr lang="en-US" sz="1200" dirty="0"/>
          </a:p>
        </p:txBody>
      </p:sp>
      <p:sp>
        <p:nvSpPr>
          <p:cNvPr id="7" name="Shape 5"/>
          <p:cNvSpPr/>
          <p:nvPr/>
        </p:nvSpPr>
        <p:spPr>
          <a:xfrm>
            <a:off x="6629400" y="109728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8" name="Text 6"/>
          <p:cNvSpPr txBox="1"/>
          <p:nvPr/>
        </p:nvSpPr>
        <p:spPr>
          <a:xfrm>
            <a:off x="6812280" y="1280160"/>
            <a:ext cx="1554480" cy="685800"/>
          </a:xfrm>
          <a:prstGeom prst="rect">
            <a:avLst/>
          </a:prstGeom>
          <a:noFill/>
          <a:ln/>
        </p:spPr>
        <p:txBody>
          <a:bodyPr wrap="square" lIns="0" tIns="0" rIns="0" bIns="0" rtlCol="0" anchor="ctr"/>
          <a:lstStyle/>
          <a:p>
            <a:pPr marL="0" indent="0">
              <a:buNone/>
            </a:pPr>
            <a:r>
              <a:rPr lang="en-US" sz="4000" b="1" dirty="0">
                <a:solidFill>
                  <a:srgbClr val="14213D"/>
                </a:solidFill>
                <a:latin typeface="Calibri" pitchFamily="34" charset="0"/>
                <a:ea typeface="Calibri" pitchFamily="34" charset="-122"/>
                <a:cs typeface="Calibri" pitchFamily="34" charset="-120"/>
              </a:rPr>
              <a:t>84</a:t>
            </a:r>
            <a:endParaRPr lang="en-US" sz="4000" dirty="0"/>
          </a:p>
        </p:txBody>
      </p:sp>
      <p:sp>
        <p:nvSpPr>
          <p:cNvPr id="9" name="Text 7"/>
          <p:cNvSpPr txBox="1"/>
          <p:nvPr/>
        </p:nvSpPr>
        <p:spPr>
          <a:xfrm>
            <a:off x="6812280" y="196596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criterios de aceptación</a:t>
            </a:r>
            <a:endParaRPr lang="en-US" sz="1200" dirty="0"/>
          </a:p>
        </p:txBody>
      </p:sp>
      <p:sp>
        <p:nvSpPr>
          <p:cNvPr id="10" name="Shape 8"/>
          <p:cNvSpPr/>
          <p:nvPr/>
        </p:nvSpPr>
        <p:spPr>
          <a:xfrm>
            <a:off x="4526280" y="278892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11" name="Text 9"/>
          <p:cNvSpPr txBox="1"/>
          <p:nvPr/>
        </p:nvSpPr>
        <p:spPr>
          <a:xfrm>
            <a:off x="4709160" y="2971800"/>
            <a:ext cx="1554480" cy="685800"/>
          </a:xfrm>
          <a:prstGeom prst="rect">
            <a:avLst/>
          </a:prstGeom>
          <a:noFill/>
          <a:ln/>
        </p:spPr>
        <p:txBody>
          <a:bodyPr wrap="square" lIns="0" tIns="0" rIns="0" bIns="0" rtlCol="0" anchor="ctr"/>
          <a:lstStyle/>
          <a:p>
            <a:pPr marL="0" indent="0">
              <a:buNone/>
            </a:pPr>
            <a:r>
              <a:rPr lang="en-US" sz="4000" b="1" dirty="0">
                <a:solidFill>
                  <a:srgbClr val="14213D"/>
                </a:solidFill>
                <a:latin typeface="Calibri" pitchFamily="34" charset="0"/>
                <a:ea typeface="Calibri" pitchFamily="34" charset="-122"/>
                <a:cs typeface="Calibri" pitchFamily="34" charset="-120"/>
              </a:rPr>
              <a:t>11</a:t>
            </a:r>
            <a:endParaRPr lang="en-US" sz="4000" dirty="0"/>
          </a:p>
        </p:txBody>
      </p:sp>
      <p:sp>
        <p:nvSpPr>
          <p:cNvPr id="12" name="Text 10"/>
          <p:cNvSpPr txBox="1"/>
          <p:nvPr/>
        </p:nvSpPr>
        <p:spPr>
          <a:xfrm>
            <a:off x="4709160" y="365760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pantallas evaluadas</a:t>
            </a:r>
            <a:endParaRPr lang="en-US" sz="1200" dirty="0"/>
          </a:p>
        </p:txBody>
      </p:sp>
      <p:sp>
        <p:nvSpPr>
          <p:cNvPr id="13" name="Shape 11"/>
          <p:cNvSpPr/>
          <p:nvPr/>
        </p:nvSpPr>
        <p:spPr>
          <a:xfrm>
            <a:off x="6629400" y="2788920"/>
            <a:ext cx="19202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14" name="Text 12"/>
          <p:cNvSpPr txBox="1"/>
          <p:nvPr/>
        </p:nvSpPr>
        <p:spPr>
          <a:xfrm>
            <a:off x="6812280" y="2971800"/>
            <a:ext cx="1554480" cy="685800"/>
          </a:xfrm>
          <a:prstGeom prst="rect">
            <a:avLst/>
          </a:prstGeom>
          <a:noFill/>
          <a:ln/>
        </p:spPr>
        <p:txBody>
          <a:bodyPr wrap="square" lIns="0" tIns="0" rIns="0" bIns="0" rtlCol="0" anchor="ctr"/>
          <a:lstStyle/>
          <a:p>
            <a:pPr marL="0" indent="0">
              <a:buNone/>
            </a:pPr>
            <a:r>
              <a:rPr lang="en-US" sz="4000" b="1" dirty="0">
                <a:solidFill>
                  <a:srgbClr val="14213D"/>
                </a:solidFill>
                <a:latin typeface="Calibri" pitchFamily="34" charset="0"/>
                <a:ea typeface="Calibri" pitchFamily="34" charset="-122"/>
                <a:cs typeface="Calibri" pitchFamily="34" charset="-120"/>
              </a:rPr>
              <a:t>53</a:t>
            </a:r>
            <a:endParaRPr lang="en-US" sz="4000" dirty="0"/>
          </a:p>
        </p:txBody>
      </p:sp>
      <p:sp>
        <p:nvSpPr>
          <p:cNvPr id="15" name="Text 13"/>
          <p:cNvSpPr txBox="1"/>
          <p:nvPr/>
        </p:nvSpPr>
        <p:spPr>
          <a:xfrm>
            <a:off x="6812280" y="3657600"/>
            <a:ext cx="1554480" cy="50292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pruebas unitarias automatizadas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Cómo se obtuvieron los resultados</a:t>
            </a:r>
            <a:endParaRPr lang="en-US" sz="2600" dirty="0"/>
          </a:p>
        </p:txBody>
      </p:sp>
      <p:sp>
        <p:nvSpPr>
          <p:cNvPr id="3" name="Shape 1"/>
          <p:cNvSpPr/>
          <p:nvPr/>
        </p:nvSpPr>
        <p:spPr>
          <a:xfrm>
            <a:off x="45720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4" name="Shape 2"/>
          <p:cNvSpPr/>
          <p:nvPr/>
        </p:nvSpPr>
        <p:spPr>
          <a:xfrm>
            <a:off x="68580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5" name="Text 3"/>
          <p:cNvSpPr txBox="1"/>
          <p:nvPr/>
        </p:nvSpPr>
        <p:spPr>
          <a:xfrm>
            <a:off x="68580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Diseño</a:t>
            </a:r>
            <a:endParaRPr lang="en-US" sz="1800" dirty="0"/>
          </a:p>
        </p:txBody>
      </p:sp>
      <p:sp>
        <p:nvSpPr>
          <p:cNvPr id="7" name="Text 5"/>
          <p:cNvSpPr txBox="1"/>
          <p:nvPr/>
        </p:nvSpPr>
        <p:spPr>
          <a:xfrm>
            <a:off x="68580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Cada criterio de aceptación del Informe de HU se convirtió en un caso de prueba: 84 funcionales y 12 no funcionales.</a:t>
            </a:r>
            <a:endParaRPr lang="en-US" sz="1300" dirty="0"/>
          </a:p>
        </p:txBody>
      </p:sp>
      <p:sp>
        <p:nvSpPr>
          <p:cNvPr id="8" name="Shape 6"/>
          <p:cNvSpPr/>
          <p:nvPr/>
        </p:nvSpPr>
        <p:spPr>
          <a:xfrm>
            <a:off x="324612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9" name="Shape 7"/>
          <p:cNvSpPr/>
          <p:nvPr/>
        </p:nvSpPr>
        <p:spPr>
          <a:xfrm>
            <a:off x="347472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0" name="Text 8"/>
          <p:cNvSpPr txBox="1"/>
          <p:nvPr/>
        </p:nvSpPr>
        <p:spPr>
          <a:xfrm>
            <a:off x="347472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411480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Ejecución real</a:t>
            </a:r>
            <a:endParaRPr lang="en-US" sz="1800" dirty="0"/>
          </a:p>
        </p:txBody>
      </p:sp>
      <p:sp>
        <p:nvSpPr>
          <p:cNvPr id="12" name="Text 10"/>
          <p:cNvSpPr txBox="1"/>
          <p:nvPr/>
        </p:nvSpPr>
        <p:spPr>
          <a:xfrm>
            <a:off x="347472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Un navegador automatizado (Chrome 154 y Edge 155) usó la app publicada como un usuario: llenó formularios, pulsó botones y guardó capturas.</a:t>
            </a:r>
            <a:endParaRPr lang="en-US" sz="1300" dirty="0"/>
          </a:p>
        </p:txBody>
      </p:sp>
      <p:sp>
        <p:nvSpPr>
          <p:cNvPr id="13" name="Shape 11"/>
          <p:cNvSpPr/>
          <p:nvPr/>
        </p:nvSpPr>
        <p:spPr>
          <a:xfrm>
            <a:off x="603504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14" name="Shape 12"/>
          <p:cNvSpPr/>
          <p:nvPr/>
        </p:nvSpPr>
        <p:spPr>
          <a:xfrm>
            <a:off x="626364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5" name="Text 13"/>
          <p:cNvSpPr txBox="1"/>
          <p:nvPr/>
        </p:nvSpPr>
        <p:spPr>
          <a:xfrm>
            <a:off x="626364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90372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Medición</a:t>
            </a:r>
            <a:endParaRPr lang="en-US" sz="1800" dirty="0"/>
          </a:p>
        </p:txBody>
      </p:sp>
      <p:sp>
        <p:nvSpPr>
          <p:cNvPr id="17" name="Text 15"/>
          <p:cNvSpPr txBox="1"/>
          <p:nvPr/>
        </p:nvSpPr>
        <p:spPr>
          <a:xfrm>
            <a:off x="626364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Lighthouse midió rendimiento, accesibilidad y buenas prácticas en las 11 páginas; se midió la carga real y el ancho a 375 px.</a:t>
            </a:r>
            <a:endParaRPr lang="en-US" sz="1300" dirty="0"/>
          </a:p>
        </p:txBody>
      </p:sp>
      <p:sp>
        <p:nvSpPr>
          <p:cNvPr id="18" name="Shape 16"/>
          <p:cNvSpPr/>
          <p:nvPr/>
        </p:nvSpPr>
        <p:spPr>
          <a:xfrm>
            <a:off x="457200" y="3931920"/>
            <a:ext cx="8229600" cy="566928"/>
          </a:xfrm>
          <a:prstGeom prst="roundRect">
            <a:avLst>
              <a:gd name="adj" fmla="val 12903"/>
            </a:avLst>
          </a:prstGeom>
          <a:solidFill>
            <a:srgbClr val="FFF4E0"/>
          </a:solidFill>
          <a:ln w="12700">
            <a:solidFill>
              <a:srgbClr val="FFF4E0"/>
            </a:solidFill>
            <a:prstDash val="solid"/>
          </a:ln>
        </p:spPr>
        <p:txBody>
          <a:bodyPr/>
          <a:lstStyle/>
          <a:p>
            <a:endParaRPr lang="es-PE"/>
          </a:p>
        </p:txBody>
      </p:sp>
      <p:sp>
        <p:nvSpPr>
          <p:cNvPr id="19" name="Text 17"/>
          <p:cNvSpPr txBox="1"/>
          <p:nvPr/>
        </p:nvSpPr>
        <p:spPr>
          <a:xfrm>
            <a:off x="640080" y="3931920"/>
            <a:ext cx="7863840" cy="566928"/>
          </a:xfrm>
          <a:prstGeom prst="rect">
            <a:avLst/>
          </a:prstGeom>
          <a:noFill/>
          <a:ln/>
        </p:spPr>
        <p:txBody>
          <a:bodyPr wrap="square" lIns="0" tIns="0" rIns="0" bIns="0" rtlCol="0" anchor="ctr"/>
          <a:lstStyle/>
          <a:p>
            <a:pPr marL="0" indent="0">
              <a:buNone/>
            </a:pPr>
            <a:r>
              <a:rPr lang="en-US" sz="1300" b="1" dirty="0">
                <a:solidFill>
                  <a:srgbClr val="5C4400"/>
                </a:solidFill>
                <a:latin typeface="Calibri" pitchFamily="34" charset="0"/>
                <a:ea typeface="Calibri" pitchFamily="34" charset="-122"/>
                <a:cs typeface="Calibri" pitchFamily="34" charset="-120"/>
              </a:rPr>
              <a:t>Sin datos simulados: </a:t>
            </a:r>
            <a:r>
              <a:rPr lang="en-US" sz="1300" dirty="0">
                <a:solidFill>
                  <a:srgbClr val="5C4400"/>
                </a:solidFill>
                <a:latin typeface="Calibri" pitchFamily="34" charset="0"/>
                <a:ea typeface="Calibri" pitchFamily="34" charset="-122"/>
                <a:cs typeface="Calibri" pitchFamily="34" charset="-120"/>
              </a:rPr>
              <a:t>lo que depende de personas (tasa de éxito y SUS de la prueba con usuarios) queda pendiente, no como un número inventado.</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737360"/>
            <a:ext cx="5486400" cy="548640"/>
          </a:xfrm>
          <a:prstGeom prst="rect">
            <a:avLst/>
          </a:prstGeom>
          <a:noFill/>
        </p:spPr>
        <p:txBody>
          <a:bodyPr wrap="square" lIns="0" rIns="0" tIns="0" bIns="0" anchor="ctr">
            <a:spAutoFit/>
          </a:bodyPr>
          <a:lstStyle/>
          <a:p>
            <a:pPr algn="l"/>
            <a:r>
              <a:rPr sz="2400" b="1" spc="300">
                <a:solidFill>
                  <a:srgbClr val="FCA311"/>
                </a:solidFill>
                <a:latin typeface="Calibri"/>
              </a:rPr>
              <a:t>PARTE I</a:t>
            </a:r>
          </a:p>
        </p:txBody>
      </p:sp>
      <p:sp>
        <p:nvSpPr>
          <p:cNvPr id="3" name="TextBox 2"/>
          <p:cNvSpPr txBox="1"/>
          <p:nvPr/>
        </p:nvSpPr>
        <p:spPr>
          <a:xfrm>
            <a:off x="731520" y="2423160"/>
            <a:ext cx="7680960" cy="731520"/>
          </a:xfrm>
          <a:prstGeom prst="rect">
            <a:avLst/>
          </a:prstGeom>
          <a:noFill/>
        </p:spPr>
        <p:txBody>
          <a:bodyPr wrap="square" lIns="0" rIns="0" tIns="0" bIns="0" anchor="ctr">
            <a:spAutoFit/>
          </a:bodyPr>
          <a:lstStyle/>
          <a:p>
            <a:pPr algn="l"/>
            <a:r>
              <a:rPr sz="3600" b="1">
                <a:solidFill>
                  <a:srgbClr val="FFFFFF"/>
                </a:solidFill>
                <a:latin typeface="Calibri"/>
              </a:rPr>
              <a:t>Análisis de requerimientos</a:t>
            </a:r>
          </a:p>
        </p:txBody>
      </p:sp>
      <p:sp>
        <p:nvSpPr>
          <p:cNvPr id="4" name="TextBox 3"/>
          <p:cNvSpPr txBox="1"/>
          <p:nvPr/>
        </p:nvSpPr>
        <p:spPr>
          <a:xfrm>
            <a:off x="731520" y="3154680"/>
            <a:ext cx="7680960" cy="457200"/>
          </a:xfrm>
          <a:prstGeom prst="rect">
            <a:avLst/>
          </a:prstGeom>
          <a:noFill/>
        </p:spPr>
        <p:txBody>
          <a:bodyPr wrap="square" lIns="0" rIns="0" tIns="0" bIns="0" anchor="ctr">
            <a:spAutoFit/>
          </a:bodyPr>
          <a:lstStyle/>
          <a:p>
            <a:pPr algn="l"/>
            <a:r>
              <a:rPr sz="1600" b="0">
                <a:solidFill>
                  <a:srgbClr val="C9D3E3"/>
                </a:solidFill>
                <a:latin typeface="Calibri"/>
              </a:rPr>
              <a:t>Diagrama de afinidad, causa raíz (Ishikawa) y 5 por qués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Diagrama de afinidad: de las necesidades a las épicas</a:t>
            </a:r>
          </a:p>
        </p:txBody>
      </p:sp>
      <p:sp>
        <p:nvSpPr>
          <p:cNvPr id="27" name="Rounded Rectangle 26"/>
          <p:cNvSpPr/>
          <p:nvPr/>
        </p:nvSpPr>
        <p:spPr>
          <a:xfrm>
            <a:off x="457200"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Encontrar el producto</a:t>
            </a:r>
          </a:p>
        </p:txBody>
      </p:sp>
      <p:sp>
        <p:nvSpPr>
          <p:cNvPr id="29" name="Rounded Rectangle 28"/>
          <p:cNvSpPr/>
          <p:nvPr/>
        </p:nvSpPr>
        <p:spPr>
          <a:xfrm>
            <a:off x="457200"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0352"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«No encuentro el modelo que busco entre tantos productos.»</a:t>
            </a:r>
          </a:p>
        </p:txBody>
      </p:sp>
      <p:sp>
        <p:nvSpPr>
          <p:cNvPr id="31" name="Rounded Rectangle 30"/>
          <p:cNvSpPr/>
          <p:nvPr/>
        </p:nvSpPr>
        <p:spPr>
          <a:xfrm>
            <a:off x="457200"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ver solo lo que alcanza mi presupuesto.»</a:t>
            </a:r>
          </a:p>
        </p:txBody>
      </p:sp>
      <p:sp>
        <p:nvSpPr>
          <p:cNvPr id="33" name="Rounded Rectangle 32"/>
          <p:cNvSpPr/>
          <p:nvPr/>
        </p:nvSpPr>
        <p:spPr>
          <a:xfrm>
            <a:off x="457200"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«¿Hay stock o está agotado?»</a:t>
            </a:r>
          </a:p>
        </p:txBody>
      </p:sp>
      <p:sp>
        <p:nvSpPr>
          <p:cNvPr id="35" name="Rounded Rectangle 34"/>
          <p:cNvSpPr/>
          <p:nvPr/>
        </p:nvSpPr>
        <p:spPr>
          <a:xfrm>
            <a:off x="457200"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0352"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EP01 · </a:t>
            </a:r>
            <a:r>
              <a:rPr sz="1050" b="0">
                <a:solidFill>
                  <a:srgbClr val="14213D"/>
                </a:solidFill>
                <a:latin typeface="Calibri"/>
              </a:rPr>
              <a:t>Catálogo de productos</a:t>
            </a:r>
          </a:p>
        </p:txBody>
      </p:sp>
      <p:sp>
        <p:nvSpPr>
          <p:cNvPr id="37" name="Rounded Rectangle 36"/>
          <p:cNvSpPr/>
          <p:nvPr/>
        </p:nvSpPr>
        <p:spPr>
          <a:xfrm>
            <a:off x="2139696"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9696"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Armar la compra</a:t>
            </a:r>
          </a:p>
        </p:txBody>
      </p:sp>
      <p:sp>
        <p:nvSpPr>
          <p:cNvPr id="39" name="Rounded Rectangle 38"/>
          <p:cNvSpPr/>
          <p:nvPr/>
        </p:nvSpPr>
        <p:spPr>
          <a:xfrm>
            <a:off x="2139696"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12848"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«Recargué la página y perdí mi carrito.»</a:t>
            </a:r>
          </a:p>
        </p:txBody>
      </p:sp>
      <p:sp>
        <p:nvSpPr>
          <p:cNvPr id="41" name="Rounded Rectangle 40"/>
          <p:cNvSpPr/>
          <p:nvPr/>
        </p:nvSpPr>
        <p:spPr>
          <a:xfrm>
            <a:off x="2139696"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12848"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«¿Cuánto IGV estoy pagando?»</a:t>
            </a:r>
          </a:p>
        </p:txBody>
      </p:sp>
      <p:sp>
        <p:nvSpPr>
          <p:cNvPr id="43" name="Rounded Rectangle 42"/>
          <p:cNvSpPr/>
          <p:nvPr/>
        </p:nvSpPr>
        <p:spPr>
          <a:xfrm>
            <a:off x="2139696"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12848"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usar mi cupón de descuento.»</a:t>
            </a:r>
          </a:p>
        </p:txBody>
      </p:sp>
      <p:sp>
        <p:nvSpPr>
          <p:cNvPr id="45" name="Rounded Rectangle 44"/>
          <p:cNvSpPr/>
          <p:nvPr/>
        </p:nvSpPr>
        <p:spPr>
          <a:xfrm>
            <a:off x="2139696"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212848"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EP02 · </a:t>
            </a:r>
            <a:r>
              <a:rPr sz="1050" b="0">
                <a:solidFill>
                  <a:srgbClr val="14213D"/>
                </a:solidFill>
                <a:latin typeface="Calibri"/>
              </a:rPr>
              <a:t>Carrito de compras</a:t>
            </a:r>
          </a:p>
        </p:txBody>
      </p:sp>
      <p:sp>
        <p:nvSpPr>
          <p:cNvPr id="47" name="Rounded Rectangle 46"/>
          <p:cNvSpPr/>
          <p:nvPr/>
        </p:nvSpPr>
        <p:spPr>
          <a:xfrm>
            <a:off x="3822191"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22191"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Confiar en la tienda</a:t>
            </a:r>
          </a:p>
        </p:txBody>
      </p:sp>
      <p:sp>
        <p:nvSpPr>
          <p:cNvPr id="49" name="Rounded Rectangle 48"/>
          <p:cNvSpPr/>
          <p:nvPr/>
        </p:nvSpPr>
        <p:spPr>
          <a:xfrm>
            <a:off x="3822191"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95344"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«Temo que alguien entre a mi cuenta.»</a:t>
            </a:r>
          </a:p>
        </p:txBody>
      </p:sp>
      <p:sp>
        <p:nvSpPr>
          <p:cNvPr id="51" name="Rounded Rectangle 50"/>
          <p:cNvSpPr/>
          <p:nvPr/>
        </p:nvSpPr>
        <p:spPr>
          <a:xfrm>
            <a:off x="3822191"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895344"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«Olvidé cerrar sesión en una cabina.»</a:t>
            </a:r>
          </a:p>
        </p:txBody>
      </p:sp>
      <p:sp>
        <p:nvSpPr>
          <p:cNvPr id="53" name="Rounded Rectangle 52"/>
          <p:cNvSpPr/>
          <p:nvPr/>
        </p:nvSpPr>
        <p:spPr>
          <a:xfrm>
            <a:off x="3822191"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95344"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«¿Qué hacen con mis datos personales?»</a:t>
            </a:r>
          </a:p>
        </p:txBody>
      </p:sp>
      <p:sp>
        <p:nvSpPr>
          <p:cNvPr id="55" name="Rounded Rectangle 54"/>
          <p:cNvSpPr/>
          <p:nvPr/>
        </p:nvSpPr>
        <p:spPr>
          <a:xfrm>
            <a:off x="3822191"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895344"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EP03 · </a:t>
            </a:r>
            <a:r>
              <a:rPr sz="1050" b="0">
                <a:solidFill>
                  <a:srgbClr val="14213D"/>
                </a:solidFill>
                <a:latin typeface="Calibri"/>
              </a:rPr>
              <a:t>Cuenta y seguridad</a:t>
            </a:r>
          </a:p>
        </p:txBody>
      </p:sp>
      <p:sp>
        <p:nvSpPr>
          <p:cNvPr id="57" name="Rounded Rectangle 56"/>
          <p:cNvSpPr/>
          <p:nvPr/>
        </p:nvSpPr>
        <p:spPr>
          <a:xfrm>
            <a:off x="5504688"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04688"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Pagar y recibir</a:t>
            </a:r>
          </a:p>
        </p:txBody>
      </p:sp>
      <p:sp>
        <p:nvSpPr>
          <p:cNvPr id="59" name="Rounded Rectangle 58"/>
          <p:cNvSpPr/>
          <p:nvPr/>
        </p:nvSpPr>
        <p:spPr>
          <a:xfrm>
            <a:off x="5504688"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577840"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elegir envío a casa o recojo.»</a:t>
            </a:r>
          </a:p>
        </p:txBody>
      </p:sp>
      <p:sp>
        <p:nvSpPr>
          <p:cNvPr id="61" name="Rounded Rectangle 60"/>
          <p:cNvSpPr/>
          <p:nvPr/>
        </p:nvSpPr>
        <p:spPr>
          <a:xfrm>
            <a:off x="5504688"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«Me da miedo dar los datos de mi tarjeta.»</a:t>
            </a:r>
          </a:p>
        </p:txBody>
      </p:sp>
      <p:sp>
        <p:nvSpPr>
          <p:cNvPr id="63" name="Rounded Rectangle 62"/>
          <p:cNvSpPr/>
          <p:nvPr/>
        </p:nvSpPr>
        <p:spPr>
          <a:xfrm>
            <a:off x="5504688" y="274320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577840" y="274320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revisar todo antes de pagar.»</a:t>
            </a:r>
          </a:p>
        </p:txBody>
      </p:sp>
      <p:sp>
        <p:nvSpPr>
          <p:cNvPr id="65" name="Rounded Rectangle 64"/>
          <p:cNvSpPr/>
          <p:nvPr/>
        </p:nvSpPr>
        <p:spPr>
          <a:xfrm>
            <a:off x="5504688"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577840"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EP04 · </a:t>
            </a:r>
            <a:r>
              <a:rPr sz="1050" b="0">
                <a:solidFill>
                  <a:srgbClr val="14213D"/>
                </a:solidFill>
                <a:latin typeface="Calibri"/>
              </a:rPr>
              <a:t>Checkout y pago</a:t>
            </a:r>
          </a:p>
        </p:txBody>
      </p:sp>
      <p:sp>
        <p:nvSpPr>
          <p:cNvPr id="67" name="Rounded Rectangle 66"/>
          <p:cNvSpPr/>
          <p:nvPr/>
        </p:nvSpPr>
        <p:spPr>
          <a:xfrm>
            <a:off x="7187184" y="960120"/>
            <a:ext cx="1572768" cy="41148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187184" y="960120"/>
            <a:ext cx="1572768" cy="411480"/>
          </a:xfrm>
          <a:prstGeom prst="rect">
            <a:avLst/>
          </a:prstGeom>
          <a:noFill/>
        </p:spPr>
        <p:txBody>
          <a:bodyPr wrap="square" lIns="0" rIns="0" tIns="0" bIns="0" anchor="ctr">
            <a:spAutoFit/>
          </a:bodyPr>
          <a:lstStyle/>
          <a:p>
            <a:pPr algn="ctr"/>
            <a:r>
              <a:rPr sz="1200" b="1">
                <a:solidFill>
                  <a:srgbClr val="FFFFFF"/>
                </a:solidFill>
                <a:latin typeface="Calibri"/>
              </a:rPr>
              <a:t>Volver a comprar</a:t>
            </a:r>
          </a:p>
        </p:txBody>
      </p:sp>
      <p:sp>
        <p:nvSpPr>
          <p:cNvPr id="69" name="Rounded Rectangle 68"/>
          <p:cNvSpPr/>
          <p:nvPr/>
        </p:nvSpPr>
        <p:spPr>
          <a:xfrm>
            <a:off x="7187184" y="146304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60336" y="1463040"/>
            <a:ext cx="1426464" cy="566928"/>
          </a:xfrm>
          <a:prstGeom prst="rect">
            <a:avLst/>
          </a:prstGeom>
          <a:noFill/>
        </p:spPr>
        <p:txBody>
          <a:bodyPr wrap="square" lIns="0" rIns="0" tIns="0" bIns="0" anchor="ctr">
            <a:spAutoFit/>
          </a:bodyPr>
          <a:lstStyle/>
          <a:p>
            <a:pPr algn="l"/>
            <a:r>
              <a:rPr sz="1050" b="0">
                <a:solidFill>
                  <a:srgbClr val="5C4400"/>
                </a:solidFill>
                <a:latin typeface="Calibri"/>
              </a:rPr>
              <a:t>«¿Dónde veo mis pedidos anteriores?»</a:t>
            </a:r>
          </a:p>
        </p:txBody>
      </p:sp>
      <p:sp>
        <p:nvSpPr>
          <p:cNvPr id="71" name="Rounded Rectangle 70"/>
          <p:cNvSpPr/>
          <p:nvPr/>
        </p:nvSpPr>
        <p:spPr>
          <a:xfrm>
            <a:off x="7187184" y="2103120"/>
            <a:ext cx="1572768" cy="566928"/>
          </a:xfrm>
          <a:prstGeom prst="roundRect">
            <a:avLst>
              <a:gd name="adj" fmla="val 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260336" y="2103120"/>
            <a:ext cx="1426464" cy="566928"/>
          </a:xfrm>
          <a:prstGeom prst="rect">
            <a:avLst/>
          </a:prstGeom>
          <a:noFill/>
        </p:spPr>
        <p:txBody>
          <a:bodyPr wrap="square" lIns="0" rIns="0" tIns="0" bIns="0" anchor="ctr">
            <a:spAutoFit/>
          </a:bodyPr>
          <a:lstStyle/>
          <a:p>
            <a:pPr algn="l"/>
            <a:r>
              <a:rPr sz="1050" b="0">
                <a:solidFill>
                  <a:srgbClr val="5C4400"/>
                </a:solidFill>
                <a:latin typeface="Calibri"/>
              </a:rPr>
              <a:t>«Quiero guardar un producto para después.»</a:t>
            </a:r>
          </a:p>
        </p:txBody>
      </p:sp>
      <p:sp>
        <p:nvSpPr>
          <p:cNvPr id="73" name="Rounded Rectangle 72"/>
          <p:cNvSpPr/>
          <p:nvPr/>
        </p:nvSpPr>
        <p:spPr>
          <a:xfrm>
            <a:off x="7187184" y="3429000"/>
            <a:ext cx="1572768" cy="457200"/>
          </a:xfrm>
          <a:prstGeom prst="roundRect">
            <a:avLst>
              <a:gd name="adj" fmla="val 8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60336" y="3429000"/>
            <a:ext cx="1426464" cy="457200"/>
          </a:xfrm>
          <a:prstGeom prst="rect">
            <a:avLst/>
          </a:prstGeom>
          <a:noFill/>
        </p:spPr>
        <p:txBody>
          <a:bodyPr wrap="square" lIns="0" rIns="0" tIns="0" bIns="0" anchor="ctr">
            <a:spAutoFit/>
          </a:bodyPr>
          <a:lstStyle/>
          <a:p>
            <a:pPr algn="ctr"/>
            <a:r>
              <a:rPr sz="1050" b="1">
                <a:solidFill>
                  <a:srgbClr val="14213D"/>
                </a:solidFill>
                <a:latin typeface="Calibri"/>
              </a:rPr>
              <a:t>EP05 · </a:t>
            </a:r>
            <a:r>
              <a:rPr sz="1050" b="0">
                <a:solidFill>
                  <a:srgbClr val="14213D"/>
                </a:solidFill>
                <a:latin typeface="Calibri"/>
              </a:rPr>
              <a:t>Post-compra y fidelización</a:t>
            </a:r>
          </a:p>
        </p:txBody>
      </p:sp>
      <p:sp>
        <p:nvSpPr>
          <p:cNvPr id="75" name="TextBox 74"/>
          <p:cNvSpPr txBox="1"/>
          <p:nvPr/>
        </p:nvSpPr>
        <p:spPr>
          <a:xfrm>
            <a:off x="457200" y="4041648"/>
            <a:ext cx="6858000" cy="365760"/>
          </a:xfrm>
          <a:prstGeom prst="rect">
            <a:avLst/>
          </a:prstGeom>
          <a:noFill/>
        </p:spPr>
        <p:txBody>
          <a:bodyPr wrap="square" lIns="0" rIns="0" tIns="0" bIns="0" anchor="ctr">
            <a:spAutoFit/>
          </a:bodyPr>
          <a:lstStyle/>
          <a:p>
            <a:pPr algn="l"/>
            <a:r>
              <a:rPr sz="1200" b="1">
                <a:solidFill>
                  <a:srgbClr val="4A5568"/>
                </a:solidFill>
                <a:latin typeface="Calibri"/>
              </a:rPr>
              <a:t>Procedimiento: </a:t>
            </a:r>
            <a:r>
              <a:rPr sz="1200" b="0">
                <a:solidFill>
                  <a:srgbClr val="4A5568"/>
                </a:solidFill>
                <a:latin typeface="Calibri"/>
              </a:rPr>
              <a:t>cada necesidad en una nota → agrupación por similitud → nombre del grupo → épica del producto.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Causa raíz: diagrama de Ishikawa</a:t>
            </a:r>
          </a:p>
        </p:txBody>
      </p:sp>
      <p:cxnSp>
        <p:nvCxnSpPr>
          <p:cNvPr id="27" name="Connector 26"/>
          <p:cNvCxnSpPr/>
          <p:nvPr/>
        </p:nvCxnSpPr>
        <p:spPr>
          <a:xfrm>
            <a:off x="457200" y="2697480"/>
            <a:ext cx="6263640" cy="0"/>
          </a:xfrm>
          <a:prstGeom prst="line">
            <a:avLst/>
          </a:prstGeom>
          <a:ln w="38100">
            <a:solidFill>
              <a:srgbClr val="1421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812280" y="2057400"/>
            <a:ext cx="1874519" cy="128016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2057400"/>
            <a:ext cx="1691640" cy="1280160"/>
          </a:xfrm>
          <a:prstGeom prst="rect">
            <a:avLst/>
          </a:prstGeom>
          <a:noFill/>
        </p:spPr>
        <p:txBody>
          <a:bodyPr wrap="square" lIns="0" rIns="0" tIns="0" bIns="0" anchor="ctr">
            <a:spAutoFit/>
          </a:bodyPr>
          <a:lstStyle/>
          <a:p>
            <a:pPr algn="ctr"/>
            <a:r>
              <a:rPr sz="1000" b="1">
                <a:solidFill>
                  <a:srgbClr val="FCA311"/>
                </a:solidFill>
                <a:latin typeface="Calibri"/>
              </a:rPr>
              <a:t>EFECTO</a:t>
            </a:r>
          </a:p>
          <a:p>
            <a:pPr algn="ctr"/>
            <a:r>
              <a:rPr sz="1300" b="1">
                <a:solidFill>
                  <a:srgbClr val="FFFFFF"/>
                </a:solidFill>
                <a:latin typeface="Calibri"/>
              </a:rPr>
              <a:t>El visitante abandona la compra antes de pagar</a:t>
            </a:r>
          </a:p>
        </p:txBody>
      </p:sp>
      <p:cxnSp>
        <p:nvCxnSpPr>
          <p:cNvPr id="30" name="Connector 29"/>
          <p:cNvCxnSpPr/>
          <p:nvPr/>
        </p:nvCxnSpPr>
        <p:spPr>
          <a:xfrm>
            <a:off x="1554480" y="13258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85800" y="987552"/>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987552"/>
            <a:ext cx="1737360" cy="274320"/>
          </a:xfrm>
          <a:prstGeom prst="rect">
            <a:avLst/>
          </a:prstGeom>
          <a:noFill/>
        </p:spPr>
        <p:txBody>
          <a:bodyPr wrap="square" lIns="0" rIns="0" tIns="0" bIns="0" anchor="ctr">
            <a:spAutoFit/>
          </a:bodyPr>
          <a:lstStyle/>
          <a:p>
            <a:pPr algn="ctr"/>
            <a:r>
              <a:rPr sz="1100" b="1">
                <a:solidFill>
                  <a:srgbClr val="14213D"/>
                </a:solidFill>
                <a:latin typeface="Calibri"/>
              </a:rPr>
              <a:t>Información del producto</a:t>
            </a:r>
          </a:p>
        </p:txBody>
      </p:sp>
      <p:cxnSp>
        <p:nvCxnSpPr>
          <p:cNvPr id="33" name="Connector 32"/>
          <p:cNvCxnSpPr/>
          <p:nvPr/>
        </p:nvCxnSpPr>
        <p:spPr>
          <a:xfrm>
            <a:off x="1597914" y="1778508"/>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3434" y="1604772"/>
            <a:ext cx="1508760" cy="347472"/>
          </a:xfrm>
          <a:prstGeom prst="rect">
            <a:avLst/>
          </a:prstGeom>
          <a:noFill/>
        </p:spPr>
        <p:txBody>
          <a:bodyPr wrap="square" lIns="0" rIns="0" tIns="0" bIns="0" anchor="ctr">
            <a:spAutoFit/>
          </a:bodyPr>
          <a:lstStyle/>
          <a:p>
            <a:pPr algn="r"/>
            <a:r>
              <a:rPr sz="1000" b="0">
                <a:solidFill>
                  <a:srgbClr val="4A5568"/>
                </a:solidFill>
                <a:latin typeface="Calibri"/>
              </a:rPr>
              <a:t>Catálogo sin búsqueda ni filtros</a:t>
            </a:r>
          </a:p>
        </p:txBody>
      </p:sp>
      <p:cxnSp>
        <p:nvCxnSpPr>
          <p:cNvPr id="35" name="Connector 34"/>
          <p:cNvCxnSpPr/>
          <p:nvPr/>
        </p:nvCxnSpPr>
        <p:spPr>
          <a:xfrm>
            <a:off x="1851660" y="228600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7180" y="2112264"/>
            <a:ext cx="1508760" cy="347472"/>
          </a:xfrm>
          <a:prstGeom prst="rect">
            <a:avLst/>
          </a:prstGeom>
          <a:noFill/>
        </p:spPr>
        <p:txBody>
          <a:bodyPr wrap="square" lIns="0" rIns="0" tIns="0" bIns="0" anchor="ctr">
            <a:spAutoFit/>
          </a:bodyPr>
          <a:lstStyle/>
          <a:p>
            <a:pPr algn="r"/>
            <a:r>
              <a:rPr sz="1000" b="0">
                <a:solidFill>
                  <a:srgbClr val="4A5568"/>
                </a:solidFill>
                <a:latin typeface="Calibri"/>
              </a:rPr>
              <a:t>Stock no visible</a:t>
            </a:r>
          </a:p>
        </p:txBody>
      </p:sp>
      <p:cxnSp>
        <p:nvCxnSpPr>
          <p:cNvPr id="37" name="Connector 36"/>
          <p:cNvCxnSpPr/>
          <p:nvPr/>
        </p:nvCxnSpPr>
        <p:spPr>
          <a:xfrm>
            <a:off x="3657600" y="13258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2788920" y="987552"/>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88920" y="987552"/>
            <a:ext cx="1737360" cy="274320"/>
          </a:xfrm>
          <a:prstGeom prst="rect">
            <a:avLst/>
          </a:prstGeom>
          <a:noFill/>
        </p:spPr>
        <p:txBody>
          <a:bodyPr wrap="square" lIns="0" rIns="0" tIns="0" bIns="0" anchor="ctr">
            <a:spAutoFit/>
          </a:bodyPr>
          <a:lstStyle/>
          <a:p>
            <a:pPr algn="ctr"/>
            <a:r>
              <a:rPr sz="1100" b="1">
                <a:solidFill>
                  <a:srgbClr val="14213D"/>
                </a:solidFill>
                <a:latin typeface="Calibri"/>
              </a:rPr>
              <a:t>Precios y costos</a:t>
            </a:r>
          </a:p>
        </p:txBody>
      </p:sp>
      <p:cxnSp>
        <p:nvCxnSpPr>
          <p:cNvPr id="40" name="Connector 39"/>
          <p:cNvCxnSpPr/>
          <p:nvPr/>
        </p:nvCxnSpPr>
        <p:spPr>
          <a:xfrm>
            <a:off x="3701033" y="1778508"/>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2146553" y="1604772"/>
            <a:ext cx="1508760" cy="347472"/>
          </a:xfrm>
          <a:prstGeom prst="rect">
            <a:avLst/>
          </a:prstGeom>
          <a:noFill/>
        </p:spPr>
        <p:txBody>
          <a:bodyPr wrap="square" lIns="0" rIns="0" tIns="0" bIns="0" anchor="ctr">
            <a:spAutoFit/>
          </a:bodyPr>
          <a:lstStyle/>
          <a:p>
            <a:pPr algn="r"/>
            <a:r>
              <a:rPr sz="1000" b="0">
                <a:solidFill>
                  <a:srgbClr val="4A5568"/>
                </a:solidFill>
                <a:latin typeface="Calibri"/>
              </a:rPr>
              <a:t>Envío e IGV aparecen al final</a:t>
            </a:r>
          </a:p>
        </p:txBody>
      </p:sp>
      <p:cxnSp>
        <p:nvCxnSpPr>
          <p:cNvPr id="42" name="Connector 41"/>
          <p:cNvCxnSpPr/>
          <p:nvPr/>
        </p:nvCxnSpPr>
        <p:spPr>
          <a:xfrm>
            <a:off x="3954780" y="228600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400300" y="2112264"/>
            <a:ext cx="1508760" cy="347472"/>
          </a:xfrm>
          <a:prstGeom prst="rect">
            <a:avLst/>
          </a:prstGeom>
          <a:noFill/>
        </p:spPr>
        <p:txBody>
          <a:bodyPr wrap="square" lIns="0" rIns="0" tIns="0" bIns="0" anchor="ctr">
            <a:spAutoFit/>
          </a:bodyPr>
          <a:lstStyle/>
          <a:p>
            <a:pPr algn="r"/>
            <a:r>
              <a:rPr sz="1000" b="0">
                <a:solidFill>
                  <a:srgbClr val="4A5568"/>
                </a:solidFill>
                <a:latin typeface="Calibri"/>
              </a:rPr>
              <a:t>Reglas de cupones poco claras</a:t>
            </a:r>
          </a:p>
        </p:txBody>
      </p:sp>
      <p:cxnSp>
        <p:nvCxnSpPr>
          <p:cNvPr id="44" name="Connector 43"/>
          <p:cNvCxnSpPr/>
          <p:nvPr/>
        </p:nvCxnSpPr>
        <p:spPr>
          <a:xfrm>
            <a:off x="5760720" y="13258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892040" y="987552"/>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892040" y="987552"/>
            <a:ext cx="1737360" cy="274320"/>
          </a:xfrm>
          <a:prstGeom prst="rect">
            <a:avLst/>
          </a:prstGeom>
          <a:noFill/>
        </p:spPr>
        <p:txBody>
          <a:bodyPr wrap="square" lIns="0" rIns="0" tIns="0" bIns="0" anchor="ctr">
            <a:spAutoFit/>
          </a:bodyPr>
          <a:lstStyle/>
          <a:p>
            <a:pPr algn="ctr"/>
            <a:r>
              <a:rPr sz="1100" b="1">
                <a:solidFill>
                  <a:srgbClr val="14213D"/>
                </a:solidFill>
                <a:latin typeface="Calibri"/>
              </a:rPr>
              <a:t>Seguridad y confianza</a:t>
            </a:r>
          </a:p>
        </p:txBody>
      </p:sp>
      <p:cxnSp>
        <p:nvCxnSpPr>
          <p:cNvPr id="47" name="Connector 46"/>
          <p:cNvCxnSpPr/>
          <p:nvPr/>
        </p:nvCxnSpPr>
        <p:spPr>
          <a:xfrm>
            <a:off x="5804153" y="1778508"/>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249673" y="1604772"/>
            <a:ext cx="1508760" cy="347472"/>
          </a:xfrm>
          <a:prstGeom prst="rect">
            <a:avLst/>
          </a:prstGeom>
          <a:noFill/>
        </p:spPr>
        <p:txBody>
          <a:bodyPr wrap="square" lIns="0" rIns="0" tIns="0" bIns="0" anchor="ctr">
            <a:spAutoFit/>
          </a:bodyPr>
          <a:lstStyle/>
          <a:p>
            <a:pPr algn="r"/>
            <a:r>
              <a:rPr sz="1000" b="0">
                <a:solidFill>
                  <a:srgbClr val="4A5568"/>
                </a:solidFill>
                <a:latin typeface="Calibri"/>
              </a:rPr>
              <a:t>Temor al robo de cuenta o tarjeta</a:t>
            </a:r>
          </a:p>
        </p:txBody>
      </p:sp>
      <p:cxnSp>
        <p:nvCxnSpPr>
          <p:cNvPr id="49" name="Connector 48"/>
          <p:cNvCxnSpPr/>
          <p:nvPr/>
        </p:nvCxnSpPr>
        <p:spPr>
          <a:xfrm>
            <a:off x="6057899" y="228600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503419" y="2112264"/>
            <a:ext cx="1508760" cy="347472"/>
          </a:xfrm>
          <a:prstGeom prst="rect">
            <a:avLst/>
          </a:prstGeom>
          <a:noFill/>
        </p:spPr>
        <p:txBody>
          <a:bodyPr wrap="square" lIns="0" rIns="0" tIns="0" bIns="0" anchor="ctr">
            <a:spAutoFit/>
          </a:bodyPr>
          <a:lstStyle/>
          <a:p>
            <a:pPr algn="r"/>
            <a:r>
              <a:rPr sz="1000" b="0">
                <a:solidFill>
                  <a:srgbClr val="4A5568"/>
                </a:solidFill>
                <a:latin typeface="Calibri"/>
              </a:rPr>
              <a:t>Sesión abierta en equipos compartidos</a:t>
            </a:r>
          </a:p>
        </p:txBody>
      </p:sp>
      <p:cxnSp>
        <p:nvCxnSpPr>
          <p:cNvPr id="51" name="Connector 50"/>
          <p:cNvCxnSpPr/>
          <p:nvPr/>
        </p:nvCxnSpPr>
        <p:spPr>
          <a:xfrm flipV="1">
            <a:off x="1554480" y="26974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85800" y="4133087"/>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 y="4133087"/>
            <a:ext cx="1737360" cy="274320"/>
          </a:xfrm>
          <a:prstGeom prst="rect">
            <a:avLst/>
          </a:prstGeom>
          <a:noFill/>
        </p:spPr>
        <p:txBody>
          <a:bodyPr wrap="square" lIns="0" rIns="0" tIns="0" bIns="0" anchor="ctr">
            <a:spAutoFit/>
          </a:bodyPr>
          <a:lstStyle/>
          <a:p>
            <a:pPr algn="ctr"/>
            <a:r>
              <a:rPr sz="1100" b="1">
                <a:solidFill>
                  <a:srgbClr val="14213D"/>
                </a:solidFill>
                <a:latin typeface="Calibri"/>
              </a:rPr>
              <a:t>Proceso de compra</a:t>
            </a:r>
          </a:p>
        </p:txBody>
      </p:sp>
      <p:cxnSp>
        <p:nvCxnSpPr>
          <p:cNvPr id="54" name="Connector 53"/>
          <p:cNvCxnSpPr/>
          <p:nvPr/>
        </p:nvCxnSpPr>
        <p:spPr>
          <a:xfrm>
            <a:off x="1597914" y="3616452"/>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3434" y="3442716"/>
            <a:ext cx="1508760" cy="347472"/>
          </a:xfrm>
          <a:prstGeom prst="rect">
            <a:avLst/>
          </a:prstGeom>
          <a:noFill/>
        </p:spPr>
        <p:txBody>
          <a:bodyPr wrap="square" lIns="0" rIns="0" tIns="0" bIns="0" anchor="ctr">
            <a:spAutoFit/>
          </a:bodyPr>
          <a:lstStyle/>
          <a:p>
            <a:pPr algn="r"/>
            <a:r>
              <a:rPr sz="1000" b="0">
                <a:solidFill>
                  <a:srgbClr val="4A5568"/>
                </a:solidFill>
                <a:latin typeface="Calibri"/>
              </a:rPr>
              <a:t>No se revisa el pedido antes de pagar</a:t>
            </a:r>
          </a:p>
        </p:txBody>
      </p:sp>
      <p:cxnSp>
        <p:nvCxnSpPr>
          <p:cNvPr id="56" name="Connector 55"/>
          <p:cNvCxnSpPr/>
          <p:nvPr/>
        </p:nvCxnSpPr>
        <p:spPr>
          <a:xfrm>
            <a:off x="1851660" y="310896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97180" y="2935224"/>
            <a:ext cx="1508760" cy="347472"/>
          </a:xfrm>
          <a:prstGeom prst="rect">
            <a:avLst/>
          </a:prstGeom>
          <a:noFill/>
        </p:spPr>
        <p:txBody>
          <a:bodyPr wrap="square" lIns="0" rIns="0" tIns="0" bIns="0" anchor="ctr">
            <a:spAutoFit/>
          </a:bodyPr>
          <a:lstStyle/>
          <a:p>
            <a:pPr algn="r"/>
            <a:r>
              <a:rPr sz="1000" b="0">
                <a:solidFill>
                  <a:srgbClr val="4A5568"/>
                </a:solidFill>
                <a:latin typeface="Calibri"/>
              </a:rPr>
              <a:t>El carrito se pierde al recargar</a:t>
            </a:r>
          </a:p>
        </p:txBody>
      </p:sp>
      <p:cxnSp>
        <p:nvCxnSpPr>
          <p:cNvPr id="58" name="Connector 57"/>
          <p:cNvCxnSpPr/>
          <p:nvPr/>
        </p:nvCxnSpPr>
        <p:spPr>
          <a:xfrm flipV="1">
            <a:off x="3657600" y="26974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2788920" y="4133087"/>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88920" y="4133087"/>
            <a:ext cx="1737360" cy="274320"/>
          </a:xfrm>
          <a:prstGeom prst="rect">
            <a:avLst/>
          </a:prstGeom>
          <a:noFill/>
        </p:spPr>
        <p:txBody>
          <a:bodyPr wrap="square" lIns="0" rIns="0" tIns="0" bIns="0" anchor="ctr">
            <a:spAutoFit/>
          </a:bodyPr>
          <a:lstStyle/>
          <a:p>
            <a:pPr algn="ctr"/>
            <a:r>
              <a:rPr sz="1100" b="1">
                <a:solidFill>
                  <a:srgbClr val="14213D"/>
                </a:solidFill>
                <a:latin typeface="Calibri"/>
              </a:rPr>
              <a:t>Normativa</a:t>
            </a:r>
          </a:p>
        </p:txBody>
      </p:sp>
      <p:cxnSp>
        <p:nvCxnSpPr>
          <p:cNvPr id="61" name="Connector 60"/>
          <p:cNvCxnSpPr/>
          <p:nvPr/>
        </p:nvCxnSpPr>
        <p:spPr>
          <a:xfrm>
            <a:off x="3701033" y="3616452"/>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146553" y="3442716"/>
            <a:ext cx="1508760" cy="347472"/>
          </a:xfrm>
          <a:prstGeom prst="rect">
            <a:avLst/>
          </a:prstGeom>
          <a:noFill/>
        </p:spPr>
        <p:txBody>
          <a:bodyPr wrap="square" lIns="0" rIns="0" tIns="0" bIns="0" anchor="ctr">
            <a:spAutoFit/>
          </a:bodyPr>
          <a:lstStyle/>
          <a:p>
            <a:pPr algn="r"/>
            <a:r>
              <a:rPr sz="1000" b="0">
                <a:solidFill>
                  <a:srgbClr val="4A5568"/>
                </a:solidFill>
                <a:latin typeface="Calibri"/>
              </a:rPr>
              <a:t>IGV no desglosado en el precio</a:t>
            </a:r>
          </a:p>
        </p:txBody>
      </p:sp>
      <p:cxnSp>
        <p:nvCxnSpPr>
          <p:cNvPr id="63" name="Connector 62"/>
          <p:cNvCxnSpPr/>
          <p:nvPr/>
        </p:nvCxnSpPr>
        <p:spPr>
          <a:xfrm>
            <a:off x="3954780" y="310896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2400300" y="2935224"/>
            <a:ext cx="1508760" cy="347472"/>
          </a:xfrm>
          <a:prstGeom prst="rect">
            <a:avLst/>
          </a:prstGeom>
          <a:noFill/>
        </p:spPr>
        <p:txBody>
          <a:bodyPr wrap="square" lIns="0" rIns="0" tIns="0" bIns="0" anchor="ctr">
            <a:spAutoFit/>
          </a:bodyPr>
          <a:lstStyle/>
          <a:p>
            <a:pPr algn="r"/>
            <a:r>
              <a:rPr sz="1000" b="0">
                <a:solidFill>
                  <a:srgbClr val="4A5568"/>
                </a:solidFill>
                <a:latin typeface="Calibri"/>
              </a:rPr>
              <a:t>Datos personales sin consentimiento</a:t>
            </a:r>
          </a:p>
        </p:txBody>
      </p:sp>
      <p:cxnSp>
        <p:nvCxnSpPr>
          <p:cNvPr id="65" name="Connector 64"/>
          <p:cNvCxnSpPr/>
          <p:nvPr/>
        </p:nvCxnSpPr>
        <p:spPr>
          <a:xfrm flipV="1">
            <a:off x="5760720" y="2697480"/>
            <a:ext cx="685800" cy="1371600"/>
          </a:xfrm>
          <a:prstGeom prst="line">
            <a:avLst/>
          </a:prstGeom>
          <a:ln w="25400">
            <a:solidFill>
              <a:srgbClr val="14213D"/>
            </a:solidFill>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4892040" y="4133087"/>
            <a:ext cx="1737360" cy="274320"/>
          </a:xfrm>
          <a:prstGeom prst="roundRect">
            <a:avLst>
              <a:gd name="adj" fmla="val 30000"/>
            </a:avLst>
          </a:prstGeom>
          <a:solidFill>
            <a:srgbClr val="FCA311"/>
          </a:solidFill>
          <a:ln>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892040" y="4133087"/>
            <a:ext cx="1737360" cy="274320"/>
          </a:xfrm>
          <a:prstGeom prst="rect">
            <a:avLst/>
          </a:prstGeom>
          <a:noFill/>
        </p:spPr>
        <p:txBody>
          <a:bodyPr wrap="square" lIns="0" rIns="0" tIns="0" bIns="0" anchor="ctr">
            <a:spAutoFit/>
          </a:bodyPr>
          <a:lstStyle/>
          <a:p>
            <a:pPr algn="ctr"/>
            <a:r>
              <a:rPr sz="1100" b="1">
                <a:solidFill>
                  <a:srgbClr val="14213D"/>
                </a:solidFill>
                <a:latin typeface="Calibri"/>
              </a:rPr>
              <a:t>Usuario y plataforma</a:t>
            </a:r>
          </a:p>
        </p:txBody>
      </p:sp>
      <p:cxnSp>
        <p:nvCxnSpPr>
          <p:cNvPr id="68" name="Connector 67"/>
          <p:cNvCxnSpPr/>
          <p:nvPr/>
        </p:nvCxnSpPr>
        <p:spPr>
          <a:xfrm>
            <a:off x="5804153" y="3616452"/>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49673" y="3442716"/>
            <a:ext cx="1508760" cy="347472"/>
          </a:xfrm>
          <a:prstGeom prst="rect">
            <a:avLst/>
          </a:prstGeom>
          <a:noFill/>
        </p:spPr>
        <p:txBody>
          <a:bodyPr wrap="square" lIns="0" rIns="0" tIns="0" bIns="0" anchor="ctr">
            <a:spAutoFit/>
          </a:bodyPr>
          <a:lstStyle/>
          <a:p>
            <a:pPr algn="r"/>
            <a:r>
              <a:rPr sz="1000" b="0">
                <a:solidFill>
                  <a:srgbClr val="4A5568"/>
                </a:solidFill>
                <a:latin typeface="Calibri"/>
              </a:rPr>
              <a:t>Distintos navegadores</a:t>
            </a:r>
          </a:p>
        </p:txBody>
      </p:sp>
      <p:cxnSp>
        <p:nvCxnSpPr>
          <p:cNvPr id="70" name="Connector 69"/>
          <p:cNvCxnSpPr/>
          <p:nvPr/>
        </p:nvCxnSpPr>
        <p:spPr>
          <a:xfrm>
            <a:off x="6057899" y="3108960"/>
            <a:ext cx="182880"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503419" y="2935224"/>
            <a:ext cx="1508760" cy="347472"/>
          </a:xfrm>
          <a:prstGeom prst="rect">
            <a:avLst/>
          </a:prstGeom>
          <a:noFill/>
        </p:spPr>
        <p:txBody>
          <a:bodyPr wrap="square" lIns="0" rIns="0" tIns="0" bIns="0" anchor="ctr">
            <a:spAutoFit/>
          </a:bodyPr>
          <a:lstStyle/>
          <a:p>
            <a:pPr algn="r"/>
            <a:r>
              <a:rPr sz="1000" b="0">
                <a:solidFill>
                  <a:srgbClr val="4A5568"/>
                </a:solidFill>
                <a:latin typeface="Calibri"/>
              </a:rPr>
              <a:t>Compra desde el celular (375 px)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5 por qués: el cliente abandona el carrito al ver el total</a:t>
            </a:r>
          </a:p>
        </p:txBody>
      </p:sp>
      <p:sp>
        <p:nvSpPr>
          <p:cNvPr id="27" name="Rounded Rectangle 26"/>
          <p:cNvSpPr/>
          <p:nvPr/>
        </p:nvSpPr>
        <p:spPr>
          <a:xfrm>
            <a:off x="457200" y="960120"/>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8640" y="1042416"/>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1042416"/>
            <a:ext cx="347472" cy="347472"/>
          </a:xfrm>
          <a:prstGeom prst="rect">
            <a:avLst/>
          </a:prstGeom>
          <a:noFill/>
        </p:spPr>
        <p:txBody>
          <a:bodyPr wrap="square" lIns="0" rIns="0" tIns="0" bIns="0" anchor="ctr">
            <a:spAutoFit/>
          </a:bodyPr>
          <a:lstStyle/>
          <a:p>
            <a:pPr algn="ctr"/>
            <a:r>
              <a:rPr sz="1300" b="1">
                <a:solidFill>
                  <a:srgbClr val="FFFFFF"/>
                </a:solidFill>
                <a:latin typeface="Calibri"/>
              </a:rPr>
              <a:t>1</a:t>
            </a:r>
          </a:p>
        </p:txBody>
      </p:sp>
      <p:sp>
        <p:nvSpPr>
          <p:cNvPr id="30" name="TextBox 29"/>
          <p:cNvSpPr txBox="1"/>
          <p:nvPr/>
        </p:nvSpPr>
        <p:spPr>
          <a:xfrm>
            <a:off x="1024128" y="960120"/>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el monto que paga es mayor al que esperaba.</a:t>
            </a:r>
          </a:p>
        </p:txBody>
      </p:sp>
      <p:sp>
        <p:nvSpPr>
          <p:cNvPr id="31" name="Rounded Rectangle 30"/>
          <p:cNvSpPr/>
          <p:nvPr/>
        </p:nvSpPr>
        <p:spPr>
          <a:xfrm>
            <a:off x="457200" y="1563624"/>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48640" y="1645920"/>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1645920"/>
            <a:ext cx="347472" cy="347472"/>
          </a:xfrm>
          <a:prstGeom prst="rect">
            <a:avLst/>
          </a:prstGeom>
          <a:noFill/>
        </p:spPr>
        <p:txBody>
          <a:bodyPr wrap="square" lIns="0" rIns="0" tIns="0" bIns="0" anchor="ctr">
            <a:spAutoFit/>
          </a:bodyPr>
          <a:lstStyle/>
          <a:p>
            <a:pPr algn="ctr"/>
            <a:r>
              <a:rPr sz="1300" b="1">
                <a:solidFill>
                  <a:srgbClr val="FFFFFF"/>
                </a:solidFill>
                <a:latin typeface="Calibri"/>
              </a:rPr>
              <a:t>2</a:t>
            </a:r>
          </a:p>
        </p:txBody>
      </p:sp>
      <p:sp>
        <p:nvSpPr>
          <p:cNvPr id="34" name="TextBox 33"/>
          <p:cNvSpPr txBox="1"/>
          <p:nvPr/>
        </p:nvSpPr>
        <p:spPr>
          <a:xfrm>
            <a:off x="1024128" y="1563624"/>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el costo de envío y el efecto del cupón recién aparecen al pagar.</a:t>
            </a:r>
          </a:p>
        </p:txBody>
      </p:sp>
      <p:sp>
        <p:nvSpPr>
          <p:cNvPr id="35" name="Rounded Rectangle 34"/>
          <p:cNvSpPr/>
          <p:nvPr/>
        </p:nvSpPr>
        <p:spPr>
          <a:xfrm>
            <a:off x="457200" y="2167128"/>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48640" y="2249424"/>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2249424"/>
            <a:ext cx="347472" cy="347472"/>
          </a:xfrm>
          <a:prstGeom prst="rect">
            <a:avLst/>
          </a:prstGeom>
          <a:noFill/>
        </p:spPr>
        <p:txBody>
          <a:bodyPr wrap="square" lIns="0" rIns="0" tIns="0" bIns="0" anchor="ctr">
            <a:spAutoFit/>
          </a:bodyPr>
          <a:lstStyle/>
          <a:p>
            <a:pPr algn="ctr"/>
            <a:r>
              <a:rPr sz="1300" b="1">
                <a:solidFill>
                  <a:srgbClr val="FFFFFF"/>
                </a:solidFill>
                <a:latin typeface="Calibri"/>
              </a:rPr>
              <a:t>3</a:t>
            </a:r>
          </a:p>
        </p:txBody>
      </p:sp>
      <p:sp>
        <p:nvSpPr>
          <p:cNvPr id="38" name="TextBox 37"/>
          <p:cNvSpPr txBox="1"/>
          <p:nvPr/>
        </p:nvSpPr>
        <p:spPr>
          <a:xfrm>
            <a:off x="1024128" y="2167128"/>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el carrito no muestra el desglose de subtotal, descuento, IGV y envío.</a:t>
            </a:r>
          </a:p>
        </p:txBody>
      </p:sp>
      <p:sp>
        <p:nvSpPr>
          <p:cNvPr id="39" name="Rounded Rectangle 38"/>
          <p:cNvSpPr/>
          <p:nvPr/>
        </p:nvSpPr>
        <p:spPr>
          <a:xfrm>
            <a:off x="457200" y="2770632"/>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48640" y="2852928"/>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2852928"/>
            <a:ext cx="347472" cy="347472"/>
          </a:xfrm>
          <a:prstGeom prst="rect">
            <a:avLst/>
          </a:prstGeom>
          <a:noFill/>
        </p:spPr>
        <p:txBody>
          <a:bodyPr wrap="square" lIns="0" rIns="0" tIns="0" bIns="0" anchor="ctr">
            <a:spAutoFit/>
          </a:bodyPr>
          <a:lstStyle/>
          <a:p>
            <a:pPr algn="ctr"/>
            <a:r>
              <a:rPr sz="1300" b="1">
                <a:solidFill>
                  <a:srgbClr val="FFFFFF"/>
                </a:solidFill>
                <a:latin typeface="Calibri"/>
              </a:rPr>
              <a:t>4</a:t>
            </a:r>
          </a:p>
        </p:txBody>
      </p:sp>
      <p:sp>
        <p:nvSpPr>
          <p:cNvPr id="42" name="TextBox 41"/>
          <p:cNvSpPr txBox="1"/>
          <p:nvPr/>
        </p:nvSpPr>
        <p:spPr>
          <a:xfrm>
            <a:off x="1024128" y="2770632"/>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no se definió cómo calcular y presentar cada monto (IGV incluido, cupones, envío).</a:t>
            </a:r>
          </a:p>
        </p:txBody>
      </p:sp>
      <p:sp>
        <p:nvSpPr>
          <p:cNvPr id="43" name="Rounded Rectangle 42"/>
          <p:cNvSpPr/>
          <p:nvPr/>
        </p:nvSpPr>
        <p:spPr>
          <a:xfrm>
            <a:off x="457200" y="3374136"/>
            <a:ext cx="5212080" cy="512064"/>
          </a:xfrm>
          <a:prstGeom prst="roundRect">
            <a:avLst>
              <a:gd name="adj" fmla="val 10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48640" y="3456432"/>
            <a:ext cx="347472" cy="34747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456432"/>
            <a:ext cx="347472" cy="347472"/>
          </a:xfrm>
          <a:prstGeom prst="rect">
            <a:avLst/>
          </a:prstGeom>
          <a:noFill/>
        </p:spPr>
        <p:txBody>
          <a:bodyPr wrap="square" lIns="0" rIns="0" tIns="0" bIns="0" anchor="ctr">
            <a:spAutoFit/>
          </a:bodyPr>
          <a:lstStyle/>
          <a:p>
            <a:pPr algn="ctr"/>
            <a:r>
              <a:rPr sz="1300" b="1">
                <a:solidFill>
                  <a:srgbClr val="FFFFFF"/>
                </a:solidFill>
                <a:latin typeface="Calibri"/>
              </a:rPr>
              <a:t>5</a:t>
            </a:r>
          </a:p>
        </p:txBody>
      </p:sp>
      <p:sp>
        <p:nvSpPr>
          <p:cNvPr id="46" name="TextBox 45"/>
          <p:cNvSpPr txBox="1"/>
          <p:nvPr/>
        </p:nvSpPr>
        <p:spPr>
          <a:xfrm>
            <a:off x="1024128" y="3374136"/>
            <a:ext cx="4553712" cy="512064"/>
          </a:xfrm>
          <a:prstGeom prst="rect">
            <a:avLst/>
          </a:prstGeom>
          <a:noFill/>
        </p:spPr>
        <p:txBody>
          <a:bodyPr wrap="square" lIns="0" rIns="0" tIns="0" bIns="0" anchor="ctr">
            <a:spAutoFit/>
          </a:bodyPr>
          <a:lstStyle/>
          <a:p>
            <a:pPr algn="l"/>
            <a:r>
              <a:rPr sz="1200" b="1">
                <a:solidFill>
                  <a:srgbClr val="14213D"/>
                </a:solidFill>
                <a:latin typeface="Calibri"/>
              </a:rPr>
              <a:t>¿Por qué? </a:t>
            </a:r>
            <a:r>
              <a:rPr sz="1200" b="0">
                <a:solidFill>
                  <a:srgbClr val="4A5568"/>
                </a:solidFill>
                <a:latin typeface="Calibri"/>
              </a:rPr>
              <a:t>Porque no existía una regla de negocio de precios transparentes (Ley N.° 29571).</a:t>
            </a:r>
          </a:p>
        </p:txBody>
      </p:sp>
      <p:sp>
        <p:nvSpPr>
          <p:cNvPr id="47" name="Rounded Rectangle 46"/>
          <p:cNvSpPr/>
          <p:nvPr/>
        </p:nvSpPr>
        <p:spPr>
          <a:xfrm>
            <a:off x="5897880" y="960120"/>
            <a:ext cx="2788920" cy="1325880"/>
          </a:xfrm>
          <a:prstGeom prst="roundRect">
            <a:avLst>
              <a:gd name="adj" fmla="val 8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53328" y="1051560"/>
            <a:ext cx="2514600" cy="1188720"/>
          </a:xfrm>
          <a:prstGeom prst="rect">
            <a:avLst/>
          </a:prstGeom>
          <a:noFill/>
        </p:spPr>
        <p:txBody>
          <a:bodyPr wrap="square" lIns="0" rIns="0" tIns="0" bIns="0" anchor="t">
            <a:spAutoFit/>
          </a:bodyPr>
          <a:lstStyle/>
          <a:p>
            <a:pPr algn="l">
              <a:spcAft>
                <a:spcPts val="400"/>
              </a:spcAft>
            </a:pPr>
            <a:r>
              <a:rPr sz="1100" b="1">
                <a:solidFill>
                  <a:srgbClr val="5C4400"/>
                </a:solidFill>
                <a:latin typeface="Calibri"/>
              </a:rPr>
              <a:t>Causa raíz</a:t>
            </a:r>
          </a:p>
          <a:p>
            <a:pPr algn="l">
              <a:spcAft>
                <a:spcPts val="400"/>
              </a:spcAft>
            </a:pPr>
            <a:r>
              <a:rPr sz="1400" b="1">
                <a:solidFill>
                  <a:srgbClr val="5C4400"/>
                </a:solidFill>
                <a:latin typeface="Calibri"/>
              </a:rPr>
              <a:t>No hay una regla de cálculo y presentación transparente de los montos.</a:t>
            </a:r>
          </a:p>
        </p:txBody>
      </p:sp>
      <p:sp>
        <p:nvSpPr>
          <p:cNvPr id="49" name="Rounded Rectangle 48"/>
          <p:cNvSpPr/>
          <p:nvPr/>
        </p:nvSpPr>
        <p:spPr>
          <a:xfrm>
            <a:off x="5897880" y="2423160"/>
            <a:ext cx="2788920" cy="1463040"/>
          </a:xfrm>
          <a:prstGeom prst="roundRect">
            <a:avLst>
              <a:gd name="adj" fmla="val 8000"/>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53328" y="2514600"/>
            <a:ext cx="2514600" cy="1325880"/>
          </a:xfrm>
          <a:prstGeom prst="rect">
            <a:avLst/>
          </a:prstGeom>
          <a:noFill/>
        </p:spPr>
        <p:txBody>
          <a:bodyPr wrap="square" lIns="0" rIns="0" tIns="0" bIns="0" anchor="t">
            <a:spAutoFit/>
          </a:bodyPr>
          <a:lstStyle/>
          <a:p>
            <a:pPr algn="l">
              <a:spcAft>
                <a:spcPts val="600"/>
              </a:spcAft>
            </a:pPr>
            <a:r>
              <a:rPr sz="1100" b="1">
                <a:solidFill>
                  <a:srgbClr val="FCA311"/>
                </a:solidFill>
                <a:latin typeface="Calibri"/>
              </a:rPr>
              <a:t>Requerimientos</a:t>
            </a:r>
          </a:p>
          <a:p>
            <a:pPr algn="l">
              <a:spcAft>
                <a:spcPts val="600"/>
              </a:spcAft>
            </a:pPr>
            <a:r>
              <a:rPr sz="1300" b="1">
                <a:solidFill>
                  <a:srgbClr val="FFFFFF"/>
                </a:solidFill>
                <a:latin typeface="Calibri"/>
              </a:rPr>
              <a:t>R1 </a:t>
            </a:r>
            <a:r>
              <a:rPr sz="1300" b="0">
                <a:solidFill>
                  <a:srgbClr val="FFFFFF"/>
                </a:solidFill>
                <a:latin typeface="Calibri"/>
              </a:rPr>
              <a:t>Desglose de montos antes de pagar</a:t>
            </a:r>
          </a:p>
          <a:p>
            <a:pPr algn="l">
              <a:spcAft>
                <a:spcPts val="600"/>
              </a:spcAft>
            </a:pPr>
            <a:r>
              <a:rPr sz="1300" b="1">
                <a:solidFill>
                  <a:srgbClr val="FFFFFF"/>
                </a:solidFill>
                <a:latin typeface="Calibri"/>
              </a:rPr>
              <a:t>R2 </a:t>
            </a:r>
            <a:r>
              <a:rPr sz="1300" b="0">
                <a:solidFill>
                  <a:srgbClr val="FFFFFF"/>
                </a:solidFill>
                <a:latin typeface="Calibri"/>
              </a:rPr>
              <a:t>Cupones con reglas y mensajes claros</a:t>
            </a:r>
          </a:p>
        </p:txBody>
      </p:sp>
      <p:sp>
        <p:nvSpPr>
          <p:cNvPr id="51" name="TextBox 50"/>
          <p:cNvSpPr txBox="1"/>
          <p:nvPr/>
        </p:nvSpPr>
        <p:spPr>
          <a:xfrm>
            <a:off x="457200" y="4041648"/>
            <a:ext cx="6858000" cy="365760"/>
          </a:xfrm>
          <a:prstGeom prst="rect">
            <a:avLst/>
          </a:prstGeom>
          <a:noFill/>
        </p:spPr>
        <p:txBody>
          <a:bodyPr wrap="square" lIns="0" rIns="0" tIns="0" bIns="0" anchor="ctr">
            <a:spAutoFit/>
          </a:bodyPr>
          <a:lstStyle/>
          <a:p>
            <a:pPr algn="l"/>
            <a:r>
              <a:rPr sz="1200" b="1">
                <a:solidFill>
                  <a:srgbClr val="4A5568"/>
                </a:solidFill>
                <a:latin typeface="Calibri"/>
              </a:rPr>
              <a:t>Origen: </a:t>
            </a:r>
            <a:r>
              <a:rPr sz="1200" b="0">
                <a:solidFill>
                  <a:srgbClr val="4A5568"/>
                </a:solidFill>
                <a:latin typeface="Calibri"/>
              </a:rPr>
              <a:t>categoría «Precios y costos» del Ishikawa · Trazabilidad: RF14, RF15, RF25, RF27.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Las otras cuatro cadenas de 5 por qués</a:t>
            </a:r>
          </a:p>
        </p:txBody>
      </p:sp>
      <p:graphicFrame>
        <p:nvGraphicFramePr>
          <p:cNvPr id="27" name="Table 26"/>
          <p:cNvGraphicFramePr>
            <a:graphicFrameLocks noGrp="1"/>
          </p:cNvGraphicFramePr>
          <p:nvPr/>
        </p:nvGraphicFramePr>
        <p:xfrm>
          <a:off x="457200" y="1005840"/>
          <a:ext cx="8229600" cy="2834640"/>
        </p:xfrm>
        <a:graphic>
          <a:graphicData uri="http://schemas.openxmlformats.org/drawingml/2006/table">
            <a:tbl>
              <a:tblPr firstRow="0" bandRow="0"/>
              <a:tblGrid>
                <a:gridCol w="1737360"/>
                <a:gridCol w="2743200"/>
                <a:gridCol w="2560320"/>
                <a:gridCol w="1188720"/>
              </a:tblGrid>
              <a:tr h="566928">
                <a:tc>
                  <a:txBody>
                    <a:bodyPr wrap="square"/>
                    <a:lstStyle/>
                    <a:p>
                      <a:r>
                        <a:rPr sz="1100" b="1">
                          <a:solidFill>
                            <a:srgbClr val="FFFFFF"/>
                          </a:solidFill>
                          <a:latin typeface="Calibri"/>
                        </a:rPr>
                        <a:t>Cadena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Problema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Causa raíz (5.º por qué)</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Requerimientos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566928">
                <a:tc>
                  <a:txBody>
                    <a:bodyPr wrap="square"/>
                    <a:lstStyle/>
                    <a:p>
                      <a:r>
                        <a:rPr sz="1100" b="1">
                          <a:solidFill>
                            <a:srgbClr val="4A5568"/>
                          </a:solidFill>
                          <a:latin typeface="Calibri"/>
                        </a:rPr>
                        <a:t>B · Información del producto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El visitante sale de la tienda sin encontrar el producto.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No se modelaron las formas de búsqueda del cliente.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566928">
                <a:tc>
                  <a:txBody>
                    <a:bodyPr wrap="square"/>
                    <a:lstStyle/>
                    <a:p>
                      <a:r>
                        <a:rPr sz="1100" b="1">
                          <a:solidFill>
                            <a:srgbClr val="4A5568"/>
                          </a:solidFill>
                          <a:latin typeface="Calibri"/>
                        </a:rPr>
                        <a:t>C · Seguridad y confianza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El cliente no quiere crear una cuenta ni pagar en línea.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La seguridad no se trató como requisito medible.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R6, R7, R9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566928">
                <a:tc>
                  <a:txBody>
                    <a:bodyPr wrap="square"/>
                    <a:lstStyle/>
                    <a:p>
                      <a:r>
                        <a:rPr sz="1100" b="1">
                          <a:solidFill>
                            <a:srgbClr val="4A5568"/>
                          </a:solidFill>
                          <a:latin typeface="Calibri"/>
                        </a:rPr>
                        <a:t>D · Normativa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La tienda puede ser sancionada por el uso de datos personales.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Las obligaciones legales no formaron parte del análisis.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566928">
                <a:tc>
                  <a:txBody>
                    <a:bodyPr wrap="square"/>
                    <a:lstStyle/>
                    <a:p>
                      <a:r>
                        <a:rPr sz="1100" b="1">
                          <a:solidFill>
                            <a:srgbClr val="4A5568"/>
                          </a:solidFill>
                          <a:latin typeface="Calibri"/>
                        </a:rPr>
                        <a:t>E · Proceso de compra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El cliente pierde su selección o intenta comprar algo agotado.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Faltan reglas de persistencia del carrito y de control de inventario.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R4, R5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bl>
          </a:graphicData>
        </a:graphic>
      </p:graphicFrame>
      <p:sp>
        <p:nvSpPr>
          <p:cNvPr id="28" name="Rounded Rectangle 27"/>
          <p:cNvSpPr/>
          <p:nvPr/>
        </p:nvSpPr>
        <p:spPr>
          <a:xfrm>
            <a:off x="457200" y="3931920"/>
            <a:ext cx="73152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931920"/>
            <a:ext cx="7040880" cy="411480"/>
          </a:xfrm>
          <a:prstGeom prst="rect">
            <a:avLst/>
          </a:prstGeom>
          <a:noFill/>
        </p:spPr>
        <p:txBody>
          <a:bodyPr wrap="square" lIns="0" rIns="0" tIns="0" bIns="0" anchor="ctr">
            <a:spAutoFit/>
          </a:bodyPr>
          <a:lstStyle/>
          <a:p>
            <a:pPr algn="l"/>
            <a:r>
              <a:rPr sz="1200" b="1">
                <a:solidFill>
                  <a:srgbClr val="5C4400"/>
                </a:solidFill>
                <a:latin typeface="Calibri"/>
              </a:rPr>
              <a:t>Hallazgo: </a:t>
            </a:r>
            <a:r>
              <a:rPr sz="1200" b="0">
                <a:solidFill>
                  <a:srgbClr val="5C4400"/>
                </a:solidFill>
                <a:latin typeface="Calibri"/>
              </a:rPr>
              <a:t>las cadenas C y D llevan a seguridad y normativa, causas que no aparecían en las notas del cliente.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9 requerimientos obtenidos</a:t>
            </a:r>
          </a:p>
        </p:txBody>
      </p:sp>
      <p:graphicFrame>
        <p:nvGraphicFramePr>
          <p:cNvPr id="27" name="Table 26"/>
          <p:cNvGraphicFramePr>
            <a:graphicFrameLocks noGrp="1"/>
          </p:cNvGraphicFramePr>
          <p:nvPr/>
        </p:nvGraphicFramePr>
        <p:xfrm>
          <a:off x="457200" y="914400"/>
          <a:ext cx="8229600" cy="2926080"/>
        </p:xfrm>
        <a:graphic>
          <a:graphicData uri="http://schemas.openxmlformats.org/drawingml/2006/table">
            <a:tbl>
              <a:tblPr firstRow="0" bandRow="0"/>
              <a:tblGrid>
                <a:gridCol w="457200"/>
                <a:gridCol w="4480560"/>
                <a:gridCol w="1920240"/>
                <a:gridCol w="1371600"/>
              </a:tblGrid>
              <a:tr h="292608">
                <a:tc>
                  <a:txBody>
                    <a:bodyPr wrap="square"/>
                    <a:lstStyle/>
                    <a:p>
                      <a:r>
                        <a:rPr sz="1100" b="1">
                          <a:solidFill>
                            <a:srgbClr val="FFFFFF"/>
                          </a:solidFill>
                          <a:latin typeface="Calibri"/>
                        </a:rPr>
                        <a:t>ID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Requerimiento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Técnica de origen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RF / RNF</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292608">
                <a:tc>
                  <a:txBody>
                    <a:bodyPr wrap="square"/>
                    <a:lstStyle/>
                    <a:p>
                      <a:r>
                        <a:rPr sz="1100" b="1">
                          <a:solidFill>
                            <a:srgbClr val="4A5568"/>
                          </a:solidFill>
                          <a:latin typeface="Calibri"/>
                        </a:rPr>
                        <a:t>R1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Desglose de montos antes de pagar (subtotal, descuento, envío, IGV, total)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(A)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RF14, RF25, RF27</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Cupones con reglas y mensajes claros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(A)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RF15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Búsqueda por nombre y filtros por categoría, precio y marca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(B)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RF02, RF03, RF04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Estado de stock visible; no vender más de lo disponible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(E)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RF07, RF09, RF28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Carrito que se conserva al recargar o cerrar el navegador</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(E)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RF16, RNF09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Contraseña segura y bloqueo tras 5 intentos fallidos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(C)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RF18, RF20, RNF04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R7</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Cierre de sesión tras 15 min de inactividad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(C)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RF22, RNF04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Consentimiento para tratar datos personales (Ley N.° 29733)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5 por qués (D) · Ishikawa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RF19, RNF05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Pago con tarjeta validada; solo se guardan los últimos 4 dígitos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5 por qués (C) · Afinidad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RF26, RNF05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TextBox 27"/>
          <p:cNvSpPr txBox="1"/>
          <p:nvPr/>
        </p:nvSpPr>
        <p:spPr>
          <a:xfrm>
            <a:off x="457200" y="4069080"/>
            <a:ext cx="6858000" cy="365760"/>
          </a:xfrm>
          <a:prstGeom prst="rect">
            <a:avLst/>
          </a:prstGeom>
          <a:noFill/>
        </p:spPr>
        <p:txBody>
          <a:bodyPr wrap="square" lIns="0" rIns="0" tIns="0" bIns="0" anchor="ctr">
            <a:spAutoFit/>
          </a:bodyPr>
          <a:lstStyle/>
          <a:p>
            <a:pPr algn="l"/>
            <a:r>
              <a:rPr sz="1200" b="1">
                <a:solidFill>
                  <a:srgbClr val="4A5568"/>
                </a:solidFill>
                <a:latin typeface="Calibri"/>
              </a:rPr>
              <a:t>Mínimo pedido: 5 · obtenidos: 9 </a:t>
            </a:r>
            <a:r>
              <a:rPr sz="1200" b="0">
                <a:solidFill>
                  <a:srgbClr val="4A5568"/>
                </a:solidFill>
                <a:latin typeface="Calibri"/>
              </a:rPr>
              <a:t>— cinco funcionales y cuatro funcionales y no funcionales, todos trazados al documento de especificaciones.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737360"/>
            <a:ext cx="5486400" cy="548640"/>
          </a:xfrm>
          <a:prstGeom prst="rect">
            <a:avLst/>
          </a:prstGeom>
          <a:noFill/>
        </p:spPr>
        <p:txBody>
          <a:bodyPr wrap="square" lIns="0" rIns="0" tIns="0" bIns="0" anchor="ctr">
            <a:spAutoFit/>
          </a:bodyPr>
          <a:lstStyle/>
          <a:p>
            <a:pPr algn="l"/>
            <a:r>
              <a:rPr sz="2400" b="1" spc="300">
                <a:solidFill>
                  <a:srgbClr val="FCA311"/>
                </a:solidFill>
                <a:latin typeface="Calibri"/>
              </a:rPr>
              <a:t>PARTE II</a:t>
            </a:r>
          </a:p>
        </p:txBody>
      </p:sp>
      <p:sp>
        <p:nvSpPr>
          <p:cNvPr id="3" name="TextBox 2"/>
          <p:cNvSpPr txBox="1"/>
          <p:nvPr/>
        </p:nvSpPr>
        <p:spPr>
          <a:xfrm>
            <a:off x="731520" y="2423160"/>
            <a:ext cx="7680960" cy="731520"/>
          </a:xfrm>
          <a:prstGeom prst="rect">
            <a:avLst/>
          </a:prstGeom>
          <a:noFill/>
        </p:spPr>
        <p:txBody>
          <a:bodyPr wrap="square" lIns="0" rIns="0" tIns="0" bIns="0" anchor="ctr">
            <a:spAutoFit/>
          </a:bodyPr>
          <a:lstStyle/>
          <a:p>
            <a:pPr algn="l"/>
            <a:r>
              <a:rPr sz="3600" b="1">
                <a:solidFill>
                  <a:srgbClr val="FFFFFF"/>
                </a:solidFill>
                <a:latin typeface="Calibri"/>
              </a:rPr>
              <a:t>Historias de usuario</a:t>
            </a:r>
          </a:p>
        </p:txBody>
      </p:sp>
      <p:sp>
        <p:nvSpPr>
          <p:cNvPr id="4" name="TextBox 3"/>
          <p:cNvSpPr txBox="1"/>
          <p:nvPr/>
        </p:nvSpPr>
        <p:spPr>
          <a:xfrm>
            <a:off x="731520" y="3154680"/>
            <a:ext cx="7680960" cy="457200"/>
          </a:xfrm>
          <a:prstGeom prst="rect">
            <a:avLst/>
          </a:prstGeom>
          <a:noFill/>
        </p:spPr>
        <p:txBody>
          <a:bodyPr wrap="square" lIns="0" rIns="0" tIns="0" bIns="0" anchor="ctr">
            <a:spAutoFit/>
          </a:bodyPr>
          <a:lstStyle/>
          <a:p>
            <a:pPr algn="l"/>
            <a:r>
              <a:rPr sz="1600" b="0">
                <a:solidFill>
                  <a:srgbClr val="C9D3E3"/>
                </a:solidFill>
                <a:latin typeface="Calibri"/>
              </a:rPr>
              <a:t>Una historia por requerimiento, con criterios Dado / Cuando / Entonces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De requerimiento a historia de usuario</a:t>
            </a:r>
          </a:p>
        </p:txBody>
      </p:sp>
      <p:graphicFrame>
        <p:nvGraphicFramePr>
          <p:cNvPr id="27" name="Table 26"/>
          <p:cNvGraphicFramePr>
            <a:graphicFrameLocks noGrp="1"/>
          </p:cNvGraphicFramePr>
          <p:nvPr/>
        </p:nvGraphicFramePr>
        <p:xfrm>
          <a:off x="457200" y="914400"/>
          <a:ext cx="8229600" cy="2926080"/>
        </p:xfrm>
        <a:graphic>
          <a:graphicData uri="http://schemas.openxmlformats.org/drawingml/2006/table">
            <a:tbl>
              <a:tblPr firstRow="0" bandRow="0"/>
              <a:tblGrid>
                <a:gridCol w="548640"/>
                <a:gridCol w="3566160"/>
                <a:gridCol w="1005840"/>
                <a:gridCol w="548640"/>
                <a:gridCol w="2560320"/>
              </a:tblGrid>
              <a:tr h="292608">
                <a:tc>
                  <a:txBody>
                    <a:bodyPr wrap="square"/>
                    <a:lstStyle/>
                    <a:p>
                      <a:r>
                        <a:rPr sz="1100" b="1">
                          <a:solidFill>
                            <a:srgbClr val="FFFFFF"/>
                          </a:solidFill>
                          <a:latin typeface="Calibri"/>
                        </a:rPr>
                        <a:t>Req.</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Historia de usuario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Prioridad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Casos de prueba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292608">
                <a:tc>
                  <a:txBody>
                    <a:bodyPr wrap="square"/>
                    <a:lstStyle/>
                    <a:p>
                      <a:r>
                        <a:rPr sz="1100" b="1">
                          <a:solidFill>
                            <a:srgbClr val="4A5568"/>
                          </a:solidFill>
                          <a:latin typeface="Calibri"/>
                        </a:rPr>
                        <a:t>R1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HU14 – Ver subtotal, IGV y total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CP037–CP038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HU15 – Aplicar cupón de descuento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Should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CP039–CP041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HU02 – Buscar productos por nombre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CP004–CP006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HU07 – Ver disponibilidad de stock</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CP020–CP022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HU16 – Persistencia del carrito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CP042–CP043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HU20 – Iniciar sesión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CP053–CP056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R7</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HU22 – Cierre de sesión por inactividad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CP059–CP060</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292608">
                <a:tc>
                  <a:txBody>
                    <a:bodyPr wrap="square"/>
                    <a:lstStyle/>
                    <a:p>
                      <a:r>
                        <a:rPr sz="1100" b="1">
                          <a:solidFill>
                            <a:srgbClr val="4A5568"/>
                          </a:solidFill>
                          <a:latin typeface="Calibri"/>
                        </a:rPr>
                        <a:t>R8</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HU19 – Aceptar política de privacidad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CP050–CP052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292608">
                <a:tc>
                  <a:txBody>
                    <a:bodyPr wrap="square"/>
                    <a:lstStyle/>
                    <a:p>
                      <a:r>
                        <a:rPr sz="1100" b="1">
                          <a:solidFill>
                            <a:srgbClr val="4A5568"/>
                          </a:solidFill>
                          <a:latin typeface="Calibri"/>
                        </a:rPr>
                        <a:t>R9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HU26 – Pagar con tarjeta (simulado)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Must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CP070–CP072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Rounded Rectangle 27"/>
          <p:cNvSpPr/>
          <p:nvPr/>
        </p:nvSpPr>
        <p:spPr>
          <a:xfrm>
            <a:off x="457200" y="3931920"/>
            <a:ext cx="7315200" cy="411480"/>
          </a:xfrm>
          <a:prstGeom prst="roundRect">
            <a:avLst>
              <a:gd name="adj" fmla="val 15000"/>
            </a:avLst>
          </a:prstGeom>
          <a:solidFill>
            <a:srgbClr val="EEF2F7"/>
          </a:solidFill>
          <a:ln>
            <a:solidFill>
              <a:srgbClr val="EEF2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931920"/>
            <a:ext cx="7040880" cy="411480"/>
          </a:xfrm>
          <a:prstGeom prst="rect">
            <a:avLst/>
          </a:prstGeom>
          <a:noFill/>
        </p:spPr>
        <p:txBody>
          <a:bodyPr wrap="square" lIns="0" rIns="0" tIns="0" bIns="0" anchor="ctr">
            <a:spAutoFit/>
          </a:bodyPr>
          <a:lstStyle/>
          <a:p>
            <a:pPr algn="l"/>
            <a:r>
              <a:rPr sz="1200" b="1">
                <a:solidFill>
                  <a:srgbClr val="14213D"/>
                </a:solidFill>
                <a:latin typeface="Calibri"/>
              </a:rPr>
              <a:t>Formato: </a:t>
            </a:r>
            <a:r>
              <a:rPr sz="1200" b="0">
                <a:solidFill>
                  <a:srgbClr val="14213D"/>
                </a:solidFill>
                <a:latin typeface="Calibri"/>
              </a:rPr>
              <a:t>Como &lt;rol&gt;, quiero &lt;qué&gt;, para &lt;beneficio&gt; + criterios Dado / Cuando / Entonces + INVEST.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Ejemplo de HU: HU14 ver subtotal, IGV y total</a:t>
            </a:r>
          </a:p>
        </p:txBody>
      </p:sp>
      <p:graphicFrame>
        <p:nvGraphicFramePr>
          <p:cNvPr id="27" name="Table 26"/>
          <p:cNvGraphicFramePr>
            <a:graphicFrameLocks noGrp="1"/>
          </p:cNvGraphicFramePr>
          <p:nvPr/>
        </p:nvGraphicFramePr>
        <p:xfrm>
          <a:off x="548640" y="914400"/>
          <a:ext cx="8046720" cy="2286000"/>
        </p:xfrm>
        <a:graphic>
          <a:graphicData uri="http://schemas.openxmlformats.org/drawingml/2006/table">
            <a:tbl>
              <a:tblPr firstRow="0" bandRow="0"/>
              <a:tblGrid>
                <a:gridCol w="1188720"/>
                <a:gridCol w="6858000"/>
              </a:tblGrid>
              <a:tr h="457200">
                <a:tc>
                  <a:txBody>
                    <a:bodyPr wrap="square"/>
                    <a:lstStyle/>
                    <a:p>
                      <a:r>
                        <a:rPr sz="1100" b="1">
                          <a:solidFill>
                            <a:srgbClr val="14213D"/>
                          </a:solidFill>
                          <a:latin typeface="Calibri"/>
                        </a:rPr>
                        <a:t>Historia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Como visitante, quiero ver el subtotal, el descuento, el IGV incluido y el total a pagar, para saber exactamente cuánto pagaré.</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Datos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R1 · EP02 – Carrito de compras · Must · 3 puntos · carrito.html, checkout.html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CA1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carrito tiene 2 unidades de un producto de S/ 199.00, </a:t>
                      </a:r>
                      <a:r>
                        <a:rPr sz="1100" b="1">
                          <a:solidFill>
                            <a:srgbClr val="4A5568"/>
                          </a:solidFill>
                          <a:latin typeface="Calibri"/>
                        </a:rPr>
                        <a:t>cuando </a:t>
                      </a:r>
                      <a:r>
                        <a:rPr sz="1100" b="0">
                          <a:solidFill>
                            <a:srgbClr val="4A5568"/>
                          </a:solidFill>
                          <a:latin typeface="Calibri"/>
                        </a:rPr>
                        <a:t>el visitante ve el resumen, </a:t>
                      </a:r>
                      <a:r>
                        <a:rPr sz="1100" b="1">
                          <a:solidFill>
                            <a:srgbClr val="4A5568"/>
                          </a:solidFill>
                          <a:latin typeface="Calibri"/>
                        </a:rPr>
                        <a:t>entonces </a:t>
                      </a:r>
                      <a:r>
                        <a:rPr sz="1100" b="0">
                          <a:solidFill>
                            <a:srgbClr val="4A5568"/>
                          </a:solidFill>
                          <a:latin typeface="Calibri"/>
                        </a:rPr>
                        <a:t>Subtotal = S/ 398.00, Total = S/ 398.00 e IGV incluido = S/ 60.71.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CA2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hay un cupón aplicado, </a:t>
                      </a:r>
                      <a:r>
                        <a:rPr sz="1100" b="1">
                          <a:solidFill>
                            <a:srgbClr val="4A5568"/>
                          </a:solidFill>
                          <a:latin typeface="Calibri"/>
                        </a:rPr>
                        <a:t>cuando </a:t>
                      </a:r>
                      <a:r>
                        <a:rPr sz="1100" b="0">
                          <a:solidFill>
                            <a:srgbClr val="4A5568"/>
                          </a:solidFill>
                          <a:latin typeface="Calibri"/>
                        </a:rPr>
                        <a:t>el visitante ve el resumen, </a:t>
                      </a:r>
                      <a:r>
                        <a:rPr sz="1100" b="1">
                          <a:solidFill>
                            <a:srgbClr val="4A5568"/>
                          </a:solidFill>
                          <a:latin typeface="Calibri"/>
                        </a:rPr>
                        <a:t>entonces </a:t>
                      </a:r>
                      <a:r>
                        <a:rPr sz="1100" b="0">
                          <a:solidFill>
                            <a:srgbClr val="4A5568"/>
                          </a:solidFill>
                          <a:latin typeface="Calibri"/>
                        </a:rPr>
                        <a:t>el descuento se muestra en verde y el total es Subtotal − Descuento.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57200">
                <a:tc>
                  <a:txBody>
                    <a:bodyPr wrap="square"/>
                    <a:lstStyle/>
                    <a:p>
                      <a:r>
                        <a:rPr sz="1100" b="1">
                          <a:solidFill>
                            <a:srgbClr val="14213D"/>
                          </a:solidFill>
                          <a:latin typeface="Calibri"/>
                        </a:rPr>
                        <a:t>Verificación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CP037–CP038 (Plan de Pruebas) · CC07 (Conformidad, IGV y Ley N.° 29571): cumple en Chrome y Edge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Rounded Rectangle 27"/>
          <p:cNvSpPr/>
          <p:nvPr/>
        </p:nvSpPr>
        <p:spPr>
          <a:xfrm>
            <a:off x="548640" y="3931920"/>
            <a:ext cx="68580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3931920"/>
            <a:ext cx="6583680" cy="411480"/>
          </a:xfrm>
          <a:prstGeom prst="rect">
            <a:avLst/>
          </a:prstGeom>
          <a:noFill/>
        </p:spPr>
        <p:txBody>
          <a:bodyPr wrap="square" lIns="0" rIns="0" tIns="0" bIns="0" anchor="ctr">
            <a:spAutoFit/>
          </a:bodyPr>
          <a:lstStyle/>
          <a:p>
            <a:pPr algn="l"/>
            <a:r>
              <a:rPr sz="1200" b="1">
                <a:solidFill>
                  <a:srgbClr val="5C4400"/>
                </a:solidFill>
                <a:latin typeface="Calibri"/>
              </a:rPr>
              <a:t>Regla: </a:t>
            </a:r>
            <a:r>
              <a:rPr sz="1200" b="0">
                <a:solidFill>
                  <a:srgbClr val="5C4400"/>
                </a:solidFill>
                <a:latin typeface="Calibri"/>
              </a:rPr>
              <a:t>IGV incluido = Total − Total / 1.18 → con S/ 398.00 el IGV es S/ 60.71.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Ejemplo de HU: HU20 iniciar sesión</a:t>
            </a:r>
          </a:p>
        </p:txBody>
      </p:sp>
      <p:graphicFrame>
        <p:nvGraphicFramePr>
          <p:cNvPr id="27" name="Table 26"/>
          <p:cNvGraphicFramePr>
            <a:graphicFrameLocks noGrp="1"/>
          </p:cNvGraphicFramePr>
          <p:nvPr/>
        </p:nvGraphicFramePr>
        <p:xfrm>
          <a:off x="548640" y="914400"/>
          <a:ext cx="8046720" cy="2688336"/>
        </p:xfrm>
        <a:graphic>
          <a:graphicData uri="http://schemas.openxmlformats.org/drawingml/2006/table">
            <a:tbl>
              <a:tblPr firstRow="0" bandRow="0"/>
              <a:tblGrid>
                <a:gridCol w="1188720"/>
                <a:gridCol w="6858000"/>
              </a:tblGrid>
              <a:tr h="384048">
                <a:tc>
                  <a:txBody>
                    <a:bodyPr wrap="square"/>
                    <a:lstStyle/>
                    <a:p>
                      <a:r>
                        <a:rPr sz="1100" b="1">
                          <a:solidFill>
                            <a:srgbClr val="14213D"/>
                          </a:solidFill>
                          <a:latin typeface="Calibri"/>
                        </a:rPr>
                        <a:t>Historia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Como cliente registrado, quiero iniciar sesión con mi correo y contraseña, para acceder a mis datos, favoritos y realizar compras.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Datos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R6 · EP03 – Cuenta y seguridad · Must · 3 puntos · login.html</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CA1</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cliente ingresa demo@techstore.pe / Demo@1234, </a:t>
                      </a:r>
                      <a:r>
                        <a:rPr sz="1100" b="1">
                          <a:solidFill>
                            <a:srgbClr val="4A5568"/>
                          </a:solidFill>
                          <a:latin typeface="Calibri"/>
                        </a:rPr>
                        <a:t>cuando </a:t>
                      </a:r>
                      <a:r>
                        <a:rPr sz="1100" b="0">
                          <a:solidFill>
                            <a:srgbClr val="4A5568"/>
                          </a:solidFill>
                          <a:latin typeface="Calibri"/>
                        </a:rPr>
                        <a:t>presiona "Ingresar", </a:t>
                      </a:r>
                      <a:r>
                        <a:rPr sz="1100" b="1">
                          <a:solidFill>
                            <a:srgbClr val="4A5568"/>
                          </a:solidFill>
                          <a:latin typeface="Calibri"/>
                        </a:rPr>
                        <a:t>entonces </a:t>
                      </a:r>
                      <a:r>
                        <a:rPr sz="1100" b="0">
                          <a:solidFill>
                            <a:srgbClr val="4A5568"/>
                          </a:solidFill>
                          <a:latin typeface="Calibri"/>
                        </a:rPr>
                        <a:t>inicia sesión y el encabezado muestra "Hola, Cliente".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cliente ingresa una contraseña incorrecta, </a:t>
                      </a:r>
                      <a:r>
                        <a:rPr sz="1100" b="1">
                          <a:solidFill>
                            <a:srgbClr val="4A5568"/>
                          </a:solidFill>
                          <a:latin typeface="Calibri"/>
                        </a:rPr>
                        <a:t>cuando </a:t>
                      </a:r>
                      <a:r>
                        <a:rPr sz="1100" b="0">
                          <a:solidFill>
                            <a:srgbClr val="4A5568"/>
                          </a:solidFill>
                          <a:latin typeface="Calibri"/>
                        </a:rPr>
                        <a:t>presiona "Ingresar", </a:t>
                      </a:r>
                      <a:r>
                        <a:rPr sz="1100" b="1">
                          <a:solidFill>
                            <a:srgbClr val="4A5568"/>
                          </a:solidFill>
                          <a:latin typeface="Calibri"/>
                        </a:rPr>
                        <a:t>entonces </a:t>
                      </a:r>
                      <a:r>
                        <a:rPr sz="1100" b="0">
                          <a:solidFill>
                            <a:srgbClr val="4A5568"/>
                          </a:solidFill>
                          <a:latin typeface="Calibri"/>
                        </a:rPr>
                        <a:t>se muestra "Correo o contraseña incorrectos. Intentos restantes: 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cliente falla 5 veces seguidas, </a:t>
                      </a:r>
                      <a:r>
                        <a:rPr sz="1100" b="1">
                          <a:solidFill>
                            <a:srgbClr val="4A5568"/>
                          </a:solidFill>
                          <a:latin typeface="Calibri"/>
                        </a:rPr>
                        <a:t>cuando </a:t>
                      </a:r>
                      <a:r>
                        <a:rPr sz="1100" b="0">
                          <a:solidFill>
                            <a:srgbClr val="4A5568"/>
                          </a:solidFill>
                          <a:latin typeface="Calibri"/>
                        </a:rPr>
                        <a:t>intenta ingresar de nuevo con la contraseña correcta, </a:t>
                      </a:r>
                      <a:r>
                        <a:rPr sz="1100" b="1">
                          <a:solidFill>
                            <a:srgbClr val="4A5568"/>
                          </a:solidFill>
                          <a:latin typeface="Calibri"/>
                        </a:rPr>
                        <a:t>entonces </a:t>
                      </a:r>
                      <a:r>
                        <a:rPr sz="1100" b="0">
                          <a:solidFill>
                            <a:srgbClr val="4A5568"/>
                          </a:solidFill>
                          <a:latin typeface="Calibri"/>
                        </a:rPr>
                        <a:t>se muestra que la cuenta está bloqueada temporalmente.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CA4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1">
                          <a:solidFill>
                            <a:srgbClr val="4A5568"/>
                          </a:solidFill>
                          <a:latin typeface="Calibri"/>
                        </a:rPr>
                        <a:t>Dado </a:t>
                      </a:r>
                      <a:r>
                        <a:rPr sz="1100" b="0">
                          <a:solidFill>
                            <a:srgbClr val="4A5568"/>
                          </a:solidFill>
                          <a:latin typeface="Calibri"/>
                        </a:rPr>
                        <a:t>que el visitante fue enviado al login desde el checkout, </a:t>
                      </a:r>
                      <a:r>
                        <a:rPr sz="1100" b="1">
                          <a:solidFill>
                            <a:srgbClr val="4A5568"/>
                          </a:solidFill>
                          <a:latin typeface="Calibri"/>
                        </a:rPr>
                        <a:t>cuando </a:t>
                      </a:r>
                      <a:r>
                        <a:rPr sz="1100" b="0">
                          <a:solidFill>
                            <a:srgbClr val="4A5568"/>
                          </a:solidFill>
                          <a:latin typeface="Calibri"/>
                        </a:rPr>
                        <a:t>inicia sesión correctamente, </a:t>
                      </a:r>
                      <a:r>
                        <a:rPr sz="1100" b="1">
                          <a:solidFill>
                            <a:srgbClr val="4A5568"/>
                          </a:solidFill>
                          <a:latin typeface="Calibri"/>
                        </a:rPr>
                        <a:t>entonces </a:t>
                      </a:r>
                      <a:r>
                        <a:rPr sz="1100" b="0">
                          <a:solidFill>
                            <a:srgbClr val="4A5568"/>
                          </a:solidFill>
                          <a:latin typeface="Calibri"/>
                        </a:rPr>
                        <a:t>regresa automáticamente al checkout.</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384048">
                <a:tc>
                  <a:txBody>
                    <a:bodyPr wrap="square"/>
                    <a:lstStyle/>
                    <a:p>
                      <a:r>
                        <a:rPr sz="1100" b="1">
                          <a:solidFill>
                            <a:srgbClr val="14213D"/>
                          </a:solidFill>
                          <a:latin typeface="Calibri"/>
                        </a:rPr>
                        <a:t>Verificación</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EEF2F7"/>
                    </a:solidFill>
                  </a:tcPr>
                </a:tc>
                <a:tc>
                  <a:txBody>
                    <a:bodyPr wrap="square"/>
                    <a:lstStyle/>
                    <a:p>
                      <a:r>
                        <a:rPr sz="1100" b="0">
                          <a:solidFill>
                            <a:srgbClr val="4A5568"/>
                          </a:solidFill>
                          <a:latin typeface="Calibri"/>
                        </a:rPr>
                        <a:t>CP053–CP056 (Plan de Pruebas) · CC01 y CC02 (Conformidad, ISO/IEC 25010): cumplen en Chrome y Edge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bl>
          </a:graphicData>
        </a:graphic>
      </p:graphicFrame>
      <p:sp>
        <p:nvSpPr>
          <p:cNvPr id="28" name="Rounded Rectangle 27"/>
          <p:cNvSpPr/>
          <p:nvPr/>
        </p:nvSpPr>
        <p:spPr>
          <a:xfrm>
            <a:off x="548640" y="3931920"/>
            <a:ext cx="68580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3931920"/>
            <a:ext cx="6583680" cy="411480"/>
          </a:xfrm>
          <a:prstGeom prst="rect">
            <a:avLst/>
          </a:prstGeom>
          <a:noFill/>
        </p:spPr>
        <p:txBody>
          <a:bodyPr wrap="square" lIns="0" rIns="0" tIns="0" bIns="0" anchor="ctr">
            <a:spAutoFit/>
          </a:bodyPr>
          <a:lstStyle/>
          <a:p>
            <a:pPr algn="l"/>
            <a:r>
              <a:rPr sz="1200" b="1">
                <a:solidFill>
                  <a:srgbClr val="5C4400"/>
                </a:solidFill>
                <a:latin typeface="Calibri"/>
              </a:rPr>
              <a:t>CA3 = caso CP055: </a:t>
            </a:r>
            <a:r>
              <a:rPr sz="1200" b="0">
                <a:solidFill>
                  <a:srgbClr val="5C4400"/>
                </a:solidFill>
                <a:latin typeface="Calibri"/>
              </a:rPr>
              <a:t>el bloqueo dura 5 minutos y se verificó también en CC02.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737360"/>
            <a:ext cx="5486400" cy="548640"/>
          </a:xfrm>
          <a:prstGeom prst="rect">
            <a:avLst/>
          </a:prstGeom>
          <a:noFill/>
          <a:ln/>
        </p:spPr>
        <p:txBody>
          <a:bodyPr wrap="square" lIns="0" tIns="0" rIns="0" bIns="0" rtlCol="0" anchor="ctr"/>
          <a:lstStyle/>
          <a:p>
            <a:pPr marL="0" indent="0">
              <a:buNone/>
            </a:pPr>
            <a:r>
              <a:rPr lang="en-US" sz="2400" b="1" kern="0" spc="300" dirty="0">
                <a:solidFill>
                  <a:srgbClr val="FCA311"/>
                </a:solidFill>
                <a:latin typeface="Calibri" pitchFamily="34" charset="0"/>
                <a:ea typeface="Calibri" pitchFamily="34" charset="-122"/>
                <a:cs typeface="Calibri" pitchFamily="34" charset="-120"/>
              </a:rPr>
              <a:t>PARTE III</a:t>
            </a:r>
            <a:endParaRPr lang="en-US" sz="2400" dirty="0"/>
          </a:p>
        </p:txBody>
      </p:sp>
      <p:sp>
        <p:nvSpPr>
          <p:cNvPr id="3" name="Text 1"/>
          <p:cNvSpPr txBox="1"/>
          <p:nvPr/>
        </p:nvSpPr>
        <p:spPr>
          <a:xfrm>
            <a:off x="731520" y="2423160"/>
            <a:ext cx="768096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Plan de Pruebas</a:t>
            </a:r>
            <a:endParaRPr lang="en-US" sz="3600" dirty="0"/>
          </a:p>
        </p:txBody>
      </p:sp>
      <p:sp>
        <p:nvSpPr>
          <p:cNvPr id="4" name="Text 2"/>
          <p:cNvSpPr txBox="1"/>
          <p:nvPr/>
        </p:nvSpPr>
        <p:spPr>
          <a:xfrm>
            <a:off x="731520" y="3154680"/>
            <a:ext cx="7680960" cy="45720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Alcance, estrategia, casos de prueba, criterios y riesgos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Alcance y estrategia por niveles</a:t>
            </a:r>
            <a:endParaRPr lang="en-US" sz="2600" dirty="0"/>
          </a:p>
        </p:txBody>
      </p:sp>
      <p:sp>
        <p:nvSpPr>
          <p:cNvPr id="3" name="Shape 1"/>
          <p:cNvSpPr/>
          <p:nvPr/>
        </p:nvSpPr>
        <p:spPr>
          <a:xfrm>
            <a:off x="457200" y="1115568"/>
            <a:ext cx="457200" cy="457200"/>
          </a:xfrm>
          <a:prstGeom prst="ellipse">
            <a:avLst/>
          </a:prstGeom>
          <a:solidFill>
            <a:srgbClr val="14213D"/>
          </a:solidFill>
          <a:ln w="12700">
            <a:solidFill>
              <a:srgbClr val="14213D"/>
            </a:solidFill>
            <a:prstDash val="solid"/>
          </a:ln>
        </p:spPr>
        <p:txBody>
          <a:bodyPr/>
          <a:lstStyle/>
          <a:p>
            <a:endParaRPr lang="es-PE"/>
          </a:p>
        </p:txBody>
      </p:sp>
      <p:sp>
        <p:nvSpPr>
          <p:cNvPr id="4" name="Text 2"/>
          <p:cNvSpPr txBox="1"/>
          <p:nvPr/>
        </p:nvSpPr>
        <p:spPr>
          <a:xfrm>
            <a:off x="457200" y="11155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051560" y="10515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Unitarias</a:t>
            </a:r>
            <a:endParaRPr lang="en-US" sz="1500" dirty="0"/>
          </a:p>
        </p:txBody>
      </p:sp>
      <p:sp>
        <p:nvSpPr>
          <p:cNvPr id="6" name="Text 4"/>
          <p:cNvSpPr txBox="1"/>
          <p:nvPr/>
        </p:nvSpPr>
        <p:spPr>
          <a:xfrm>
            <a:off x="2743200" y="10515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tests.html · Desarrollador</a:t>
            </a:r>
            <a:endParaRPr lang="en-US" sz="1000" dirty="0"/>
          </a:p>
        </p:txBody>
      </p:sp>
      <p:sp>
        <p:nvSpPr>
          <p:cNvPr id="7" name="Text 5"/>
          <p:cNvSpPr txBox="1"/>
          <p:nvPr/>
        </p:nvSpPr>
        <p:spPr>
          <a:xfrm>
            <a:off x="1051560" y="13441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Lógica de cada tarea: p. ej. el 10 % del cupón de T4</a:t>
            </a:r>
            <a:endParaRPr lang="en-US" sz="1200" dirty="0"/>
          </a:p>
        </p:txBody>
      </p:sp>
      <p:sp>
        <p:nvSpPr>
          <p:cNvPr id="8" name="Shape 6"/>
          <p:cNvSpPr/>
          <p:nvPr/>
        </p:nvSpPr>
        <p:spPr>
          <a:xfrm>
            <a:off x="457200" y="1801368"/>
            <a:ext cx="457200" cy="457200"/>
          </a:xfrm>
          <a:prstGeom prst="ellipse">
            <a:avLst/>
          </a:prstGeom>
          <a:solidFill>
            <a:srgbClr val="14213D"/>
          </a:solidFill>
          <a:ln w="12700">
            <a:solidFill>
              <a:srgbClr val="14213D"/>
            </a:solidFill>
            <a:prstDash val="solid"/>
          </a:ln>
        </p:spPr>
        <p:txBody>
          <a:bodyPr/>
          <a:lstStyle/>
          <a:p>
            <a:endParaRPr lang="es-PE"/>
          </a:p>
        </p:txBody>
      </p:sp>
      <p:sp>
        <p:nvSpPr>
          <p:cNvPr id="9" name="Text 7"/>
          <p:cNvSpPr txBox="1"/>
          <p:nvPr/>
        </p:nvSpPr>
        <p:spPr>
          <a:xfrm>
            <a:off x="457200" y="18013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51560" y="17373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Integración</a:t>
            </a:r>
            <a:endParaRPr lang="en-US" sz="1500" dirty="0"/>
          </a:p>
        </p:txBody>
      </p:sp>
      <p:sp>
        <p:nvSpPr>
          <p:cNvPr id="11" name="Text 9"/>
          <p:cNvSpPr txBox="1"/>
          <p:nvPr/>
        </p:nvSpPr>
        <p:spPr>
          <a:xfrm>
            <a:off x="2743200" y="17373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tests.html y manual · Dev + QA</a:t>
            </a:r>
            <a:endParaRPr lang="en-US" sz="1000" dirty="0"/>
          </a:p>
        </p:txBody>
      </p:sp>
      <p:sp>
        <p:nvSpPr>
          <p:cNvPr id="12" name="Text 10"/>
          <p:cNvSpPr txBox="1"/>
          <p:nvPr/>
        </p:nvSpPr>
        <p:spPr>
          <a:xfrm>
            <a:off x="1051560" y="20299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Lo que une T3 → T4 → T5: carrito, cupón y pedido</a:t>
            </a:r>
            <a:endParaRPr lang="en-US" sz="1200" dirty="0"/>
          </a:p>
        </p:txBody>
      </p:sp>
      <p:sp>
        <p:nvSpPr>
          <p:cNvPr id="13" name="Shape 11"/>
          <p:cNvSpPr/>
          <p:nvPr/>
        </p:nvSpPr>
        <p:spPr>
          <a:xfrm>
            <a:off x="457200" y="2487168"/>
            <a:ext cx="457200" cy="457200"/>
          </a:xfrm>
          <a:prstGeom prst="ellipse">
            <a:avLst/>
          </a:prstGeom>
          <a:solidFill>
            <a:srgbClr val="14213D"/>
          </a:solidFill>
          <a:ln w="12700">
            <a:solidFill>
              <a:srgbClr val="14213D"/>
            </a:solidFill>
            <a:prstDash val="solid"/>
          </a:ln>
        </p:spPr>
        <p:txBody>
          <a:bodyPr/>
          <a:lstStyle/>
          <a:p>
            <a:endParaRPr lang="es-PE"/>
          </a:p>
        </p:txBody>
      </p:sp>
      <p:sp>
        <p:nvSpPr>
          <p:cNvPr id="14" name="Text 12"/>
          <p:cNvSpPr txBox="1"/>
          <p:nvPr/>
        </p:nvSpPr>
        <p:spPr>
          <a:xfrm>
            <a:off x="457200" y="24871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1051560" y="24231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Sistema</a:t>
            </a:r>
            <a:endParaRPr lang="en-US" sz="1500" dirty="0"/>
          </a:p>
        </p:txBody>
      </p:sp>
      <p:sp>
        <p:nvSpPr>
          <p:cNvPr id="16" name="Text 14"/>
          <p:cNvSpPr txBox="1"/>
          <p:nvPr/>
        </p:nvSpPr>
        <p:spPr>
          <a:xfrm>
            <a:off x="2743200" y="24231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Navegador, DevTools, Lighthouse · QA</a:t>
            </a:r>
            <a:endParaRPr lang="en-US" sz="1000" dirty="0"/>
          </a:p>
        </p:txBody>
      </p:sp>
      <p:sp>
        <p:nvSpPr>
          <p:cNvPr id="17" name="Text 15"/>
          <p:cNvSpPr txBox="1"/>
          <p:nvPr/>
        </p:nvSpPr>
        <p:spPr>
          <a:xfrm>
            <a:off x="1051560" y="27157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96 casos que recorren esos flujos en el navegador</a:t>
            </a:r>
            <a:endParaRPr lang="en-US" sz="1200" dirty="0"/>
          </a:p>
        </p:txBody>
      </p:sp>
      <p:sp>
        <p:nvSpPr>
          <p:cNvPr id="18" name="Shape 16"/>
          <p:cNvSpPr/>
          <p:nvPr/>
        </p:nvSpPr>
        <p:spPr>
          <a:xfrm>
            <a:off x="457200" y="3172968"/>
            <a:ext cx="457200" cy="457200"/>
          </a:xfrm>
          <a:prstGeom prst="ellipse">
            <a:avLst/>
          </a:prstGeom>
          <a:solidFill>
            <a:srgbClr val="14213D"/>
          </a:solidFill>
          <a:ln w="12700">
            <a:solidFill>
              <a:srgbClr val="14213D"/>
            </a:solidFill>
            <a:prstDash val="solid"/>
          </a:ln>
        </p:spPr>
        <p:txBody>
          <a:bodyPr/>
          <a:lstStyle/>
          <a:p>
            <a:endParaRPr lang="es-PE"/>
          </a:p>
        </p:txBody>
      </p:sp>
      <p:sp>
        <p:nvSpPr>
          <p:cNvPr id="19" name="Text 17"/>
          <p:cNvSpPr txBox="1"/>
          <p:nvPr/>
        </p:nvSpPr>
        <p:spPr>
          <a:xfrm>
            <a:off x="457200" y="3172968"/>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051560" y="3108960"/>
            <a:ext cx="1828800" cy="292608"/>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Aceptación (UAT)</a:t>
            </a:r>
            <a:endParaRPr lang="en-US" sz="1500" dirty="0"/>
          </a:p>
        </p:txBody>
      </p:sp>
      <p:sp>
        <p:nvSpPr>
          <p:cNvPr id="21" name="Text 19"/>
          <p:cNvSpPr txBox="1"/>
          <p:nvPr/>
        </p:nvSpPr>
        <p:spPr>
          <a:xfrm>
            <a:off x="2743200" y="3108960"/>
            <a:ext cx="2514600" cy="292608"/>
          </a:xfrm>
          <a:prstGeom prst="rect">
            <a:avLst/>
          </a:prstGeom>
          <a:noFill/>
          <a:ln/>
        </p:spPr>
        <p:txBody>
          <a:bodyPr wrap="square" lIns="0" tIns="0" rIns="0" bIns="0" rtlCol="0" anchor="ctr"/>
          <a:lstStyle/>
          <a:p>
            <a:pPr marL="0" indent="0" algn="r">
              <a:buNone/>
            </a:pPr>
            <a:r>
              <a:rPr lang="en-US" sz="1000" dirty="0">
                <a:solidFill>
                  <a:srgbClr val="8A94A6"/>
                </a:solidFill>
                <a:latin typeface="Calibri" pitchFamily="34" charset="0"/>
                <a:ea typeface="Calibri" pitchFamily="34" charset="-122"/>
                <a:cs typeface="Calibri" pitchFamily="34" charset="-120"/>
              </a:rPr>
              <a:t>Prueba propia + SUS · Usuarios</a:t>
            </a:r>
            <a:endParaRPr lang="en-US" sz="1000" dirty="0"/>
          </a:p>
        </p:txBody>
      </p:sp>
      <p:sp>
        <p:nvSpPr>
          <p:cNvPr id="22" name="Text 20"/>
          <p:cNvSpPr txBox="1"/>
          <p:nvPr/>
        </p:nvSpPr>
        <p:spPr>
          <a:xfrm>
            <a:off x="1051560" y="3401568"/>
            <a:ext cx="4206240" cy="27432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Personas reales hacen T1–T5 sin ayuda</a:t>
            </a:r>
            <a:endParaRPr lang="en-US" sz="1200" dirty="0"/>
          </a:p>
        </p:txBody>
      </p:sp>
      <p:sp>
        <p:nvSpPr>
          <p:cNvPr id="23" name="Shape 21"/>
          <p:cNvSpPr/>
          <p:nvPr/>
        </p:nvSpPr>
        <p:spPr>
          <a:xfrm>
            <a:off x="5486400" y="1051560"/>
            <a:ext cx="3200400" cy="1600200"/>
          </a:xfrm>
          <a:prstGeom prst="roundRect">
            <a:avLst>
              <a:gd name="adj" fmla="val 4571"/>
            </a:avLst>
          </a:prstGeom>
          <a:solidFill>
            <a:srgbClr val="E6F4EA"/>
          </a:solidFill>
          <a:ln w="12700">
            <a:solidFill>
              <a:srgbClr val="E6F4EA"/>
            </a:solidFill>
            <a:prstDash val="solid"/>
          </a:ln>
        </p:spPr>
        <p:txBody>
          <a:bodyPr/>
          <a:lstStyle/>
          <a:p>
            <a:endParaRPr lang="es-PE"/>
          </a:p>
        </p:txBody>
      </p:sp>
      <p:sp>
        <p:nvSpPr>
          <p:cNvPr id="24" name="Text 22"/>
          <p:cNvSpPr txBox="1"/>
          <p:nvPr/>
        </p:nvSpPr>
        <p:spPr>
          <a:xfrm>
            <a:off x="5669280" y="1143000"/>
            <a:ext cx="2834640" cy="320040"/>
          </a:xfrm>
          <a:prstGeom prst="rect">
            <a:avLst/>
          </a:prstGeom>
          <a:noFill/>
          <a:ln/>
        </p:spPr>
        <p:txBody>
          <a:bodyPr wrap="square" lIns="0" tIns="0" rIns="0" bIns="0" rtlCol="0" anchor="ctr"/>
          <a:lstStyle/>
          <a:p>
            <a:pPr marL="0" indent="0">
              <a:buNone/>
            </a:pPr>
            <a:r>
              <a:rPr lang="en-US" sz="1500" b="1" dirty="0">
                <a:solidFill>
                  <a:srgbClr val="2E7D32"/>
                </a:solidFill>
                <a:latin typeface="Calibri" pitchFamily="34" charset="0"/>
                <a:ea typeface="Calibri" pitchFamily="34" charset="-122"/>
                <a:cs typeface="Calibri" pitchFamily="34" charset="-120"/>
              </a:rPr>
              <a:t>Incluye</a:t>
            </a:r>
            <a:endParaRPr lang="en-US" sz="1500" dirty="0"/>
          </a:p>
        </p:txBody>
      </p:sp>
      <p:sp>
        <p:nvSpPr>
          <p:cNvPr id="25" name="Text 23"/>
          <p:cNvSpPr txBox="1"/>
          <p:nvPr/>
        </p:nvSpPr>
        <p:spPr>
          <a:xfrm>
            <a:off x="5669280" y="1463040"/>
            <a:ext cx="2834640" cy="109728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30 RF de las 5 épicas</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9 RNF (12 casos)</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Regresión de 53 pruebas unitarias</a:t>
            </a:r>
            <a:endParaRPr lang="en-US" sz="1200" dirty="0"/>
          </a:p>
        </p:txBody>
      </p:sp>
      <p:sp>
        <p:nvSpPr>
          <p:cNvPr id="26" name="Shape 24"/>
          <p:cNvSpPr/>
          <p:nvPr/>
        </p:nvSpPr>
        <p:spPr>
          <a:xfrm>
            <a:off x="5486400" y="2788920"/>
            <a:ext cx="3200400" cy="1600200"/>
          </a:xfrm>
          <a:prstGeom prst="roundRect">
            <a:avLst>
              <a:gd name="adj" fmla="val 4571"/>
            </a:avLst>
          </a:prstGeom>
          <a:solidFill>
            <a:srgbClr val="FDE7E7"/>
          </a:solidFill>
          <a:ln w="12700">
            <a:solidFill>
              <a:srgbClr val="FDE7E7"/>
            </a:solidFill>
            <a:prstDash val="solid"/>
          </a:ln>
        </p:spPr>
        <p:txBody>
          <a:bodyPr/>
          <a:lstStyle/>
          <a:p>
            <a:endParaRPr lang="es-PE"/>
          </a:p>
        </p:txBody>
      </p:sp>
      <p:sp>
        <p:nvSpPr>
          <p:cNvPr id="27" name="Text 25"/>
          <p:cNvSpPr txBox="1"/>
          <p:nvPr/>
        </p:nvSpPr>
        <p:spPr>
          <a:xfrm>
            <a:off x="5669280" y="2880360"/>
            <a:ext cx="2834640" cy="320040"/>
          </a:xfrm>
          <a:prstGeom prst="rect">
            <a:avLst/>
          </a:prstGeom>
          <a:noFill/>
          <a:ln/>
        </p:spPr>
        <p:txBody>
          <a:bodyPr wrap="square" lIns="0" tIns="0" rIns="0" bIns="0" rtlCol="0" anchor="ctr"/>
          <a:lstStyle/>
          <a:p>
            <a:pPr marL="0" indent="0">
              <a:buNone/>
            </a:pPr>
            <a:r>
              <a:rPr lang="en-US" sz="1500" b="1" dirty="0">
                <a:solidFill>
                  <a:srgbClr val="B42318"/>
                </a:solidFill>
                <a:latin typeface="Calibri" pitchFamily="34" charset="0"/>
                <a:ea typeface="Calibri" pitchFamily="34" charset="-122"/>
                <a:cs typeface="Calibri" pitchFamily="34" charset="-120"/>
              </a:rPr>
              <a:t>No incluye</a:t>
            </a:r>
            <a:endParaRPr lang="en-US" sz="1500" dirty="0"/>
          </a:p>
        </p:txBody>
      </p:sp>
      <p:sp>
        <p:nvSpPr>
          <p:cNvPr id="28" name="Text 26"/>
          <p:cNvSpPr txBox="1"/>
          <p:nvPr/>
        </p:nvSpPr>
        <p:spPr>
          <a:xfrm>
            <a:off x="5669280" y="3200400"/>
            <a:ext cx="2834640" cy="109728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Pasarela de pago real</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Servidor o base de datos</a:t>
            </a:r>
            <a:endParaRPr lang="en-US" sz="1200" dirty="0"/>
          </a:p>
          <a:p>
            <a:pPr marL="152400" indent="-152400">
              <a:spcAft>
                <a:spcPts val="400"/>
              </a:spcAft>
              <a:buSzPct val="100000"/>
              <a:buChar char="•"/>
            </a:pPr>
            <a:r>
              <a:rPr lang="en-US" sz="1200" dirty="0">
                <a:solidFill>
                  <a:srgbClr val="4A5568"/>
                </a:solidFill>
                <a:latin typeface="Calibri" pitchFamily="34" charset="0"/>
                <a:ea typeface="Calibri" pitchFamily="34" charset="-122"/>
                <a:cs typeface="Calibri" pitchFamily="34" charset="-120"/>
              </a:rPr>
              <a:t>Carga y estrés (no hay servidor)</a:t>
            </a:r>
            <a:endParaRPr lang="en-US" sz="1200" dirty="0"/>
          </a:p>
        </p:txBody>
      </p:sp>
      <p:sp>
        <p:nvSpPr>
          <p:cNvPr id="2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Prueba con usuarios: 5 tareas reales</a:t>
            </a:r>
            <a:endParaRPr lang="en-US" sz="2600" dirty="0"/>
          </a:p>
        </p:txBody>
      </p:sp>
      <p:sp>
        <p:nvSpPr>
          <p:cNvPr id="3" name="Shape 1"/>
          <p:cNvSpPr/>
          <p:nvPr/>
        </p:nvSpPr>
        <p:spPr>
          <a:xfrm>
            <a:off x="457200" y="1005840"/>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4" name="Text 2"/>
          <p:cNvSpPr txBox="1"/>
          <p:nvPr/>
        </p:nvSpPr>
        <p:spPr>
          <a:xfrm>
            <a:off x="594360" y="1005840"/>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T1 · Buscar</a:t>
            </a:r>
            <a:endParaRPr lang="en-US" sz="1200" dirty="0"/>
          </a:p>
        </p:txBody>
      </p:sp>
      <p:sp>
        <p:nvSpPr>
          <p:cNvPr id="5" name="Text 3"/>
          <p:cNvSpPr txBox="1"/>
          <p:nvPr/>
        </p:nvSpPr>
        <p:spPr>
          <a:xfrm>
            <a:off x="2697480" y="1005840"/>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Busca los audífonos Sony WH-1000XM5 y abre su detalle</a:t>
            </a:r>
            <a:endParaRPr lang="en-US" sz="1100" dirty="0"/>
          </a:p>
        </p:txBody>
      </p:sp>
      <p:sp>
        <p:nvSpPr>
          <p:cNvPr id="6" name="Text 4"/>
          <p:cNvSpPr txBox="1"/>
          <p:nvPr/>
        </p:nvSpPr>
        <p:spPr>
          <a:xfrm>
            <a:off x="5120640" y="1005840"/>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HU02, HU06</a:t>
            </a:r>
            <a:endParaRPr lang="en-US" sz="1100" dirty="0"/>
          </a:p>
        </p:txBody>
      </p:sp>
      <p:sp>
        <p:nvSpPr>
          <p:cNvPr id="7" name="Shape 5"/>
          <p:cNvSpPr/>
          <p:nvPr/>
        </p:nvSpPr>
        <p:spPr>
          <a:xfrm>
            <a:off x="457200" y="1609344"/>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8" name="Text 6"/>
          <p:cNvSpPr txBox="1"/>
          <p:nvPr/>
        </p:nvSpPr>
        <p:spPr>
          <a:xfrm>
            <a:off x="594360" y="1609344"/>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T2 · Filtrar</a:t>
            </a:r>
            <a:endParaRPr lang="en-US" sz="1200" dirty="0"/>
          </a:p>
        </p:txBody>
      </p:sp>
      <p:sp>
        <p:nvSpPr>
          <p:cNvPr id="9" name="Text 7"/>
          <p:cNvSpPr txBox="1"/>
          <p:nvPr/>
        </p:nvSpPr>
        <p:spPr>
          <a:xfrm>
            <a:off x="2697480" y="1609344"/>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Encuentra el celular más barato y abre su detalle</a:t>
            </a:r>
            <a:endParaRPr lang="en-US" sz="1100" dirty="0"/>
          </a:p>
        </p:txBody>
      </p:sp>
      <p:sp>
        <p:nvSpPr>
          <p:cNvPr id="10" name="Text 8"/>
          <p:cNvSpPr txBox="1"/>
          <p:nvPr/>
        </p:nvSpPr>
        <p:spPr>
          <a:xfrm>
            <a:off x="5120640" y="1609344"/>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HU03–HU05</a:t>
            </a:r>
            <a:endParaRPr lang="en-US" sz="1100" dirty="0"/>
          </a:p>
        </p:txBody>
      </p:sp>
      <p:sp>
        <p:nvSpPr>
          <p:cNvPr id="11" name="Shape 9"/>
          <p:cNvSpPr/>
          <p:nvPr/>
        </p:nvSpPr>
        <p:spPr>
          <a:xfrm>
            <a:off x="457200" y="2212848"/>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12" name="Text 10"/>
          <p:cNvSpPr txBox="1"/>
          <p:nvPr/>
        </p:nvSpPr>
        <p:spPr>
          <a:xfrm>
            <a:off x="594360" y="2212848"/>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T3 · Agregar al carrito</a:t>
            </a:r>
            <a:endParaRPr lang="en-US" sz="1200" dirty="0"/>
          </a:p>
        </p:txBody>
      </p:sp>
      <p:sp>
        <p:nvSpPr>
          <p:cNvPr id="13" name="Text 11"/>
          <p:cNvSpPr txBox="1"/>
          <p:nvPr/>
        </p:nvSpPr>
        <p:spPr>
          <a:xfrm>
            <a:off x="2697480" y="2212848"/>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Agrega 2 unidades del parlante JBL Flip 6</a:t>
            </a:r>
            <a:endParaRPr lang="en-US" sz="1100" dirty="0"/>
          </a:p>
        </p:txBody>
      </p:sp>
      <p:sp>
        <p:nvSpPr>
          <p:cNvPr id="14" name="Text 12"/>
          <p:cNvSpPr txBox="1"/>
          <p:nvPr/>
        </p:nvSpPr>
        <p:spPr>
          <a:xfrm>
            <a:off x="5120640" y="2212848"/>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HU09, HU11</a:t>
            </a:r>
            <a:endParaRPr lang="en-US" sz="1100" dirty="0"/>
          </a:p>
        </p:txBody>
      </p:sp>
      <p:sp>
        <p:nvSpPr>
          <p:cNvPr id="15" name="Shape 13"/>
          <p:cNvSpPr/>
          <p:nvPr/>
        </p:nvSpPr>
        <p:spPr>
          <a:xfrm>
            <a:off x="457200" y="2816352"/>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16" name="Text 14"/>
          <p:cNvSpPr txBox="1"/>
          <p:nvPr/>
        </p:nvSpPr>
        <p:spPr>
          <a:xfrm>
            <a:off x="594360" y="2816352"/>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T4 · Aplicar cupón</a:t>
            </a:r>
            <a:endParaRPr lang="en-US" sz="1200" dirty="0"/>
          </a:p>
        </p:txBody>
      </p:sp>
      <p:sp>
        <p:nvSpPr>
          <p:cNvPr id="17" name="Text 15"/>
          <p:cNvSpPr txBox="1"/>
          <p:nvPr/>
        </p:nvSpPr>
        <p:spPr>
          <a:xfrm>
            <a:off x="2697480" y="2816352"/>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Aplica el cupón BIENVENIDO10 en tu carrito</a:t>
            </a:r>
            <a:endParaRPr lang="en-US" sz="1100" dirty="0"/>
          </a:p>
        </p:txBody>
      </p:sp>
      <p:sp>
        <p:nvSpPr>
          <p:cNvPr id="18" name="Text 16"/>
          <p:cNvSpPr txBox="1"/>
          <p:nvPr/>
        </p:nvSpPr>
        <p:spPr>
          <a:xfrm>
            <a:off x="5120640" y="2816352"/>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HU15</a:t>
            </a:r>
            <a:endParaRPr lang="en-US" sz="1100" dirty="0"/>
          </a:p>
        </p:txBody>
      </p:sp>
      <p:sp>
        <p:nvSpPr>
          <p:cNvPr id="19" name="Shape 17"/>
          <p:cNvSpPr/>
          <p:nvPr/>
        </p:nvSpPr>
        <p:spPr>
          <a:xfrm>
            <a:off x="457200" y="3419856"/>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20" name="Text 18"/>
          <p:cNvSpPr txBox="1"/>
          <p:nvPr/>
        </p:nvSpPr>
        <p:spPr>
          <a:xfrm>
            <a:off x="594360" y="3419856"/>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T5 · Comprar</a:t>
            </a:r>
            <a:endParaRPr lang="en-US" sz="1200" dirty="0"/>
          </a:p>
        </p:txBody>
      </p:sp>
      <p:sp>
        <p:nvSpPr>
          <p:cNvPr id="21" name="Text 19"/>
          <p:cNvSpPr txBox="1"/>
          <p:nvPr/>
        </p:nvSpPr>
        <p:spPr>
          <a:xfrm>
            <a:off x="2697480" y="3419856"/>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Compra con envío express y pago con tarjeta</a:t>
            </a:r>
            <a:endParaRPr lang="en-US" sz="1100" dirty="0"/>
          </a:p>
        </p:txBody>
      </p:sp>
      <p:sp>
        <p:nvSpPr>
          <p:cNvPr id="22" name="Text 20"/>
          <p:cNvSpPr txBox="1"/>
          <p:nvPr/>
        </p:nvSpPr>
        <p:spPr>
          <a:xfrm>
            <a:off x="5120640" y="3419856"/>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HU20, HU24–28</a:t>
            </a:r>
            <a:endParaRPr lang="en-US" sz="1100" dirty="0"/>
          </a:p>
        </p:txBody>
      </p:sp>
      <p:sp>
        <p:nvSpPr>
          <p:cNvPr id="23" name="Shape 21"/>
          <p:cNvSpPr/>
          <p:nvPr/>
        </p:nvSpPr>
        <p:spPr>
          <a:xfrm>
            <a:off x="6217920" y="1005840"/>
            <a:ext cx="2468880" cy="2926080"/>
          </a:xfrm>
          <a:prstGeom prst="roundRect">
            <a:avLst>
              <a:gd name="adj" fmla="val 2963"/>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400800" y="1097280"/>
            <a:ext cx="21031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Cómo se aplica</a:t>
            </a:r>
            <a:endParaRPr lang="en-US" sz="1600" dirty="0"/>
          </a:p>
        </p:txBody>
      </p:sp>
      <p:sp>
        <p:nvSpPr>
          <p:cNvPr id="25" name="Text 23"/>
          <p:cNvSpPr txBox="1"/>
          <p:nvPr/>
        </p:nvSpPr>
        <p:spPr>
          <a:xfrm>
            <a:off x="6400800" y="1508760"/>
            <a:ext cx="2148840" cy="233172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 5 participantes, cada uno en su dispositivo</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No moderada: nadie les explica cómo</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Consentimiento y sin datos personales</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La tienda detecta sola si lo lograron</a:t>
            </a:r>
            <a:endParaRPr lang="en-US" sz="12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Qué se mide en cada tarea</a:t>
            </a:r>
            <a:endParaRPr lang="en-US" sz="2600" dirty="0"/>
          </a:p>
        </p:txBody>
      </p:sp>
      <p:sp>
        <p:nvSpPr>
          <p:cNvPr id="3" name="Shape 1"/>
          <p:cNvSpPr/>
          <p:nvPr/>
        </p:nvSpPr>
        <p:spPr>
          <a:xfrm>
            <a:off x="45720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4" name="Shape 2"/>
          <p:cNvSpPr/>
          <p:nvPr/>
        </p:nvSpPr>
        <p:spPr>
          <a:xfrm>
            <a:off x="68580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5" name="Text 3"/>
          <p:cNvSpPr txBox="1"/>
          <p:nvPr/>
        </p:nvSpPr>
        <p:spPr>
          <a:xfrm>
            <a:off x="68580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Eficacia</a:t>
            </a:r>
            <a:endParaRPr lang="en-US" sz="1800" dirty="0"/>
          </a:p>
        </p:txBody>
      </p:sp>
      <p:sp>
        <p:nvSpPr>
          <p:cNvPr id="7" name="Text 5"/>
          <p:cNvSpPr txBox="1"/>
          <p:nvPr/>
        </p:nvSpPr>
        <p:spPr>
          <a:xfrm>
            <a:off x="68580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¿Lo logró? La tienda lo detecta sola: por ejemplo, en T5 debe existir un pedido express pagado con tarjeta. Meta: ≥ 80 % de tareas logradas.</a:t>
            </a:r>
            <a:endParaRPr lang="en-US" sz="1300" dirty="0"/>
          </a:p>
        </p:txBody>
      </p:sp>
      <p:sp>
        <p:nvSpPr>
          <p:cNvPr id="8" name="Shape 6"/>
          <p:cNvSpPr/>
          <p:nvPr/>
        </p:nvSpPr>
        <p:spPr>
          <a:xfrm>
            <a:off x="324612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9" name="Shape 7"/>
          <p:cNvSpPr/>
          <p:nvPr/>
        </p:nvSpPr>
        <p:spPr>
          <a:xfrm>
            <a:off x="347472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0" name="Text 8"/>
          <p:cNvSpPr txBox="1"/>
          <p:nvPr/>
        </p:nvSpPr>
        <p:spPr>
          <a:xfrm>
            <a:off x="347472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411480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Eficiencia</a:t>
            </a:r>
            <a:endParaRPr lang="en-US" sz="1800" dirty="0"/>
          </a:p>
        </p:txBody>
      </p:sp>
      <p:sp>
        <p:nvSpPr>
          <p:cNvPr id="12" name="Text 10"/>
          <p:cNvSpPr txBox="1"/>
          <p:nvPr/>
        </p:nvSpPr>
        <p:spPr>
          <a:xfrm>
            <a:off x="347472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Tiempo por tarea, clics, clics errados (fuera de botones o enlaces) y páginas recorridas: muestran dónde la interfaz confunde.</a:t>
            </a:r>
            <a:endParaRPr lang="en-US" sz="1300" dirty="0"/>
          </a:p>
        </p:txBody>
      </p:sp>
      <p:sp>
        <p:nvSpPr>
          <p:cNvPr id="13" name="Shape 11"/>
          <p:cNvSpPr/>
          <p:nvPr/>
        </p:nvSpPr>
        <p:spPr>
          <a:xfrm>
            <a:off x="603504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14" name="Shape 12"/>
          <p:cNvSpPr/>
          <p:nvPr/>
        </p:nvSpPr>
        <p:spPr>
          <a:xfrm>
            <a:off x="626364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5" name="Text 13"/>
          <p:cNvSpPr txBox="1"/>
          <p:nvPr/>
        </p:nvSpPr>
        <p:spPr>
          <a:xfrm>
            <a:off x="626364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90372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Satisfacción</a:t>
            </a:r>
            <a:endParaRPr lang="en-US" sz="1800" dirty="0"/>
          </a:p>
        </p:txBody>
      </p:sp>
      <p:sp>
        <p:nvSpPr>
          <p:cNvPr id="17" name="Text 15"/>
          <p:cNvSpPr txBox="1"/>
          <p:nvPr/>
        </p:nvSpPr>
        <p:spPr>
          <a:xfrm>
            <a:off x="626364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Tras cada tarea califica su facilidad del 1 al 7 (SEQ); al final responde el cuestionario SUS de 10 afirmaciones. Meta: SUS ≥ 68.</a:t>
            </a:r>
            <a:endParaRPr lang="en-US" sz="1300" dirty="0"/>
          </a:p>
        </p:txBody>
      </p:sp>
      <p:sp>
        <p:nvSpPr>
          <p:cNvPr id="18" name="Shape 16"/>
          <p:cNvSpPr/>
          <p:nvPr/>
        </p:nvSpPr>
        <p:spPr>
          <a:xfrm>
            <a:off x="457200" y="3931920"/>
            <a:ext cx="8229600" cy="566928"/>
          </a:xfrm>
          <a:prstGeom prst="roundRect">
            <a:avLst>
              <a:gd name="adj" fmla="val 12903"/>
            </a:avLst>
          </a:prstGeom>
          <a:solidFill>
            <a:srgbClr val="FFF4E0"/>
          </a:solidFill>
          <a:ln w="12700">
            <a:solidFill>
              <a:srgbClr val="FFF4E0"/>
            </a:solidFill>
            <a:prstDash val="solid"/>
          </a:ln>
        </p:spPr>
        <p:txBody>
          <a:bodyPr/>
          <a:lstStyle/>
          <a:p>
            <a:endParaRPr lang="es-PE"/>
          </a:p>
        </p:txBody>
      </p:sp>
      <p:sp>
        <p:nvSpPr>
          <p:cNvPr id="19" name="Text 17"/>
          <p:cNvSpPr txBox="1"/>
          <p:nvPr/>
        </p:nvSpPr>
        <p:spPr>
          <a:xfrm>
            <a:off x="640080" y="3931920"/>
            <a:ext cx="7863840" cy="566928"/>
          </a:xfrm>
          <a:prstGeom prst="rect">
            <a:avLst/>
          </a:prstGeom>
          <a:noFill/>
          <a:ln/>
        </p:spPr>
        <p:txBody>
          <a:bodyPr wrap="square" lIns="0" tIns="0" rIns="0" bIns="0" rtlCol="0" anchor="ctr"/>
          <a:lstStyle/>
          <a:p>
            <a:pPr marL="0" indent="0">
              <a:buNone/>
            </a:pPr>
            <a:r>
              <a:rPr lang="en-US" sz="1300" b="1" dirty="0">
                <a:solidFill>
                  <a:srgbClr val="5C4400"/>
                </a:solidFill>
                <a:latin typeface="Calibri" pitchFamily="34" charset="0"/>
                <a:ea typeface="Calibri" pitchFamily="34" charset="-122"/>
                <a:cs typeface="Calibri" pitchFamily="34" charset="-120"/>
              </a:rPr>
              <a:t>¿Por qué no Maze? </a:t>
            </a:r>
            <a:r>
              <a:rPr lang="en-US" sz="1300" dirty="0">
                <a:solidFill>
                  <a:srgbClr val="5C4400"/>
                </a:solidFill>
                <a:latin typeface="Calibri" pitchFamily="34" charset="0"/>
                <a:ea typeface="Calibri" pitchFamily="34" charset="-122"/>
                <a:cs typeface="Calibri" pitchFamily="34" charset="-120"/>
              </a:rPr>
              <a:t>cobra por probar sitios web en vivo. La herramienta propia mide lo mismo y está publicada en la tienda (usabilidad.html).</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Pruebas automatizadas con Selenium</a:t>
            </a:r>
            <a:endParaRPr lang="en-US" sz="2600" dirty="0"/>
          </a:p>
        </p:txBody>
      </p:sp>
      <p:sp>
        <p:nvSpPr>
          <p:cNvPr id="3" name="Shape 1"/>
          <p:cNvSpPr/>
          <p:nvPr/>
        </p:nvSpPr>
        <p:spPr>
          <a:xfrm>
            <a:off x="457200" y="1005840"/>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4" name="Text 2"/>
          <p:cNvSpPr txBox="1"/>
          <p:nvPr/>
        </p:nvSpPr>
        <p:spPr>
          <a:xfrm>
            <a:off x="594360" y="1005840"/>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E2E01 · Buscar</a:t>
            </a:r>
            <a:endParaRPr lang="en-US" sz="1200" dirty="0"/>
          </a:p>
        </p:txBody>
      </p:sp>
      <p:sp>
        <p:nvSpPr>
          <p:cNvPr id="5" name="Text 3"/>
          <p:cNvSpPr txBox="1"/>
          <p:nvPr/>
        </p:nvSpPr>
        <p:spPr>
          <a:xfrm>
            <a:off x="2697480" y="1005840"/>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Escribe «Sony» y verifica que aparece el WH-1000XM5</a:t>
            </a:r>
            <a:endParaRPr lang="en-US" sz="1100" dirty="0"/>
          </a:p>
        </p:txBody>
      </p:sp>
      <p:sp>
        <p:nvSpPr>
          <p:cNvPr id="6" name="Text 4"/>
          <p:cNvSpPr txBox="1"/>
          <p:nvPr/>
        </p:nvSpPr>
        <p:spPr>
          <a:xfrm>
            <a:off x="5120640" y="1005840"/>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HU02, HU06</a:t>
            </a:r>
            <a:endParaRPr lang="en-US" sz="1100" dirty="0"/>
          </a:p>
        </p:txBody>
      </p:sp>
      <p:sp>
        <p:nvSpPr>
          <p:cNvPr id="7" name="Shape 5"/>
          <p:cNvSpPr/>
          <p:nvPr/>
        </p:nvSpPr>
        <p:spPr>
          <a:xfrm>
            <a:off x="457200" y="1609344"/>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8" name="Text 6"/>
          <p:cNvSpPr txBox="1"/>
          <p:nvPr/>
        </p:nvSpPr>
        <p:spPr>
          <a:xfrm>
            <a:off x="594360" y="1609344"/>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E2E02 · Filtrar</a:t>
            </a:r>
            <a:endParaRPr lang="en-US" sz="1200" dirty="0"/>
          </a:p>
        </p:txBody>
      </p:sp>
      <p:sp>
        <p:nvSpPr>
          <p:cNvPr id="9" name="Text 7"/>
          <p:cNvSpPr txBox="1"/>
          <p:nvPr/>
        </p:nvSpPr>
        <p:spPr>
          <a:xfrm>
            <a:off x="2697480" y="1609344"/>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Ordena celulares por precio y valida el más barato</a:t>
            </a:r>
            <a:endParaRPr lang="en-US" sz="1100" dirty="0"/>
          </a:p>
        </p:txBody>
      </p:sp>
      <p:sp>
        <p:nvSpPr>
          <p:cNvPr id="10" name="Text 8"/>
          <p:cNvSpPr txBox="1"/>
          <p:nvPr/>
        </p:nvSpPr>
        <p:spPr>
          <a:xfrm>
            <a:off x="5120640" y="1609344"/>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HU03–HU05</a:t>
            </a:r>
            <a:endParaRPr lang="en-US" sz="1100" dirty="0"/>
          </a:p>
        </p:txBody>
      </p:sp>
      <p:sp>
        <p:nvSpPr>
          <p:cNvPr id="11" name="Shape 9"/>
          <p:cNvSpPr/>
          <p:nvPr/>
        </p:nvSpPr>
        <p:spPr>
          <a:xfrm>
            <a:off x="457200" y="2212848"/>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12" name="Text 10"/>
          <p:cNvSpPr txBox="1"/>
          <p:nvPr/>
        </p:nvSpPr>
        <p:spPr>
          <a:xfrm>
            <a:off x="594360" y="2212848"/>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E2E03 · Agregar al carrito</a:t>
            </a:r>
            <a:endParaRPr lang="en-US" sz="1200" dirty="0"/>
          </a:p>
        </p:txBody>
      </p:sp>
      <p:sp>
        <p:nvSpPr>
          <p:cNvPr id="13" name="Text 11"/>
          <p:cNvSpPr txBox="1"/>
          <p:nvPr/>
        </p:nvSpPr>
        <p:spPr>
          <a:xfrm>
            <a:off x="2697480" y="2212848"/>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Agrega 2 JBL Flip 6 y verifica unidades y subtotal</a:t>
            </a:r>
            <a:endParaRPr lang="en-US" sz="1100" dirty="0"/>
          </a:p>
        </p:txBody>
      </p:sp>
      <p:sp>
        <p:nvSpPr>
          <p:cNvPr id="14" name="Text 12"/>
          <p:cNvSpPr txBox="1"/>
          <p:nvPr/>
        </p:nvSpPr>
        <p:spPr>
          <a:xfrm>
            <a:off x="5120640" y="2212848"/>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HU09, HU11</a:t>
            </a:r>
            <a:endParaRPr lang="en-US" sz="1100" dirty="0"/>
          </a:p>
        </p:txBody>
      </p:sp>
      <p:sp>
        <p:nvSpPr>
          <p:cNvPr id="15" name="Shape 13"/>
          <p:cNvSpPr/>
          <p:nvPr/>
        </p:nvSpPr>
        <p:spPr>
          <a:xfrm>
            <a:off x="457200" y="2816352"/>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16" name="Text 14"/>
          <p:cNvSpPr txBox="1"/>
          <p:nvPr/>
        </p:nvSpPr>
        <p:spPr>
          <a:xfrm>
            <a:off x="594360" y="2816352"/>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E2E04 · Aplicar cupón</a:t>
            </a:r>
            <a:endParaRPr lang="en-US" sz="1200" dirty="0"/>
          </a:p>
        </p:txBody>
      </p:sp>
      <p:sp>
        <p:nvSpPr>
          <p:cNvPr id="17" name="Text 15"/>
          <p:cNvSpPr txBox="1"/>
          <p:nvPr/>
        </p:nvSpPr>
        <p:spPr>
          <a:xfrm>
            <a:off x="2697480" y="2816352"/>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Aplica BIENVENIDO10 y verifica el 10 % de descuento</a:t>
            </a:r>
            <a:endParaRPr lang="en-US" sz="1100" dirty="0"/>
          </a:p>
        </p:txBody>
      </p:sp>
      <p:sp>
        <p:nvSpPr>
          <p:cNvPr id="18" name="Text 16"/>
          <p:cNvSpPr txBox="1"/>
          <p:nvPr/>
        </p:nvSpPr>
        <p:spPr>
          <a:xfrm>
            <a:off x="5120640" y="2816352"/>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HU15</a:t>
            </a:r>
            <a:endParaRPr lang="en-US" sz="1100" dirty="0"/>
          </a:p>
        </p:txBody>
      </p:sp>
      <p:sp>
        <p:nvSpPr>
          <p:cNvPr id="19" name="Shape 17"/>
          <p:cNvSpPr/>
          <p:nvPr/>
        </p:nvSpPr>
        <p:spPr>
          <a:xfrm>
            <a:off x="457200" y="3419856"/>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20" name="Text 18"/>
          <p:cNvSpPr txBox="1"/>
          <p:nvPr/>
        </p:nvSpPr>
        <p:spPr>
          <a:xfrm>
            <a:off x="594360" y="3419856"/>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E2E05 · Comprar</a:t>
            </a:r>
            <a:endParaRPr lang="en-US" sz="1200" dirty="0"/>
          </a:p>
        </p:txBody>
      </p:sp>
      <p:sp>
        <p:nvSpPr>
          <p:cNvPr id="21" name="Text 19"/>
          <p:cNvSpPr txBox="1"/>
          <p:nvPr/>
        </p:nvSpPr>
        <p:spPr>
          <a:xfrm>
            <a:off x="2697480" y="3419856"/>
            <a:ext cx="237744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Inicia sesión, paga con 4111… y espera el n.° de pedido</a:t>
            </a:r>
            <a:endParaRPr lang="en-US" sz="1100" dirty="0"/>
          </a:p>
        </p:txBody>
      </p:sp>
      <p:sp>
        <p:nvSpPr>
          <p:cNvPr id="22" name="Text 20"/>
          <p:cNvSpPr txBox="1"/>
          <p:nvPr/>
        </p:nvSpPr>
        <p:spPr>
          <a:xfrm>
            <a:off x="5120640" y="3419856"/>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HU20, HU24–28</a:t>
            </a:r>
            <a:endParaRPr lang="en-US" sz="1100" dirty="0"/>
          </a:p>
        </p:txBody>
      </p:sp>
      <p:sp>
        <p:nvSpPr>
          <p:cNvPr id="23" name="Shape 21"/>
          <p:cNvSpPr/>
          <p:nvPr/>
        </p:nvSpPr>
        <p:spPr>
          <a:xfrm>
            <a:off x="6217920" y="1005840"/>
            <a:ext cx="2468880" cy="2926080"/>
          </a:xfrm>
          <a:prstGeom prst="roundRect">
            <a:avLst>
              <a:gd name="adj" fmla="val 2963"/>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400800" y="1097280"/>
            <a:ext cx="21031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Cómo se automatiza</a:t>
            </a:r>
            <a:endParaRPr lang="en-US" sz="1600" dirty="0"/>
          </a:p>
        </p:txBody>
      </p:sp>
      <p:sp>
        <p:nvSpPr>
          <p:cNvPr id="25" name="Text 23"/>
          <p:cNvSpPr txBox="1"/>
          <p:nvPr/>
        </p:nvSpPr>
        <p:spPr>
          <a:xfrm>
            <a:off x="6400800" y="1508760"/>
            <a:ext cx="2148840" cy="233172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Selenium WebDriver con Python y pytest</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Ubica cada elemento por su data-testid</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Corre en Chrome y Edge, también a 375 px</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Limpia localStorage antes de cada prueba</a:t>
            </a:r>
            <a:endParaRPr lang="en-US" sz="12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Qué aporta la automatización</a:t>
            </a:r>
            <a:endParaRPr lang="en-US" sz="2600" dirty="0"/>
          </a:p>
        </p:txBody>
      </p:sp>
      <p:sp>
        <p:nvSpPr>
          <p:cNvPr id="3" name="Shape 1"/>
          <p:cNvSpPr/>
          <p:nvPr/>
        </p:nvSpPr>
        <p:spPr>
          <a:xfrm>
            <a:off x="45720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4" name="Shape 2"/>
          <p:cNvSpPr/>
          <p:nvPr/>
        </p:nvSpPr>
        <p:spPr>
          <a:xfrm>
            <a:off x="68580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5" name="Text 3"/>
          <p:cNvSpPr txBox="1"/>
          <p:nvPr/>
        </p:nvSpPr>
        <p:spPr>
          <a:xfrm>
            <a:off x="68580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Regresión</a:t>
            </a:r>
            <a:endParaRPr lang="en-US" sz="1800" dirty="0"/>
          </a:p>
        </p:txBody>
      </p:sp>
      <p:sp>
        <p:nvSpPr>
          <p:cNvPr id="7" name="Text 5"/>
          <p:cNvSpPr txBox="1"/>
          <p:nvPr/>
        </p:nvSpPr>
        <p:spPr>
          <a:xfrm>
            <a:off x="68580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Los 5 flujos se repiten tras cada cambio en js/ sin esfuerzo manual. Meta: 100 % de pruebas E2E aprobadas antes de publicar.</a:t>
            </a:r>
            <a:endParaRPr lang="en-US" sz="1300" dirty="0"/>
          </a:p>
        </p:txBody>
      </p:sp>
      <p:sp>
        <p:nvSpPr>
          <p:cNvPr id="8" name="Shape 6"/>
          <p:cNvSpPr/>
          <p:nvPr/>
        </p:nvSpPr>
        <p:spPr>
          <a:xfrm>
            <a:off x="324612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9" name="Shape 7"/>
          <p:cNvSpPr/>
          <p:nvPr/>
        </p:nvSpPr>
        <p:spPr>
          <a:xfrm>
            <a:off x="347472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0" name="Text 8"/>
          <p:cNvSpPr txBox="1"/>
          <p:nvPr/>
        </p:nvSpPr>
        <p:spPr>
          <a:xfrm>
            <a:off x="347472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411480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Compatibilidad</a:t>
            </a:r>
            <a:endParaRPr lang="en-US" sz="1800" dirty="0"/>
          </a:p>
        </p:txBody>
      </p:sp>
      <p:sp>
        <p:nvSpPr>
          <p:cNvPr id="12" name="Text 10"/>
          <p:cNvSpPr txBox="1"/>
          <p:nvPr/>
        </p:nvSpPr>
        <p:spPr>
          <a:xfrm>
            <a:off x="347472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El mismo script corre en Chrome y Edge, y con ventana de 375 px para móvil: refuerza la Prueba de Conformidad.</a:t>
            </a:r>
            <a:endParaRPr lang="en-US" sz="1300" dirty="0"/>
          </a:p>
        </p:txBody>
      </p:sp>
      <p:sp>
        <p:nvSpPr>
          <p:cNvPr id="13" name="Shape 11"/>
          <p:cNvSpPr/>
          <p:nvPr/>
        </p:nvSpPr>
        <p:spPr>
          <a:xfrm>
            <a:off x="6035040" y="1097280"/>
            <a:ext cx="2606040" cy="2606040"/>
          </a:xfrm>
          <a:prstGeom prst="roundRect">
            <a:avLst>
              <a:gd name="adj" fmla="val 2807"/>
            </a:avLst>
          </a:prstGeom>
          <a:solidFill>
            <a:srgbClr val="EEF2F7"/>
          </a:solidFill>
          <a:ln w="12700">
            <a:solidFill>
              <a:srgbClr val="EEF2F7"/>
            </a:solidFill>
            <a:prstDash val="solid"/>
          </a:ln>
        </p:spPr>
        <p:txBody>
          <a:bodyPr/>
          <a:lstStyle/>
          <a:p>
            <a:endParaRPr lang="es-PE"/>
          </a:p>
        </p:txBody>
      </p:sp>
      <p:sp>
        <p:nvSpPr>
          <p:cNvPr id="14" name="Shape 12"/>
          <p:cNvSpPr/>
          <p:nvPr/>
        </p:nvSpPr>
        <p:spPr>
          <a:xfrm>
            <a:off x="6263640" y="1280160"/>
            <a:ext cx="502920" cy="502920"/>
          </a:xfrm>
          <a:prstGeom prst="ellipse">
            <a:avLst/>
          </a:prstGeom>
          <a:solidFill>
            <a:srgbClr val="14213D"/>
          </a:solidFill>
          <a:ln w="12700">
            <a:solidFill>
              <a:srgbClr val="14213D"/>
            </a:solidFill>
            <a:prstDash val="solid"/>
          </a:ln>
        </p:spPr>
        <p:txBody>
          <a:bodyPr/>
          <a:lstStyle/>
          <a:p>
            <a:endParaRPr lang="es-PE"/>
          </a:p>
        </p:txBody>
      </p:sp>
      <p:sp>
        <p:nvSpPr>
          <p:cNvPr id="15" name="Text 13"/>
          <p:cNvSpPr txBox="1"/>
          <p:nvPr/>
        </p:nvSpPr>
        <p:spPr>
          <a:xfrm>
            <a:off x="6263640" y="12801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903720" y="1325880"/>
            <a:ext cx="164592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Evidencia</a:t>
            </a:r>
            <a:endParaRPr lang="en-US" sz="1800" dirty="0"/>
          </a:p>
        </p:txBody>
      </p:sp>
      <p:sp>
        <p:nvSpPr>
          <p:cNvPr id="17" name="Text 15"/>
          <p:cNvSpPr txBox="1"/>
          <p:nvPr/>
        </p:nvSpPr>
        <p:spPr>
          <a:xfrm>
            <a:off x="6263640" y="1965960"/>
            <a:ext cx="2194560" cy="1645920"/>
          </a:xfrm>
          <a:prstGeom prst="rect">
            <a:avLst/>
          </a:prstGeom>
          <a:noFill/>
          <a:ln/>
        </p:spPr>
        <p:txBody>
          <a:bodyPr wrap="square" lIns="0" tIns="0" rIns="0" bIns="0" rtlCol="0" anchor="t"/>
          <a:lstStyle/>
          <a:p>
            <a:pPr marL="0" indent="0">
              <a:buNone/>
            </a:pPr>
            <a:r>
              <a:rPr lang="en-US" sz="1300" dirty="0">
                <a:solidFill>
                  <a:srgbClr val="4A5568"/>
                </a:solidFill>
                <a:latin typeface="Calibri" pitchFamily="34" charset="0"/>
                <a:ea typeface="Calibri" pitchFamily="34" charset="-122"/>
                <a:cs typeface="Calibri" pitchFamily="34" charset="-120"/>
              </a:rPr>
              <a:t>Cada fallo guarda una captura de pantalla y queda en el reporte de pytest; se registra como defecto con su caso de prueba.</a:t>
            </a:r>
            <a:endParaRPr lang="en-US" sz="1300" dirty="0"/>
          </a:p>
        </p:txBody>
      </p:sp>
      <p:sp>
        <p:nvSpPr>
          <p:cNvPr id="18" name="Shape 16"/>
          <p:cNvSpPr/>
          <p:nvPr/>
        </p:nvSpPr>
        <p:spPr>
          <a:xfrm>
            <a:off x="457200" y="3931920"/>
            <a:ext cx="8229600" cy="566928"/>
          </a:xfrm>
          <a:prstGeom prst="roundRect">
            <a:avLst>
              <a:gd name="adj" fmla="val 12903"/>
            </a:avLst>
          </a:prstGeom>
          <a:solidFill>
            <a:srgbClr val="FFF4E0"/>
          </a:solidFill>
          <a:ln w="12700">
            <a:solidFill>
              <a:srgbClr val="FFF4E0"/>
            </a:solidFill>
            <a:prstDash val="solid"/>
          </a:ln>
        </p:spPr>
        <p:txBody>
          <a:bodyPr/>
          <a:lstStyle/>
          <a:p>
            <a:endParaRPr lang="es-PE"/>
          </a:p>
        </p:txBody>
      </p:sp>
      <p:sp>
        <p:nvSpPr>
          <p:cNvPr id="19" name="Text 17"/>
          <p:cNvSpPr txBox="1"/>
          <p:nvPr/>
        </p:nvSpPr>
        <p:spPr>
          <a:xfrm>
            <a:off x="640080" y="3931920"/>
            <a:ext cx="7863840" cy="566928"/>
          </a:xfrm>
          <a:prstGeom prst="rect">
            <a:avLst/>
          </a:prstGeom>
          <a:noFill/>
          <a:ln/>
        </p:spPr>
        <p:txBody>
          <a:bodyPr wrap="square" lIns="0" tIns="0" rIns="0" bIns="0" rtlCol="0" anchor="ctr"/>
          <a:lstStyle/>
          <a:p>
            <a:pPr marL="0" indent="0">
              <a:buNone/>
            </a:pPr>
            <a:r>
              <a:rPr lang="en-US" sz="1300" b="1" dirty="0">
                <a:solidFill>
                  <a:srgbClr val="5C4400"/>
                </a:solidFill>
                <a:latin typeface="Calibri" pitchFamily="34" charset="0"/>
                <a:ea typeface="Calibri" pitchFamily="34" charset="-122"/>
                <a:cs typeface="Calibri" pitchFamily="34" charset="-120"/>
              </a:rPr>
              <a:t>¿Por qué data-testid? </a:t>
            </a:r>
            <a:r>
              <a:rPr lang="en-US" sz="1300" dirty="0">
                <a:solidFill>
                  <a:srgbClr val="5C4400"/>
                </a:solidFill>
                <a:latin typeface="Calibri" pitchFamily="34" charset="0"/>
                <a:ea typeface="Calibri" pitchFamily="34" charset="-122"/>
                <a:cs typeface="Calibri" pitchFamily="34" charset="-120"/>
              </a:rPr>
              <a:t>no cambia si cambia el diseño o el texto. Ej.: [data-testid='coupon-input'] ubica el campo del cupón de E2E04.</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Técnicas de diseño y tipos de prueba</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120640" cy="2548128"/>
        </p:xfrm>
        <a:graphic>
          <a:graphicData uri="http://schemas.openxmlformats.org/drawingml/2006/table">
            <a:tbl>
              <a:tblPr/>
              <a:tblGrid>
                <a:gridCol w="17373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8404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Técnica</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Ejemplo en las tareas de usuario</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Partición de equivalencia</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T5: la tarjeta 4111… se acepta; con un dígito distinto se rechaza</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extLst>
                  <a:ext uri="{0D108BD9-81ED-4DB2-BD59-A6C34878D82A}">
                    <a16:rowId xmlns:a16="http://schemas.microsoft.com/office/drawing/2014/main" val="10001"/>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Valores límite</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T3: llevar 2 es válido; el carrito admite de 1 a 10 y rechaza 11</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Tabla de decisión</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T4: el cupón aplica según código × monto (TECH50 pide S/ 500)</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extLst>
                  <a:ext uri="{0D108BD9-81ED-4DB2-BD59-A6C34878D82A}">
                    <a16:rowId xmlns:a16="http://schemas.microsoft.com/office/drawing/2014/main" val="10003"/>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Transición de estados</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T5: visitante → sesión iniciada → pedido confirmado</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Conjetura de errores</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T1: buscar «SONY» o «audifonos» sin tilde igual debe encontrarlo</a:t>
                      </a:r>
                      <a:endParaRPr lang="en-US" sz="1100" dirty="0">
                        <a:latin typeface="Calibri" charset="0"/>
                        <a:ea typeface="Calibri" charset="0"/>
                        <a:cs typeface="Calibri" charset="0"/>
                      </a:endParaRPr>
                    </a:p>
                  </a:txBody>
                  <a:tcPr marL="54864" marR="54864" marT="54864" marB="5486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852160" y="1051560"/>
            <a:ext cx="283464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Tipos de prueba</a:t>
            </a:r>
            <a:endParaRPr lang="en-US" sz="1500" dirty="0"/>
          </a:p>
        </p:txBody>
      </p:sp>
      <p:sp>
        <p:nvSpPr>
          <p:cNvPr id="5" name="Shape 2"/>
          <p:cNvSpPr/>
          <p:nvPr/>
        </p:nvSpPr>
        <p:spPr>
          <a:xfrm>
            <a:off x="5852160" y="146304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6" name="Text 3"/>
          <p:cNvSpPr txBox="1"/>
          <p:nvPr/>
        </p:nvSpPr>
        <p:spPr>
          <a:xfrm>
            <a:off x="5852160" y="146304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Funcional</a:t>
            </a:r>
            <a:endParaRPr lang="en-US" sz="1200" dirty="0"/>
          </a:p>
        </p:txBody>
      </p:sp>
      <p:sp>
        <p:nvSpPr>
          <p:cNvPr id="3" name="Shape 4"/>
          <p:cNvSpPr/>
          <p:nvPr/>
        </p:nvSpPr>
        <p:spPr>
          <a:xfrm>
            <a:off x="7315200" y="146304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8" name="Text 5"/>
          <p:cNvSpPr txBox="1"/>
          <p:nvPr/>
        </p:nvSpPr>
        <p:spPr>
          <a:xfrm>
            <a:off x="7315200" y="146304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Regresión</a:t>
            </a:r>
            <a:endParaRPr lang="en-US" sz="1200" dirty="0"/>
          </a:p>
        </p:txBody>
      </p:sp>
      <p:sp>
        <p:nvSpPr>
          <p:cNvPr id="9" name="Shape 6"/>
          <p:cNvSpPr/>
          <p:nvPr/>
        </p:nvSpPr>
        <p:spPr>
          <a:xfrm>
            <a:off x="5852160" y="2011680"/>
            <a:ext cx="1325880" cy="411480"/>
          </a:xfrm>
          <a:prstGeom prst="roundRect">
            <a:avLst>
              <a:gd name="adj" fmla="val 17778"/>
            </a:avLst>
          </a:prstGeom>
          <a:solidFill>
            <a:srgbClr val="14213D"/>
          </a:solidFill>
          <a:ln w="12700">
            <a:solidFill>
              <a:srgbClr val="14213D"/>
            </a:solidFill>
            <a:prstDash val="solid"/>
          </a:ln>
        </p:spPr>
        <p:txBody>
          <a:bodyPr/>
          <a:lstStyle/>
          <a:p>
            <a:endParaRPr lang="es-PE"/>
          </a:p>
        </p:txBody>
      </p:sp>
      <p:sp>
        <p:nvSpPr>
          <p:cNvPr id="10" name="Text 7"/>
          <p:cNvSpPr txBox="1"/>
          <p:nvPr/>
        </p:nvSpPr>
        <p:spPr>
          <a:xfrm>
            <a:off x="5852160" y="2011680"/>
            <a:ext cx="132588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Usabilidad</a:t>
            </a:r>
            <a:endParaRPr lang="en-US" sz="1200" dirty="0"/>
          </a:p>
        </p:txBody>
      </p:sp>
      <p:sp>
        <p:nvSpPr>
          <p:cNvPr id="11" name="Shape 8"/>
          <p:cNvSpPr/>
          <p:nvPr/>
        </p:nvSpPr>
        <p:spPr>
          <a:xfrm>
            <a:off x="7315200" y="201168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2" name="Text 9"/>
          <p:cNvSpPr txBox="1"/>
          <p:nvPr/>
        </p:nvSpPr>
        <p:spPr>
          <a:xfrm>
            <a:off x="7315200" y="201168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Accesibilidad</a:t>
            </a:r>
            <a:endParaRPr lang="en-US" sz="1200" dirty="0"/>
          </a:p>
        </p:txBody>
      </p:sp>
      <p:sp>
        <p:nvSpPr>
          <p:cNvPr id="13" name="Shape 10"/>
          <p:cNvSpPr/>
          <p:nvPr/>
        </p:nvSpPr>
        <p:spPr>
          <a:xfrm>
            <a:off x="5852160" y="256032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4" name="Text 11"/>
          <p:cNvSpPr txBox="1"/>
          <p:nvPr/>
        </p:nvSpPr>
        <p:spPr>
          <a:xfrm>
            <a:off x="5852160" y="256032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Adaptabilidad</a:t>
            </a:r>
            <a:endParaRPr lang="en-US" sz="1200" dirty="0"/>
          </a:p>
        </p:txBody>
      </p:sp>
      <p:sp>
        <p:nvSpPr>
          <p:cNvPr id="15" name="Shape 12"/>
          <p:cNvSpPr/>
          <p:nvPr/>
        </p:nvSpPr>
        <p:spPr>
          <a:xfrm>
            <a:off x="7315200" y="256032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6" name="Text 13"/>
          <p:cNvSpPr txBox="1"/>
          <p:nvPr/>
        </p:nvSpPr>
        <p:spPr>
          <a:xfrm>
            <a:off x="7315200" y="256032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Seguridad</a:t>
            </a:r>
            <a:endParaRPr lang="en-US" sz="1200" dirty="0"/>
          </a:p>
        </p:txBody>
      </p:sp>
      <p:sp>
        <p:nvSpPr>
          <p:cNvPr id="17" name="Shape 14"/>
          <p:cNvSpPr/>
          <p:nvPr/>
        </p:nvSpPr>
        <p:spPr>
          <a:xfrm>
            <a:off x="5852160" y="310896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18" name="Text 15"/>
          <p:cNvSpPr txBox="1"/>
          <p:nvPr/>
        </p:nvSpPr>
        <p:spPr>
          <a:xfrm>
            <a:off x="5852160" y="310896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Privacidad</a:t>
            </a:r>
            <a:endParaRPr lang="en-US" sz="1200" dirty="0"/>
          </a:p>
        </p:txBody>
      </p:sp>
      <p:sp>
        <p:nvSpPr>
          <p:cNvPr id="19" name="Shape 16"/>
          <p:cNvSpPr/>
          <p:nvPr/>
        </p:nvSpPr>
        <p:spPr>
          <a:xfrm>
            <a:off x="7315200" y="310896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20" name="Text 17"/>
          <p:cNvSpPr txBox="1"/>
          <p:nvPr/>
        </p:nvSpPr>
        <p:spPr>
          <a:xfrm>
            <a:off x="7315200" y="310896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Rendimiento</a:t>
            </a:r>
            <a:endParaRPr lang="en-US" sz="1200" dirty="0"/>
          </a:p>
        </p:txBody>
      </p:sp>
      <p:sp>
        <p:nvSpPr>
          <p:cNvPr id="21" name="Shape 18"/>
          <p:cNvSpPr/>
          <p:nvPr/>
        </p:nvSpPr>
        <p:spPr>
          <a:xfrm>
            <a:off x="5852160" y="365760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22" name="Text 19"/>
          <p:cNvSpPr txBox="1"/>
          <p:nvPr/>
        </p:nvSpPr>
        <p:spPr>
          <a:xfrm>
            <a:off x="5852160" y="365760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Compatibilidad</a:t>
            </a:r>
            <a:endParaRPr lang="en-US" sz="1200" dirty="0"/>
          </a:p>
        </p:txBody>
      </p:sp>
      <p:sp>
        <p:nvSpPr>
          <p:cNvPr id="23" name="Shape 20"/>
          <p:cNvSpPr/>
          <p:nvPr/>
        </p:nvSpPr>
        <p:spPr>
          <a:xfrm>
            <a:off x="7315200" y="3657600"/>
            <a:ext cx="1325880" cy="411480"/>
          </a:xfrm>
          <a:prstGeom prst="roundRect">
            <a:avLst>
              <a:gd name="adj" fmla="val 17778"/>
            </a:avLst>
          </a:prstGeom>
          <a:solidFill>
            <a:srgbClr val="EEF2F7"/>
          </a:solidFill>
          <a:ln w="12700">
            <a:solidFill>
              <a:srgbClr val="EEF2F7"/>
            </a:solidFill>
            <a:prstDash val="solid"/>
          </a:ln>
        </p:spPr>
        <p:txBody>
          <a:bodyPr/>
          <a:lstStyle/>
          <a:p>
            <a:endParaRPr lang="es-PE"/>
          </a:p>
        </p:txBody>
      </p:sp>
      <p:sp>
        <p:nvSpPr>
          <p:cNvPr id="24" name="Text 21"/>
          <p:cNvSpPr txBox="1"/>
          <p:nvPr/>
        </p:nvSpPr>
        <p:spPr>
          <a:xfrm>
            <a:off x="7315200" y="3657600"/>
            <a:ext cx="1325880" cy="411480"/>
          </a:xfrm>
          <a:prstGeom prst="rect">
            <a:avLst/>
          </a:prstGeom>
          <a:noFill/>
          <a:ln/>
        </p:spPr>
        <p:txBody>
          <a:bodyPr wrap="square" lIns="0" tIns="0" rIns="0" bIns="0" rtlCol="0" anchor="ctr"/>
          <a:lstStyle/>
          <a:p>
            <a:pPr marL="0" indent="0" algn="ctr">
              <a:buNone/>
            </a:pPr>
            <a:r>
              <a:rPr lang="en-US" sz="1200" dirty="0">
                <a:solidFill>
                  <a:srgbClr val="14213D"/>
                </a:solidFill>
                <a:latin typeface="Calibri" pitchFamily="34" charset="0"/>
                <a:ea typeface="Calibri" pitchFamily="34" charset="-122"/>
                <a:cs typeface="Calibri" pitchFamily="34" charset="-120"/>
              </a:rPr>
              <a:t>Exploratoria</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96 casos de prueba con trazabilidad completa</a:t>
            </a:r>
            <a:endParaRPr lang="en-US" sz="2600" dirty="0"/>
          </a:p>
        </p:txBody>
      </p:sp>
      <p:graphicFrame>
        <p:nvGraphicFramePr>
          <p:cNvPr id="3" name="Chart 0"/>
          <p:cNvGraphicFramePr/>
          <p:nvPr/>
        </p:nvGraphicFramePr>
        <p:xfrm>
          <a:off x="365760" y="1005840"/>
          <a:ext cx="49377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577840" y="1051560"/>
            <a:ext cx="3108960" cy="1005840"/>
          </a:xfrm>
          <a:prstGeom prst="roundRect">
            <a:avLst>
              <a:gd name="adj" fmla="val 7273"/>
            </a:avLst>
          </a:prstGeom>
          <a:solidFill>
            <a:srgbClr val="EEF2F7"/>
          </a:solidFill>
          <a:ln w="12700">
            <a:solidFill>
              <a:srgbClr val="EEF2F7"/>
            </a:solidFill>
            <a:prstDash val="solid"/>
          </a:ln>
        </p:spPr>
        <p:txBody>
          <a:bodyPr/>
          <a:lstStyle/>
          <a:p>
            <a:endParaRPr lang="es-PE"/>
          </a:p>
        </p:txBody>
      </p:sp>
      <p:sp>
        <p:nvSpPr>
          <p:cNvPr id="5" name="Text 2"/>
          <p:cNvSpPr txBox="1"/>
          <p:nvPr/>
        </p:nvSpPr>
        <p:spPr>
          <a:xfrm>
            <a:off x="5760720" y="1143000"/>
            <a:ext cx="914400" cy="822960"/>
          </a:xfrm>
          <a:prstGeom prst="rect">
            <a:avLst/>
          </a:prstGeom>
          <a:noFill/>
          <a:ln/>
        </p:spPr>
        <p:txBody>
          <a:bodyPr wrap="square" lIns="0" tIns="0" rIns="0" bIns="0" rtlCol="0" anchor="ctr"/>
          <a:lstStyle/>
          <a:p>
            <a:pPr marL="0" indent="0">
              <a:buNone/>
            </a:pPr>
            <a:r>
              <a:rPr lang="en-US" sz="3600" b="1" dirty="0">
                <a:solidFill>
                  <a:srgbClr val="B7791F"/>
                </a:solidFill>
                <a:latin typeface="Calibri" pitchFamily="34" charset="0"/>
                <a:ea typeface="Calibri" pitchFamily="34" charset="-122"/>
                <a:cs typeface="Calibri" pitchFamily="34" charset="-120"/>
              </a:rPr>
              <a:t>84</a:t>
            </a:r>
            <a:endParaRPr lang="en-US" sz="3600" dirty="0"/>
          </a:p>
        </p:txBody>
      </p:sp>
      <p:sp>
        <p:nvSpPr>
          <p:cNvPr id="6" name="Text 3"/>
          <p:cNvSpPr txBox="1"/>
          <p:nvPr/>
        </p:nvSpPr>
        <p:spPr>
          <a:xfrm>
            <a:off x="6675120" y="1143000"/>
            <a:ext cx="1920240" cy="82296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casos funcionales: uno por criterio de aceptación (CP001–CP084)</a:t>
            </a:r>
            <a:endParaRPr lang="en-US" sz="1200" dirty="0"/>
          </a:p>
        </p:txBody>
      </p:sp>
      <p:sp>
        <p:nvSpPr>
          <p:cNvPr id="7" name="Shape 4"/>
          <p:cNvSpPr/>
          <p:nvPr/>
        </p:nvSpPr>
        <p:spPr>
          <a:xfrm>
            <a:off x="5577840" y="2194560"/>
            <a:ext cx="3108960" cy="1005840"/>
          </a:xfrm>
          <a:prstGeom prst="roundRect">
            <a:avLst>
              <a:gd name="adj" fmla="val 7273"/>
            </a:avLst>
          </a:prstGeom>
          <a:solidFill>
            <a:srgbClr val="EEF2F7"/>
          </a:solidFill>
          <a:ln w="12700">
            <a:solidFill>
              <a:srgbClr val="EEF2F7"/>
            </a:solidFill>
            <a:prstDash val="solid"/>
          </a:ln>
        </p:spPr>
        <p:txBody>
          <a:bodyPr/>
          <a:lstStyle/>
          <a:p>
            <a:endParaRPr lang="es-PE"/>
          </a:p>
        </p:txBody>
      </p:sp>
      <p:sp>
        <p:nvSpPr>
          <p:cNvPr id="8" name="Text 5"/>
          <p:cNvSpPr txBox="1"/>
          <p:nvPr/>
        </p:nvSpPr>
        <p:spPr>
          <a:xfrm>
            <a:off x="5760720" y="2286000"/>
            <a:ext cx="914400" cy="822960"/>
          </a:xfrm>
          <a:prstGeom prst="rect">
            <a:avLst/>
          </a:prstGeom>
          <a:noFill/>
          <a:ln/>
        </p:spPr>
        <p:txBody>
          <a:bodyPr wrap="square" lIns="0" tIns="0" rIns="0" bIns="0" rtlCol="0" anchor="ctr"/>
          <a:lstStyle/>
          <a:p>
            <a:pPr marL="0" indent="0">
              <a:buNone/>
            </a:pPr>
            <a:r>
              <a:rPr lang="en-US" sz="3600" b="1" dirty="0">
                <a:solidFill>
                  <a:srgbClr val="14213D"/>
                </a:solidFill>
                <a:latin typeface="Calibri" pitchFamily="34" charset="0"/>
                <a:ea typeface="Calibri" pitchFamily="34" charset="-122"/>
                <a:cs typeface="Calibri" pitchFamily="34" charset="-120"/>
              </a:rPr>
              <a:t>12</a:t>
            </a:r>
            <a:endParaRPr lang="en-US" sz="3600" dirty="0"/>
          </a:p>
        </p:txBody>
      </p:sp>
      <p:sp>
        <p:nvSpPr>
          <p:cNvPr id="9" name="Text 6"/>
          <p:cNvSpPr txBox="1"/>
          <p:nvPr/>
        </p:nvSpPr>
        <p:spPr>
          <a:xfrm>
            <a:off x="6675120" y="2286000"/>
            <a:ext cx="1920240" cy="82296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casos no funcionales para los 9 RNF (CNF01–CNF12)</a:t>
            </a:r>
            <a:endParaRPr lang="en-US" sz="1200" dirty="0"/>
          </a:p>
        </p:txBody>
      </p:sp>
      <p:sp>
        <p:nvSpPr>
          <p:cNvPr id="10" name="Text 7"/>
          <p:cNvSpPr txBox="1"/>
          <p:nvPr/>
        </p:nvSpPr>
        <p:spPr>
          <a:xfrm>
            <a:off x="5577840" y="3429000"/>
            <a:ext cx="3108960" cy="274320"/>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Prioridad (heredada de MoSCoW)</a:t>
            </a:r>
            <a:endParaRPr lang="en-US" sz="1200" dirty="0"/>
          </a:p>
        </p:txBody>
      </p:sp>
      <p:sp>
        <p:nvSpPr>
          <p:cNvPr id="11" name="Text 8"/>
          <p:cNvSpPr txBox="1"/>
          <p:nvPr/>
        </p:nvSpPr>
        <p:spPr>
          <a:xfrm>
            <a:off x="5577840" y="3749040"/>
            <a:ext cx="3108960" cy="32004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Alta: 59   ·   Media: 18   ·   Baja: 7</a:t>
            </a:r>
            <a:endParaRPr lang="en-US" sz="1300" dirty="0"/>
          </a:p>
        </p:txBody>
      </p:sp>
      <p:sp>
        <p:nvSpPr>
          <p:cNvPr id="12" name="Text 9"/>
          <p:cNvSpPr txBox="1"/>
          <p:nvPr/>
        </p:nvSpPr>
        <p:spPr>
          <a:xfrm>
            <a:off x="5577840" y="4114800"/>
            <a:ext cx="3108960" cy="320040"/>
          </a:xfrm>
          <a:prstGeom prst="rect">
            <a:avLst/>
          </a:prstGeom>
          <a:noFill/>
          <a:ln/>
        </p:spPr>
        <p:txBody>
          <a:bodyPr wrap="square" lIns="0" tIns="0" rIns="0" bIns="0" rtlCol="0" anchor="ctr"/>
          <a:lstStyle/>
          <a:p>
            <a:pPr marL="0" indent="0">
              <a:buNone/>
            </a:pPr>
            <a:r>
              <a:rPr lang="en-US" sz="1200" b="1" dirty="0">
                <a:solidFill>
                  <a:srgbClr val="2E7D32"/>
                </a:solidFill>
                <a:latin typeface="Calibri" pitchFamily="34" charset="0"/>
                <a:ea typeface="Calibri" pitchFamily="34" charset="-122"/>
                <a:cs typeface="Calibri" pitchFamily="34" charset="-120"/>
              </a:rPr>
              <a:t>Cobertura: 100 % de criterios y RNF; T1–T5 recorren 14 de las 30 HU.</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Ejemplo de caso: CP055 bloqueo tras 5 intentos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2572512"/>
        </p:xfrm>
        <a:graphic>
          <a:graphicData uri="http://schemas.openxmlformats.org/drawingml/2006/table">
            <a:tbl>
              <a:tblPr/>
              <a:tblGrid>
                <a:gridCol w="182880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tblGrid>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Historia</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HU20 Iniciar sesión · CA3 · Prioridad Alta · se recorre en la tarea T5</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0"/>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Precondiciones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Cuenta demo@techstore.pe sin intentos fallidos previos.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Entradas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Contraseña incorrecta «Clave@0000» × 5; luego la correcta «Demo@1234».</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Pasos</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1. Abrir login.html  2. Fallar 5 veces  3. Ingresar la contraseña correcta</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14213D"/>
                          </a:solidFill>
                          <a:latin typeface="Calibri" pitchFamily="34" charset="0"/>
                          <a:ea typeface="Calibri" pitchFamily="34" charset="-122"/>
                          <a:cs typeface="Calibri" pitchFamily="34" charset="-120"/>
                        </a:rPr>
                        <a:t>Resultado esperado</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300" dirty="0">
                          <a:solidFill>
                            <a:srgbClr val="4A5568"/>
                          </a:solidFill>
                          <a:latin typeface="Calibri" pitchFamily="34" charset="0"/>
                          <a:ea typeface="Calibri" pitchFamily="34" charset="-122"/>
                          <a:cs typeface="Calibri" pitchFamily="34" charset="-120"/>
                        </a:rPr>
                        <a:t>Intentos 1–4: «Intentos restantes: N». Intento 5: «Has superado 5 intentos. Cuenta bloqueada por 5 minutos.» Luego: acceso denegado.</a:t>
                      </a:r>
                      <a:endParaRPr lang="en-US" sz="1300" dirty="0">
                        <a:latin typeface="Calibri" charset="0"/>
                        <a:ea typeface="Calibri" charset="0"/>
                        <a:cs typeface="Calibri" charset="0"/>
                      </a:endParaRPr>
                    </a:p>
                  </a:txBody>
                  <a:tcPr marL="82296" marR="82296" marT="82296" marB="82296">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 name="Shape 1"/>
          <p:cNvSpPr/>
          <p:nvPr/>
        </p:nvSpPr>
        <p:spPr>
          <a:xfrm>
            <a:off x="731520" y="3977640"/>
            <a:ext cx="7680960" cy="502920"/>
          </a:xfrm>
          <a:prstGeom prst="roundRect">
            <a:avLst>
              <a:gd name="adj" fmla="val 14545"/>
            </a:avLst>
          </a:prstGeom>
          <a:solidFill>
            <a:srgbClr val="E6F4EA"/>
          </a:solidFill>
          <a:ln w="12700">
            <a:solidFill>
              <a:srgbClr val="E6F4EA"/>
            </a:solidFill>
            <a:prstDash val="solid"/>
          </a:ln>
        </p:spPr>
        <p:txBody>
          <a:bodyPr/>
          <a:lstStyle/>
          <a:p>
            <a:endParaRPr lang="es-PE"/>
          </a:p>
        </p:txBody>
      </p:sp>
      <p:sp>
        <p:nvSpPr>
          <p:cNvPr id="5" name="Text 2"/>
          <p:cNvSpPr txBox="1"/>
          <p:nvPr/>
        </p:nvSpPr>
        <p:spPr>
          <a:xfrm>
            <a:off x="914400" y="3977640"/>
            <a:ext cx="7315200" cy="502920"/>
          </a:xfrm>
          <a:prstGeom prst="rect">
            <a:avLst/>
          </a:prstGeom>
          <a:noFill/>
          <a:ln/>
        </p:spPr>
        <p:txBody>
          <a:bodyPr wrap="square" lIns="0" tIns="0" rIns="0" bIns="0" rtlCol="0" anchor="ctr"/>
          <a:lstStyle/>
          <a:p>
            <a:pPr marL="0" indent="0">
              <a:buNone/>
            </a:pPr>
            <a:r>
              <a:rPr lang="en-US" sz="1300" b="1" dirty="0">
                <a:solidFill>
                  <a:srgbClr val="2E7D32"/>
                </a:solidFill>
                <a:latin typeface="Calibri" pitchFamily="34" charset="0"/>
                <a:ea typeface="Calibri" pitchFamily="34" charset="-122"/>
                <a:cs typeface="Calibri" pitchFamily="34" charset="-120"/>
              </a:rPr>
              <a:t>Ejecutado: </a:t>
            </a:r>
            <a:r>
              <a:rPr lang="en-US" sz="1300" dirty="0">
                <a:solidFill>
                  <a:srgbClr val="2E7D32"/>
                </a:solidFill>
                <a:latin typeface="Calibri" pitchFamily="34" charset="0"/>
                <a:ea typeface="Calibri" pitchFamily="34" charset="-122"/>
                <a:cs typeface="Calibri" pitchFamily="34" charset="-120"/>
              </a:rPr>
              <a:t>mismo escenario que CC02 de la Prueba de Conformidad, cumple en Chrome y Edge.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Criterios de entrada y salida, y cronograma</a:t>
            </a:r>
            <a:endParaRPr lang="en-US" sz="2600" dirty="0"/>
          </a:p>
        </p:txBody>
      </p:sp>
      <p:sp>
        <p:nvSpPr>
          <p:cNvPr id="3" name="Shape 1"/>
          <p:cNvSpPr/>
          <p:nvPr/>
        </p:nvSpPr>
        <p:spPr>
          <a:xfrm>
            <a:off x="457200" y="1051560"/>
            <a:ext cx="2606040" cy="1508760"/>
          </a:xfrm>
          <a:prstGeom prst="roundRect">
            <a:avLst>
              <a:gd name="adj" fmla="val 4848"/>
            </a:avLst>
          </a:prstGeom>
          <a:solidFill>
            <a:srgbClr val="E6F4EA"/>
          </a:solidFill>
          <a:ln w="12700">
            <a:solidFill>
              <a:srgbClr val="E6F4EA"/>
            </a:solidFill>
            <a:prstDash val="solid"/>
          </a:ln>
        </p:spPr>
        <p:txBody>
          <a:bodyPr/>
          <a:lstStyle/>
          <a:p>
            <a:endParaRPr lang="es-PE"/>
          </a:p>
        </p:txBody>
      </p:sp>
      <p:sp>
        <p:nvSpPr>
          <p:cNvPr id="4" name="Text 2"/>
          <p:cNvSpPr txBox="1"/>
          <p:nvPr/>
        </p:nvSpPr>
        <p:spPr>
          <a:xfrm>
            <a:off x="640080" y="1143000"/>
            <a:ext cx="2240280" cy="320040"/>
          </a:xfrm>
          <a:prstGeom prst="rect">
            <a:avLst/>
          </a:prstGeom>
          <a:noFill/>
          <a:ln/>
        </p:spPr>
        <p:txBody>
          <a:bodyPr wrap="square" lIns="0" tIns="0" rIns="0" bIns="0" rtlCol="0" anchor="ctr"/>
          <a:lstStyle/>
          <a:p>
            <a:pPr marL="0" indent="0">
              <a:buNone/>
            </a:pPr>
            <a:r>
              <a:rPr lang="en-US" sz="1500" b="1" dirty="0">
                <a:solidFill>
                  <a:srgbClr val="2E7D32"/>
                </a:solidFill>
                <a:latin typeface="Calibri" pitchFamily="34" charset="0"/>
                <a:ea typeface="Calibri" pitchFamily="34" charset="-122"/>
                <a:cs typeface="Calibri" pitchFamily="34" charset="-120"/>
              </a:rPr>
              <a:t>Entrada</a:t>
            </a:r>
            <a:endParaRPr lang="en-US" sz="1500" dirty="0"/>
          </a:p>
        </p:txBody>
      </p:sp>
      <p:sp>
        <p:nvSpPr>
          <p:cNvPr id="5" name="Text 3"/>
          <p:cNvSpPr txBox="1"/>
          <p:nvPr/>
        </p:nvSpPr>
        <p:spPr>
          <a:xfrm>
            <a:off x="640080" y="1481328"/>
            <a:ext cx="2240280" cy="100584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HU aprobadas, casos diseñados, app y prueba de usabilidad publicadas, 53/53 unitarias, datos de demo restablecidos.</a:t>
            </a:r>
            <a:endParaRPr lang="en-US" sz="1200" dirty="0"/>
          </a:p>
        </p:txBody>
      </p:sp>
      <p:sp>
        <p:nvSpPr>
          <p:cNvPr id="6" name="Shape 4"/>
          <p:cNvSpPr/>
          <p:nvPr/>
        </p:nvSpPr>
        <p:spPr>
          <a:xfrm>
            <a:off x="3246120" y="1051560"/>
            <a:ext cx="2606040" cy="1508760"/>
          </a:xfrm>
          <a:prstGeom prst="roundRect">
            <a:avLst>
              <a:gd name="adj" fmla="val 4848"/>
            </a:avLst>
          </a:prstGeom>
          <a:solidFill>
            <a:srgbClr val="EEF2F7"/>
          </a:solidFill>
          <a:ln w="12700">
            <a:solidFill>
              <a:srgbClr val="EEF2F7"/>
            </a:solidFill>
            <a:prstDash val="solid"/>
          </a:ln>
        </p:spPr>
        <p:txBody>
          <a:bodyPr/>
          <a:lstStyle/>
          <a:p>
            <a:endParaRPr lang="es-PE"/>
          </a:p>
        </p:txBody>
      </p:sp>
      <p:sp>
        <p:nvSpPr>
          <p:cNvPr id="7" name="Text 5"/>
          <p:cNvSpPr txBox="1"/>
          <p:nvPr/>
        </p:nvSpPr>
        <p:spPr>
          <a:xfrm>
            <a:off x="3429000" y="1143000"/>
            <a:ext cx="224028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Salida</a:t>
            </a:r>
            <a:endParaRPr lang="en-US" sz="1500" dirty="0"/>
          </a:p>
        </p:txBody>
      </p:sp>
      <p:sp>
        <p:nvSpPr>
          <p:cNvPr id="8" name="Text 6"/>
          <p:cNvSpPr txBox="1"/>
          <p:nvPr/>
        </p:nvSpPr>
        <p:spPr>
          <a:xfrm>
            <a:off x="3429000" y="1481328"/>
            <a:ext cx="2240280" cy="100584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 95 % de casos ejecutados, ≥ 90 % aprobados, 0 defectos críticos y altos abiertos.</a:t>
            </a:r>
            <a:endParaRPr lang="en-US" sz="1200" dirty="0"/>
          </a:p>
        </p:txBody>
      </p:sp>
      <p:sp>
        <p:nvSpPr>
          <p:cNvPr id="9" name="Shape 7"/>
          <p:cNvSpPr/>
          <p:nvPr/>
        </p:nvSpPr>
        <p:spPr>
          <a:xfrm>
            <a:off x="6035040" y="1051560"/>
            <a:ext cx="2606040" cy="1508760"/>
          </a:xfrm>
          <a:prstGeom prst="roundRect">
            <a:avLst>
              <a:gd name="adj" fmla="val 4848"/>
            </a:avLst>
          </a:prstGeom>
          <a:solidFill>
            <a:srgbClr val="FDE7E7"/>
          </a:solidFill>
          <a:ln w="12700">
            <a:solidFill>
              <a:srgbClr val="FDE7E7"/>
            </a:solidFill>
            <a:prstDash val="solid"/>
          </a:ln>
        </p:spPr>
        <p:txBody>
          <a:bodyPr/>
          <a:lstStyle/>
          <a:p>
            <a:endParaRPr lang="es-PE"/>
          </a:p>
        </p:txBody>
      </p:sp>
      <p:sp>
        <p:nvSpPr>
          <p:cNvPr id="10" name="Text 8"/>
          <p:cNvSpPr txBox="1"/>
          <p:nvPr/>
        </p:nvSpPr>
        <p:spPr>
          <a:xfrm>
            <a:off x="6217920" y="1143000"/>
            <a:ext cx="2240280" cy="320040"/>
          </a:xfrm>
          <a:prstGeom prst="rect">
            <a:avLst/>
          </a:prstGeom>
          <a:noFill/>
          <a:ln/>
        </p:spPr>
        <p:txBody>
          <a:bodyPr wrap="square" lIns="0" tIns="0" rIns="0" bIns="0" rtlCol="0" anchor="ctr"/>
          <a:lstStyle/>
          <a:p>
            <a:pPr marL="0" indent="0">
              <a:buNone/>
            </a:pPr>
            <a:r>
              <a:rPr lang="en-US" sz="1500" b="1" dirty="0">
                <a:solidFill>
                  <a:srgbClr val="B42318"/>
                </a:solidFill>
                <a:latin typeface="Calibri" pitchFamily="34" charset="0"/>
                <a:ea typeface="Calibri" pitchFamily="34" charset="-122"/>
                <a:cs typeface="Calibri" pitchFamily="34" charset="-120"/>
              </a:rPr>
              <a:t>Suspensión</a:t>
            </a:r>
            <a:endParaRPr lang="en-US" sz="1500" dirty="0"/>
          </a:p>
        </p:txBody>
      </p:sp>
      <p:sp>
        <p:nvSpPr>
          <p:cNvPr id="11" name="Text 9"/>
          <p:cNvSpPr txBox="1"/>
          <p:nvPr/>
        </p:nvSpPr>
        <p:spPr>
          <a:xfrm>
            <a:off x="6217920" y="1481328"/>
            <a:ext cx="2240280" cy="1005840"/>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Defecto bloqueante en el flujo de compra o el login; se reanuda tras corregir y pasar la regresión.</a:t>
            </a:r>
            <a:endParaRPr lang="en-US" sz="1200" dirty="0"/>
          </a:p>
        </p:txBody>
      </p:sp>
      <p:sp>
        <p:nvSpPr>
          <p:cNvPr id="12" name="Shape 10"/>
          <p:cNvSpPr/>
          <p:nvPr/>
        </p:nvSpPr>
        <p:spPr>
          <a:xfrm>
            <a:off x="822960" y="3246120"/>
            <a:ext cx="7498080" cy="0"/>
          </a:xfrm>
          <a:prstGeom prst="line">
            <a:avLst/>
          </a:prstGeom>
          <a:noFill/>
          <a:ln w="25400">
            <a:solidFill>
              <a:srgbClr val="E4EAF2"/>
            </a:solidFill>
            <a:prstDash val="solid"/>
          </a:ln>
        </p:spPr>
        <p:txBody>
          <a:bodyPr/>
          <a:lstStyle/>
          <a:p>
            <a:endParaRPr lang="es-PE"/>
          </a:p>
        </p:txBody>
      </p:sp>
      <p:sp>
        <p:nvSpPr>
          <p:cNvPr id="13" name="Shape 11"/>
          <p:cNvSpPr/>
          <p:nvPr/>
        </p:nvSpPr>
        <p:spPr>
          <a:xfrm>
            <a:off x="114300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14" name="Text 12"/>
          <p:cNvSpPr txBox="1"/>
          <p:nvPr/>
        </p:nvSpPr>
        <p:spPr>
          <a:xfrm>
            <a:off x="114300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54864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12–16 oct.</a:t>
            </a:r>
            <a:endParaRPr lang="en-US" sz="1200" dirty="0"/>
          </a:p>
        </p:txBody>
      </p:sp>
      <p:sp>
        <p:nvSpPr>
          <p:cNvPr id="16" name="Text 14"/>
          <p:cNvSpPr txBox="1"/>
          <p:nvPr/>
        </p:nvSpPr>
        <p:spPr>
          <a:xfrm>
            <a:off x="54864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Diseño de casos</a:t>
            </a:r>
            <a:endParaRPr lang="en-US" sz="1100" dirty="0"/>
          </a:p>
        </p:txBody>
      </p:sp>
      <p:sp>
        <p:nvSpPr>
          <p:cNvPr id="17" name="Shape 15"/>
          <p:cNvSpPr/>
          <p:nvPr/>
        </p:nvSpPr>
        <p:spPr>
          <a:xfrm>
            <a:off x="292608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18" name="Text 16"/>
          <p:cNvSpPr txBox="1"/>
          <p:nvPr/>
        </p:nvSpPr>
        <p:spPr>
          <a:xfrm>
            <a:off x="292608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233172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19–23 oct.</a:t>
            </a:r>
            <a:endParaRPr lang="en-US" sz="1200" dirty="0"/>
          </a:p>
        </p:txBody>
      </p:sp>
      <p:sp>
        <p:nvSpPr>
          <p:cNvPr id="20" name="Text 18"/>
          <p:cNvSpPr txBox="1"/>
          <p:nvPr/>
        </p:nvSpPr>
        <p:spPr>
          <a:xfrm>
            <a:off x="233172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Pruebas de sistema</a:t>
            </a:r>
            <a:endParaRPr lang="en-US" sz="1100" dirty="0"/>
          </a:p>
        </p:txBody>
      </p:sp>
      <p:sp>
        <p:nvSpPr>
          <p:cNvPr id="21" name="Shape 19"/>
          <p:cNvSpPr/>
          <p:nvPr/>
        </p:nvSpPr>
        <p:spPr>
          <a:xfrm>
            <a:off x="470916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22" name="Text 20"/>
          <p:cNvSpPr txBox="1"/>
          <p:nvPr/>
        </p:nvSpPr>
        <p:spPr>
          <a:xfrm>
            <a:off x="470916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411480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26–30 oct.</a:t>
            </a:r>
            <a:endParaRPr lang="en-US" sz="1200" dirty="0"/>
          </a:p>
        </p:txBody>
      </p:sp>
      <p:sp>
        <p:nvSpPr>
          <p:cNvPr id="24" name="Text 22"/>
          <p:cNvSpPr txBox="1"/>
          <p:nvPr/>
        </p:nvSpPr>
        <p:spPr>
          <a:xfrm>
            <a:off x="411480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Corrección y regresión</a:t>
            </a:r>
            <a:endParaRPr lang="en-US" sz="1100" dirty="0"/>
          </a:p>
        </p:txBody>
      </p:sp>
      <p:sp>
        <p:nvSpPr>
          <p:cNvPr id="25" name="Shape 23"/>
          <p:cNvSpPr/>
          <p:nvPr/>
        </p:nvSpPr>
        <p:spPr>
          <a:xfrm>
            <a:off x="6492240" y="3063240"/>
            <a:ext cx="365760" cy="365760"/>
          </a:xfrm>
          <a:prstGeom prst="ellipse">
            <a:avLst/>
          </a:prstGeom>
          <a:solidFill>
            <a:srgbClr val="14213D"/>
          </a:solidFill>
          <a:ln w="12700">
            <a:solidFill>
              <a:srgbClr val="14213D"/>
            </a:solidFill>
            <a:prstDash val="solid"/>
          </a:ln>
        </p:spPr>
        <p:txBody>
          <a:bodyPr/>
          <a:lstStyle/>
          <a:p>
            <a:endParaRPr lang="es-PE"/>
          </a:p>
        </p:txBody>
      </p:sp>
      <p:sp>
        <p:nvSpPr>
          <p:cNvPr id="26" name="Text 24"/>
          <p:cNvSpPr txBox="1"/>
          <p:nvPr/>
        </p:nvSpPr>
        <p:spPr>
          <a:xfrm>
            <a:off x="6492240" y="3063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589788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26–30 oct.</a:t>
            </a:r>
            <a:endParaRPr lang="en-US" sz="1200" dirty="0"/>
          </a:p>
        </p:txBody>
      </p:sp>
      <p:sp>
        <p:nvSpPr>
          <p:cNvPr id="28" name="Text 26"/>
          <p:cNvSpPr txBox="1"/>
          <p:nvPr/>
        </p:nvSpPr>
        <p:spPr>
          <a:xfrm>
            <a:off x="589788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Prueba con usuarios</a:t>
            </a:r>
            <a:endParaRPr lang="en-US" sz="1100" dirty="0"/>
          </a:p>
        </p:txBody>
      </p:sp>
      <p:sp>
        <p:nvSpPr>
          <p:cNvPr id="29" name="Shape 27"/>
          <p:cNvSpPr/>
          <p:nvPr/>
        </p:nvSpPr>
        <p:spPr>
          <a:xfrm>
            <a:off x="8275320" y="3063240"/>
            <a:ext cx="365760" cy="365760"/>
          </a:xfrm>
          <a:prstGeom prst="ellipse">
            <a:avLst/>
          </a:prstGeom>
          <a:solidFill>
            <a:srgbClr val="FCA311"/>
          </a:solidFill>
          <a:ln w="12700">
            <a:solidFill>
              <a:srgbClr val="FCA311"/>
            </a:solidFill>
            <a:prstDash val="solid"/>
          </a:ln>
        </p:spPr>
        <p:txBody>
          <a:bodyPr/>
          <a:lstStyle/>
          <a:p>
            <a:endParaRPr lang="es-PE"/>
          </a:p>
        </p:txBody>
      </p:sp>
      <p:sp>
        <p:nvSpPr>
          <p:cNvPr id="30" name="Text 28"/>
          <p:cNvSpPr txBox="1"/>
          <p:nvPr/>
        </p:nvSpPr>
        <p:spPr>
          <a:xfrm>
            <a:off x="8275320" y="3063240"/>
            <a:ext cx="365760" cy="36576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7680960" y="3520440"/>
            <a:ext cx="1554480" cy="274320"/>
          </a:xfrm>
          <a:prstGeom prst="rect">
            <a:avLst/>
          </a:prstGeom>
          <a:noFill/>
          <a:ln/>
        </p:spPr>
        <p:txBody>
          <a:bodyPr wrap="square" lIns="0" tIns="0" rIns="0" bIns="0" rtlCol="0" anchor="ctr"/>
          <a:lstStyle/>
          <a:p>
            <a:pPr marL="0" indent="0" algn="ctr">
              <a:buNone/>
            </a:pPr>
            <a:r>
              <a:rPr lang="en-US" sz="1200" b="1" dirty="0">
                <a:solidFill>
                  <a:srgbClr val="14213D"/>
                </a:solidFill>
                <a:latin typeface="Calibri" pitchFamily="34" charset="0"/>
                <a:ea typeface="Calibri" pitchFamily="34" charset="-122"/>
                <a:cs typeface="Calibri" pitchFamily="34" charset="-120"/>
              </a:rPr>
              <a:t>2–3 nov.</a:t>
            </a:r>
            <a:endParaRPr lang="en-US" sz="1200" dirty="0"/>
          </a:p>
        </p:txBody>
      </p:sp>
      <p:sp>
        <p:nvSpPr>
          <p:cNvPr id="32" name="Text 30"/>
          <p:cNvSpPr txBox="1"/>
          <p:nvPr/>
        </p:nvSpPr>
        <p:spPr>
          <a:xfrm>
            <a:off x="7680960" y="3794760"/>
            <a:ext cx="1554480" cy="457200"/>
          </a:xfrm>
          <a:prstGeom prst="rect">
            <a:avLst/>
          </a:prstGeom>
          <a:noFill/>
          <a:ln/>
        </p:spPr>
        <p:txBody>
          <a:bodyPr wrap="square" lIns="0" tIns="0" rIns="0" bIns="0" rtlCol="0" anchor="t"/>
          <a:lstStyle/>
          <a:p>
            <a:pPr marL="0" indent="0" algn="ctr">
              <a:buNone/>
            </a:pPr>
            <a:r>
              <a:rPr lang="en-US" sz="1100" dirty="0">
                <a:solidFill>
                  <a:srgbClr val="4A5568"/>
                </a:solidFill>
                <a:latin typeface="Calibri" pitchFamily="34" charset="0"/>
                <a:ea typeface="Calibri" pitchFamily="34" charset="-122"/>
                <a:cs typeface="Calibri" pitchFamily="34" charset="-120"/>
              </a:rPr>
              <a:t>Informe y aprobación</a:t>
            </a:r>
            <a:endParaRPr lang="en-US" sz="1100" dirty="0"/>
          </a:p>
        </p:txBody>
      </p:sp>
      <p:sp>
        <p:nvSpPr>
          <p:cNvPr id="33"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Riesgos y criterios de aprobación</a:t>
            </a:r>
            <a:endParaRPr lang="en-US" sz="2600" dirty="0"/>
          </a:p>
        </p:txBody>
      </p:sp>
      <p:sp>
        <p:nvSpPr>
          <p:cNvPr id="3" name="Shape 1"/>
          <p:cNvSpPr/>
          <p:nvPr/>
        </p:nvSpPr>
        <p:spPr>
          <a:xfrm>
            <a:off x="457200" y="105156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4" name="Text 2"/>
          <p:cNvSpPr txBox="1"/>
          <p:nvPr/>
        </p:nvSpPr>
        <p:spPr>
          <a:xfrm>
            <a:off x="594360" y="105156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Datos de localStorage alterados</a:t>
            </a:r>
            <a:endParaRPr lang="en-US" sz="1200" dirty="0"/>
          </a:p>
        </p:txBody>
      </p:sp>
      <p:sp>
        <p:nvSpPr>
          <p:cNvPr id="5" name="Text 3"/>
          <p:cNvSpPr txBox="1"/>
          <p:nvPr/>
        </p:nvSpPr>
        <p:spPr>
          <a:xfrm>
            <a:off x="3017520" y="105156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6" name="Shape 4"/>
          <p:cNvSpPr/>
          <p:nvPr/>
        </p:nvSpPr>
        <p:spPr>
          <a:xfrm>
            <a:off x="3337560" y="105156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7" name="Text 5"/>
          <p:cNvSpPr txBox="1"/>
          <p:nvPr/>
        </p:nvSpPr>
        <p:spPr>
          <a:xfrm>
            <a:off x="3474720" y="105156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Restablecer datos de demo antes de cada ciclo</a:t>
            </a:r>
            <a:endParaRPr lang="en-US" sz="1200" dirty="0"/>
          </a:p>
        </p:txBody>
      </p:sp>
      <p:sp>
        <p:nvSpPr>
          <p:cNvPr id="8" name="Shape 6"/>
          <p:cNvSpPr/>
          <p:nvPr/>
        </p:nvSpPr>
        <p:spPr>
          <a:xfrm>
            <a:off x="457200" y="187452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9" name="Text 7"/>
          <p:cNvSpPr txBox="1"/>
          <p:nvPr/>
        </p:nvSpPr>
        <p:spPr>
          <a:xfrm>
            <a:off x="594360" y="187452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Pocos participantes en la prueba con usuarios</a:t>
            </a:r>
            <a:endParaRPr lang="en-US" sz="1200" dirty="0"/>
          </a:p>
        </p:txBody>
      </p:sp>
      <p:sp>
        <p:nvSpPr>
          <p:cNvPr id="10" name="Text 8"/>
          <p:cNvSpPr txBox="1"/>
          <p:nvPr/>
        </p:nvSpPr>
        <p:spPr>
          <a:xfrm>
            <a:off x="3017520" y="187452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3337560" y="187452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12" name="Text 10"/>
          <p:cNvSpPr txBox="1"/>
          <p:nvPr/>
        </p:nvSpPr>
        <p:spPr>
          <a:xfrm>
            <a:off x="3474720" y="187452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Enlace por WhatsApp: 10 min desde el celular (mín. 5)</a:t>
            </a:r>
            <a:endParaRPr lang="en-US" sz="1200" dirty="0"/>
          </a:p>
        </p:txBody>
      </p:sp>
      <p:sp>
        <p:nvSpPr>
          <p:cNvPr id="13" name="Shape 11"/>
          <p:cNvSpPr/>
          <p:nvPr/>
        </p:nvSpPr>
        <p:spPr>
          <a:xfrm>
            <a:off x="457200" y="269748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14" name="Text 12"/>
          <p:cNvSpPr txBox="1"/>
          <p:nvPr/>
        </p:nvSpPr>
        <p:spPr>
          <a:xfrm>
            <a:off x="594360" y="269748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El timeout de 15 min consume tiempo</a:t>
            </a:r>
            <a:endParaRPr lang="en-US" sz="1200" dirty="0"/>
          </a:p>
        </p:txBody>
      </p:sp>
      <p:sp>
        <p:nvSpPr>
          <p:cNvPr id="15" name="Text 13"/>
          <p:cNvSpPr txBox="1"/>
          <p:nvPr/>
        </p:nvSpPr>
        <p:spPr>
          <a:xfrm>
            <a:off x="3017520" y="269748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3337560" y="269748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17" name="Text 15"/>
          <p:cNvSpPr txBox="1"/>
          <p:nvPr/>
        </p:nvSpPr>
        <p:spPr>
          <a:xfrm>
            <a:off x="3474720" y="269748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Reducir el tiempo desde la consola solo en pruebas</a:t>
            </a:r>
            <a:endParaRPr lang="en-US" sz="1200" dirty="0"/>
          </a:p>
        </p:txBody>
      </p:sp>
      <p:sp>
        <p:nvSpPr>
          <p:cNvPr id="18" name="Shape 16"/>
          <p:cNvSpPr/>
          <p:nvPr/>
        </p:nvSpPr>
        <p:spPr>
          <a:xfrm>
            <a:off x="457200" y="3520440"/>
            <a:ext cx="2560320" cy="685800"/>
          </a:xfrm>
          <a:prstGeom prst="roundRect">
            <a:avLst>
              <a:gd name="adj" fmla="val 10667"/>
            </a:avLst>
          </a:prstGeom>
          <a:solidFill>
            <a:srgbClr val="FDE7E7"/>
          </a:solidFill>
          <a:ln w="12700">
            <a:solidFill>
              <a:srgbClr val="FDE7E7"/>
            </a:solidFill>
            <a:prstDash val="solid"/>
          </a:ln>
        </p:spPr>
        <p:txBody>
          <a:bodyPr/>
          <a:lstStyle/>
          <a:p>
            <a:endParaRPr lang="es-PE"/>
          </a:p>
        </p:txBody>
      </p:sp>
      <p:sp>
        <p:nvSpPr>
          <p:cNvPr id="19" name="Text 17"/>
          <p:cNvSpPr txBox="1"/>
          <p:nvPr/>
        </p:nvSpPr>
        <p:spPr>
          <a:xfrm>
            <a:off x="594360" y="3520440"/>
            <a:ext cx="2331720" cy="685800"/>
          </a:xfrm>
          <a:prstGeom prst="rect">
            <a:avLst/>
          </a:prstGeom>
          <a:noFill/>
          <a:ln/>
        </p:spPr>
        <p:txBody>
          <a:bodyPr wrap="square" lIns="0" tIns="0" rIns="0" bIns="0" rtlCol="0" anchor="ctr"/>
          <a:lstStyle/>
          <a:p>
            <a:pPr marL="0" indent="0">
              <a:buNone/>
            </a:pPr>
            <a:r>
              <a:rPr lang="en-US" sz="1200" b="1" dirty="0">
                <a:solidFill>
                  <a:srgbClr val="7A1F1F"/>
                </a:solidFill>
                <a:latin typeface="Calibri" pitchFamily="34" charset="0"/>
                <a:ea typeface="Calibri" pitchFamily="34" charset="-122"/>
                <a:cs typeface="Calibri" pitchFamily="34" charset="-120"/>
              </a:rPr>
              <a:t>«Restablecer» no desbloquea la cuenta</a:t>
            </a:r>
            <a:endParaRPr lang="en-US" sz="1200" dirty="0"/>
          </a:p>
        </p:txBody>
      </p:sp>
      <p:sp>
        <p:nvSpPr>
          <p:cNvPr id="20" name="Text 18"/>
          <p:cNvSpPr txBox="1"/>
          <p:nvPr/>
        </p:nvSpPr>
        <p:spPr>
          <a:xfrm>
            <a:off x="3017520" y="3520440"/>
            <a:ext cx="320040" cy="685800"/>
          </a:xfrm>
          <a:prstGeom prst="rect">
            <a:avLst/>
          </a:prstGeom>
          <a:noFill/>
          <a:ln/>
        </p:spPr>
        <p:txBody>
          <a:bodyPr wrap="square" lIns="0" tIns="0" rIns="0" bIns="0" rtlCol="0" anchor="ctr"/>
          <a:lstStyle/>
          <a:p>
            <a:pPr marL="0" indent="0" algn="ctr">
              <a:buNone/>
            </a:pPr>
            <a:r>
              <a:rPr lang="en-US" sz="1800" b="1" dirty="0">
                <a:solidFill>
                  <a:srgbClr val="FCA311"/>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3337560" y="3520440"/>
            <a:ext cx="2514600" cy="685800"/>
          </a:xfrm>
          <a:prstGeom prst="roundRect">
            <a:avLst>
              <a:gd name="adj" fmla="val 10667"/>
            </a:avLst>
          </a:prstGeom>
          <a:solidFill>
            <a:srgbClr val="E6F4EA"/>
          </a:solidFill>
          <a:ln w="12700">
            <a:solidFill>
              <a:srgbClr val="E6F4EA"/>
            </a:solidFill>
            <a:prstDash val="solid"/>
          </a:ln>
        </p:spPr>
        <p:txBody>
          <a:bodyPr/>
          <a:lstStyle/>
          <a:p>
            <a:endParaRPr lang="es-PE"/>
          </a:p>
        </p:txBody>
      </p:sp>
      <p:sp>
        <p:nvSpPr>
          <p:cNvPr id="22" name="Text 20"/>
          <p:cNvSpPr txBox="1"/>
          <p:nvPr/>
        </p:nvSpPr>
        <p:spPr>
          <a:xfrm>
            <a:off x="3474720" y="3520440"/>
            <a:ext cx="2286000" cy="685800"/>
          </a:xfrm>
          <a:prstGeom prst="rect">
            <a:avLst/>
          </a:prstGeom>
          <a:noFill/>
          <a:ln/>
        </p:spPr>
        <p:txBody>
          <a:bodyPr wrap="square" lIns="0" tIns="0" rIns="0" bIns="0" rtlCol="0" anchor="ctr"/>
          <a:lstStyle/>
          <a:p>
            <a:pPr marL="0" indent="0">
              <a:buNone/>
            </a:pPr>
            <a:r>
              <a:rPr lang="en-US" sz="1200" dirty="0">
                <a:solidFill>
                  <a:srgbClr val="1E4620"/>
                </a:solidFill>
                <a:latin typeface="Calibri" pitchFamily="34" charset="0"/>
                <a:ea typeface="Calibri" pitchFamily="34" charset="-122"/>
                <a:cs typeface="Calibri" pitchFamily="34" charset="-120"/>
              </a:rPr>
              <a:t>Ejecutar CP055 al final; registrado como defecto D-01</a:t>
            </a:r>
            <a:endParaRPr lang="en-US" sz="1200" dirty="0"/>
          </a:p>
        </p:txBody>
      </p:sp>
      <p:sp>
        <p:nvSpPr>
          <p:cNvPr id="23" name="Shape 21"/>
          <p:cNvSpPr/>
          <p:nvPr/>
        </p:nvSpPr>
        <p:spPr>
          <a:xfrm>
            <a:off x="6126480" y="1051560"/>
            <a:ext cx="2560320" cy="3154680"/>
          </a:xfrm>
          <a:prstGeom prst="roundRect">
            <a:avLst>
              <a:gd name="adj" fmla="val 2857"/>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309360" y="1188720"/>
            <a:ext cx="219456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Se aprueba si…</a:t>
            </a:r>
            <a:endParaRPr lang="en-US" sz="1600" dirty="0"/>
          </a:p>
        </p:txBody>
      </p:sp>
      <p:sp>
        <p:nvSpPr>
          <p:cNvPr id="25" name="Text 23"/>
          <p:cNvSpPr txBox="1"/>
          <p:nvPr/>
        </p:nvSpPr>
        <p:spPr>
          <a:xfrm>
            <a:off x="6309360" y="1645920"/>
            <a:ext cx="2240280" cy="2468880"/>
          </a:xfrm>
          <a:prstGeom prst="rect">
            <a:avLst/>
          </a:prstGeom>
          <a:noFill/>
          <a:ln/>
        </p:spPr>
        <p:txBody>
          <a:bodyPr wrap="square" lIns="0" tIns="0" rIns="0" bIns="0" rtlCol="0" anchor="t"/>
          <a:lstStyle/>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Cumple los criterios de salida</a:t>
            </a:r>
            <a:endParaRPr lang="en-US" sz="1300" dirty="0"/>
          </a:p>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Defectos críticos y altos corregidos y verificados</a:t>
            </a:r>
            <a:endParaRPr lang="en-US" sz="1300" dirty="0"/>
          </a:p>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Prueba con usuarios (T1–T5): éxito ≥ 80 % y SUS ≥ 68</a:t>
            </a:r>
            <a:endParaRPr lang="en-US" sz="1300" dirty="0"/>
          </a:p>
          <a:p>
            <a:pPr marL="152400" indent="-1524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Informe firmado por QA y docente</a:t>
            </a:r>
            <a:endParaRPr lang="en-US" sz="13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1737360"/>
            <a:ext cx="5486400" cy="548640"/>
          </a:xfrm>
          <a:prstGeom prst="rect">
            <a:avLst/>
          </a:prstGeom>
          <a:noFill/>
          <a:ln/>
        </p:spPr>
        <p:txBody>
          <a:bodyPr wrap="square" lIns="0" tIns="0" rIns="0" bIns="0" rtlCol="0" anchor="ctr"/>
          <a:lstStyle/>
          <a:p>
            <a:pPr marL="0" indent="0">
              <a:buNone/>
            </a:pPr>
            <a:r>
              <a:rPr lang="en-US" sz="2400" b="1" kern="0" spc="300" dirty="0">
                <a:solidFill>
                  <a:srgbClr val="FCA311"/>
                </a:solidFill>
                <a:latin typeface="Calibri" pitchFamily="34" charset="0"/>
                <a:ea typeface="Calibri" pitchFamily="34" charset="-122"/>
                <a:cs typeface="Calibri" pitchFamily="34" charset="-120"/>
              </a:rPr>
              <a:t>PARTE IV</a:t>
            </a:r>
            <a:endParaRPr lang="en-US" sz="2400" dirty="0"/>
          </a:p>
        </p:txBody>
      </p:sp>
      <p:sp>
        <p:nvSpPr>
          <p:cNvPr id="3" name="Text 1"/>
          <p:cNvSpPr txBox="1"/>
          <p:nvPr/>
        </p:nvSpPr>
        <p:spPr>
          <a:xfrm>
            <a:off x="731520" y="2423160"/>
            <a:ext cx="768096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Plan de Calidad</a:t>
            </a:r>
            <a:endParaRPr lang="en-US" sz="3600" dirty="0"/>
          </a:p>
        </p:txBody>
      </p:sp>
      <p:sp>
        <p:nvSpPr>
          <p:cNvPr id="4" name="Text 2"/>
          <p:cNvSpPr txBox="1"/>
          <p:nvPr/>
        </p:nvSpPr>
        <p:spPr>
          <a:xfrm>
            <a:off x="731520" y="3154680"/>
            <a:ext cx="7680960" cy="45720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Normas, métricas con línea base medida, defectos y aceptación</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Normas, roles y estrategias de aseguramiento</a:t>
            </a:r>
            <a:endParaRPr lang="en-US" sz="2600" dirty="0"/>
          </a:p>
        </p:txBody>
      </p:sp>
      <p:sp>
        <p:nvSpPr>
          <p:cNvPr id="3" name="Text 1"/>
          <p:cNvSpPr txBox="1"/>
          <p:nvPr/>
        </p:nvSpPr>
        <p:spPr>
          <a:xfrm>
            <a:off x="457200" y="1005840"/>
            <a:ext cx="39319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Normas y estándares</a:t>
            </a:r>
            <a:endParaRPr lang="en-US" sz="1500" dirty="0"/>
          </a:p>
        </p:txBody>
      </p:sp>
      <p:sp>
        <p:nvSpPr>
          <p:cNvPr id="4" name="Text 2"/>
          <p:cNvSpPr txBox="1"/>
          <p:nvPr/>
        </p:nvSpPr>
        <p:spPr>
          <a:xfrm>
            <a:off x="457200" y="137160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ISO 9001</a:t>
            </a:r>
            <a:endParaRPr lang="en-US" sz="1200" dirty="0"/>
          </a:p>
        </p:txBody>
      </p:sp>
      <p:sp>
        <p:nvSpPr>
          <p:cNvPr id="5" name="Text 3"/>
          <p:cNvSpPr txBox="1"/>
          <p:nvPr/>
        </p:nvSpPr>
        <p:spPr>
          <a:xfrm>
            <a:off x="2057400" y="137160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Ciclo PHVA en cada entrega</a:t>
            </a:r>
            <a:endParaRPr lang="en-US" sz="1200" dirty="0"/>
          </a:p>
        </p:txBody>
      </p:sp>
      <p:sp>
        <p:nvSpPr>
          <p:cNvPr id="6" name="Text 4"/>
          <p:cNvSpPr txBox="1"/>
          <p:nvPr/>
        </p:nvSpPr>
        <p:spPr>
          <a:xfrm>
            <a:off x="457200" y="187452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ISO/IEC 25010</a:t>
            </a:r>
            <a:endParaRPr lang="en-US" sz="1200" dirty="0"/>
          </a:p>
        </p:txBody>
      </p:sp>
      <p:sp>
        <p:nvSpPr>
          <p:cNvPr id="7" name="Text 5"/>
          <p:cNvSpPr txBox="1"/>
          <p:nvPr/>
        </p:nvSpPr>
        <p:spPr>
          <a:xfrm>
            <a:off x="2057400" y="187452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Modelo de calidad del producto</a:t>
            </a:r>
            <a:endParaRPr lang="en-US" sz="1200" dirty="0"/>
          </a:p>
        </p:txBody>
      </p:sp>
      <p:sp>
        <p:nvSpPr>
          <p:cNvPr id="8" name="Text 6"/>
          <p:cNvSpPr txBox="1"/>
          <p:nvPr/>
        </p:nvSpPr>
        <p:spPr>
          <a:xfrm>
            <a:off x="457200" y="237744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IEEE 730</a:t>
            </a:r>
            <a:endParaRPr lang="en-US" sz="1200" dirty="0"/>
          </a:p>
        </p:txBody>
      </p:sp>
      <p:sp>
        <p:nvSpPr>
          <p:cNvPr id="9" name="Text 7"/>
          <p:cNvSpPr txBox="1"/>
          <p:nvPr/>
        </p:nvSpPr>
        <p:spPr>
          <a:xfrm>
            <a:off x="2057400" y="237744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Estructura del plan de calidad</a:t>
            </a:r>
            <a:endParaRPr lang="en-US" sz="1200" dirty="0"/>
          </a:p>
        </p:txBody>
      </p:sp>
      <p:sp>
        <p:nvSpPr>
          <p:cNvPr id="10" name="Text 8"/>
          <p:cNvSpPr txBox="1"/>
          <p:nvPr/>
        </p:nvSpPr>
        <p:spPr>
          <a:xfrm>
            <a:off x="457200" y="288036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ISO/IEC/IEEE 29119</a:t>
            </a:r>
            <a:endParaRPr lang="en-US" sz="1200" dirty="0"/>
          </a:p>
        </p:txBody>
      </p:sp>
      <p:sp>
        <p:nvSpPr>
          <p:cNvPr id="11" name="Text 9"/>
          <p:cNvSpPr txBox="1"/>
          <p:nvPr/>
        </p:nvSpPr>
        <p:spPr>
          <a:xfrm>
            <a:off x="2057400" y="288036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Plan y casos de prueba</a:t>
            </a:r>
            <a:endParaRPr lang="en-US" sz="1200" dirty="0"/>
          </a:p>
        </p:txBody>
      </p:sp>
      <p:sp>
        <p:nvSpPr>
          <p:cNvPr id="12" name="Text 10"/>
          <p:cNvSpPr txBox="1"/>
          <p:nvPr/>
        </p:nvSpPr>
        <p:spPr>
          <a:xfrm>
            <a:off x="457200" y="338328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WCAG 2.1 AA</a:t>
            </a:r>
            <a:endParaRPr lang="en-US" sz="1200" dirty="0"/>
          </a:p>
        </p:txBody>
      </p:sp>
      <p:sp>
        <p:nvSpPr>
          <p:cNvPr id="13" name="Text 11"/>
          <p:cNvSpPr txBox="1"/>
          <p:nvPr/>
        </p:nvSpPr>
        <p:spPr>
          <a:xfrm>
            <a:off x="2057400" y="338328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Accesibilidad (RNF03)</a:t>
            </a:r>
            <a:endParaRPr lang="en-US" sz="1200" dirty="0"/>
          </a:p>
        </p:txBody>
      </p:sp>
      <p:sp>
        <p:nvSpPr>
          <p:cNvPr id="14" name="Text 12"/>
          <p:cNvSpPr txBox="1"/>
          <p:nvPr/>
        </p:nvSpPr>
        <p:spPr>
          <a:xfrm>
            <a:off x="457200" y="3886200"/>
            <a:ext cx="1600200" cy="411480"/>
          </a:xfrm>
          <a:prstGeom prst="rect">
            <a:avLst/>
          </a:prstGeom>
          <a:noFill/>
          <a:ln/>
        </p:spPr>
        <p:txBody>
          <a:bodyPr wrap="square" lIns="0" tIns="0" rIns="0" bIns="0" rtlCol="0" anchor="ctr"/>
          <a:lstStyle/>
          <a:p>
            <a:pPr marL="0" indent="0">
              <a:buNone/>
            </a:pPr>
            <a:r>
              <a:rPr lang="en-US" sz="1200" b="1" dirty="0">
                <a:solidFill>
                  <a:srgbClr val="B7791F"/>
                </a:solidFill>
                <a:latin typeface="Calibri" pitchFamily="34" charset="0"/>
                <a:ea typeface="Calibri" pitchFamily="34" charset="-122"/>
                <a:cs typeface="Calibri" pitchFamily="34" charset="-120"/>
              </a:rPr>
              <a:t>Ley N.° 29733</a:t>
            </a:r>
            <a:endParaRPr lang="en-US" sz="1200" dirty="0"/>
          </a:p>
        </p:txBody>
      </p:sp>
      <p:sp>
        <p:nvSpPr>
          <p:cNvPr id="15" name="Text 13"/>
          <p:cNvSpPr txBox="1"/>
          <p:nvPr/>
        </p:nvSpPr>
        <p:spPr>
          <a:xfrm>
            <a:off x="2057400" y="3886200"/>
            <a:ext cx="2377440" cy="41148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Datos personales (RNF05)</a:t>
            </a:r>
            <a:endParaRPr lang="en-US" sz="1200" dirty="0"/>
          </a:p>
        </p:txBody>
      </p:sp>
      <p:sp>
        <p:nvSpPr>
          <p:cNvPr id="16" name="Text 14"/>
          <p:cNvSpPr txBox="1"/>
          <p:nvPr/>
        </p:nvSpPr>
        <p:spPr>
          <a:xfrm>
            <a:off x="4754880" y="1005840"/>
            <a:ext cx="39319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Estrategias</a:t>
            </a:r>
            <a:endParaRPr lang="en-US" sz="1500" dirty="0"/>
          </a:p>
        </p:txBody>
      </p:sp>
      <p:sp>
        <p:nvSpPr>
          <p:cNvPr id="17" name="Shape 15"/>
          <p:cNvSpPr/>
          <p:nvPr/>
        </p:nvSpPr>
        <p:spPr>
          <a:xfrm>
            <a:off x="4754880" y="1371600"/>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18" name="Text 16"/>
          <p:cNvSpPr txBox="1"/>
          <p:nvPr/>
        </p:nvSpPr>
        <p:spPr>
          <a:xfrm>
            <a:off x="4892040" y="1417320"/>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Revisiones técnicas</a:t>
            </a:r>
            <a:endParaRPr lang="en-US" sz="1300" dirty="0"/>
          </a:p>
        </p:txBody>
      </p:sp>
      <p:sp>
        <p:nvSpPr>
          <p:cNvPr id="19" name="Text 17"/>
          <p:cNvSpPr txBox="1"/>
          <p:nvPr/>
        </p:nvSpPr>
        <p:spPr>
          <a:xfrm>
            <a:off x="4892040" y="1691640"/>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HU antes de codificar; documentos contra el código</a:t>
            </a:r>
            <a:endParaRPr lang="en-US" sz="1100" dirty="0"/>
          </a:p>
        </p:txBody>
      </p:sp>
      <p:sp>
        <p:nvSpPr>
          <p:cNvPr id="20" name="Shape 18"/>
          <p:cNvSpPr/>
          <p:nvPr/>
        </p:nvSpPr>
        <p:spPr>
          <a:xfrm>
            <a:off x="4754880" y="2130552"/>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21" name="Text 19"/>
          <p:cNvSpPr txBox="1"/>
          <p:nvPr/>
        </p:nvSpPr>
        <p:spPr>
          <a:xfrm>
            <a:off x="4892040" y="2176272"/>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Pruebas planificadas</a:t>
            </a:r>
            <a:endParaRPr lang="en-US" sz="1300" dirty="0"/>
          </a:p>
        </p:txBody>
      </p:sp>
      <p:sp>
        <p:nvSpPr>
          <p:cNvPr id="22" name="Text 20"/>
          <p:cNvSpPr txBox="1"/>
          <p:nvPr/>
        </p:nvSpPr>
        <p:spPr>
          <a:xfrm>
            <a:off x="4892040" y="2450592"/>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53 unitarias, 96 casos de sistema, prueba con usuarios y conformidad</a:t>
            </a:r>
            <a:endParaRPr lang="en-US" sz="1100" dirty="0"/>
          </a:p>
        </p:txBody>
      </p:sp>
      <p:sp>
        <p:nvSpPr>
          <p:cNvPr id="23" name="Shape 21"/>
          <p:cNvSpPr/>
          <p:nvPr/>
        </p:nvSpPr>
        <p:spPr>
          <a:xfrm>
            <a:off x="4754880" y="2889504"/>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24" name="Text 22"/>
          <p:cNvSpPr txBox="1"/>
          <p:nvPr/>
        </p:nvSpPr>
        <p:spPr>
          <a:xfrm>
            <a:off x="4892040" y="2935224"/>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Automatización</a:t>
            </a:r>
            <a:endParaRPr lang="en-US" sz="1300" dirty="0"/>
          </a:p>
        </p:txBody>
      </p:sp>
      <p:sp>
        <p:nvSpPr>
          <p:cNvPr id="25" name="Text 23"/>
          <p:cNvSpPr txBox="1"/>
          <p:nvPr/>
        </p:nvSpPr>
        <p:spPr>
          <a:xfrm>
            <a:off x="4892040" y="3209544"/>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Navegador automatizado y Lighthouse sobre la versión publicada</a:t>
            </a:r>
            <a:endParaRPr lang="en-US" sz="1100" dirty="0"/>
          </a:p>
        </p:txBody>
      </p:sp>
      <p:sp>
        <p:nvSpPr>
          <p:cNvPr id="26" name="Shape 24"/>
          <p:cNvSpPr/>
          <p:nvPr/>
        </p:nvSpPr>
        <p:spPr>
          <a:xfrm>
            <a:off x="4754880" y="3648456"/>
            <a:ext cx="3931920" cy="658368"/>
          </a:xfrm>
          <a:prstGeom prst="roundRect">
            <a:avLst>
              <a:gd name="adj" fmla="val 11111"/>
            </a:avLst>
          </a:prstGeom>
          <a:solidFill>
            <a:srgbClr val="EEF2F7"/>
          </a:solidFill>
          <a:ln w="12700">
            <a:solidFill>
              <a:srgbClr val="EEF2F7"/>
            </a:solidFill>
            <a:prstDash val="solid"/>
          </a:ln>
        </p:spPr>
        <p:txBody>
          <a:bodyPr/>
          <a:lstStyle/>
          <a:p>
            <a:endParaRPr lang="es-PE"/>
          </a:p>
        </p:txBody>
      </p:sp>
      <p:sp>
        <p:nvSpPr>
          <p:cNvPr id="27" name="Text 25"/>
          <p:cNvSpPr txBox="1"/>
          <p:nvPr/>
        </p:nvSpPr>
        <p:spPr>
          <a:xfrm>
            <a:off x="4892040" y="3694176"/>
            <a:ext cx="3657600" cy="27432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Control de cambios</a:t>
            </a:r>
            <a:endParaRPr lang="en-US" sz="1300" dirty="0"/>
          </a:p>
        </p:txBody>
      </p:sp>
      <p:sp>
        <p:nvSpPr>
          <p:cNvPr id="28" name="Text 26"/>
          <p:cNvSpPr txBox="1"/>
          <p:nvPr/>
        </p:nvSpPr>
        <p:spPr>
          <a:xfrm>
            <a:off x="4892040" y="3968496"/>
            <a:ext cx="3657600" cy="292608"/>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Git/GitHub: cada cambio en js/ con sus pruebas</a:t>
            </a:r>
            <a:endParaRPr lang="en-US" sz="1100" dirty="0"/>
          </a:p>
        </p:txBody>
      </p:sp>
      <p:sp>
        <p:nvSpPr>
          <p:cNvPr id="2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Métricas de calidad: línea base del 9/10/2026</a:t>
            </a:r>
            <a:endParaRPr lang="en-US" sz="2600" dirty="0"/>
          </a:p>
        </p:txBody>
      </p:sp>
      <p:sp>
        <p:nvSpPr>
          <p:cNvPr id="3" name="Shape 1"/>
          <p:cNvSpPr/>
          <p:nvPr/>
        </p:nvSpPr>
        <p:spPr>
          <a:xfrm>
            <a:off x="457200" y="1005840"/>
            <a:ext cx="2103120" cy="777240"/>
          </a:xfrm>
          <a:prstGeom prst="roundRect">
            <a:avLst>
              <a:gd name="adj" fmla="val 9412"/>
            </a:avLst>
          </a:prstGeom>
          <a:solidFill>
            <a:srgbClr val="E6F4EA"/>
          </a:solidFill>
          <a:ln w="12700">
            <a:solidFill>
              <a:srgbClr val="E6F4EA"/>
            </a:solidFill>
            <a:prstDash val="solid"/>
          </a:ln>
        </p:spPr>
        <p:txBody>
          <a:bodyPr/>
          <a:lstStyle/>
          <a:p>
            <a:endParaRPr lang="es-PE"/>
          </a:p>
        </p:txBody>
      </p:sp>
      <p:sp>
        <p:nvSpPr>
          <p:cNvPr id="4" name="Text 2"/>
          <p:cNvSpPr txBox="1"/>
          <p:nvPr/>
        </p:nvSpPr>
        <p:spPr>
          <a:xfrm>
            <a:off x="594360" y="1005840"/>
            <a:ext cx="640080" cy="777240"/>
          </a:xfrm>
          <a:prstGeom prst="rect">
            <a:avLst/>
          </a:prstGeom>
          <a:noFill/>
          <a:ln/>
        </p:spPr>
        <p:txBody>
          <a:bodyPr wrap="square" lIns="0" tIns="0" rIns="0" bIns="0" rtlCol="0" anchor="ctr"/>
          <a:lstStyle/>
          <a:p>
            <a:pPr marL="0" indent="0">
              <a:buNone/>
            </a:pPr>
            <a:r>
              <a:rPr lang="en-US" sz="3000" b="1" dirty="0">
                <a:solidFill>
                  <a:srgbClr val="2E7D32"/>
                </a:solidFill>
                <a:latin typeface="Calibri" pitchFamily="34" charset="0"/>
                <a:ea typeface="Calibri" pitchFamily="34" charset="-122"/>
                <a:cs typeface="Calibri" pitchFamily="34" charset="-120"/>
              </a:rPr>
              <a:t>9</a:t>
            </a:r>
            <a:endParaRPr lang="en-US" sz="3000" dirty="0"/>
          </a:p>
        </p:txBody>
      </p:sp>
      <p:sp>
        <p:nvSpPr>
          <p:cNvPr id="5" name="Text 3"/>
          <p:cNvSpPr txBox="1"/>
          <p:nvPr/>
        </p:nvSpPr>
        <p:spPr>
          <a:xfrm>
            <a:off x="1234440" y="1005840"/>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cumplen su meta</a:t>
            </a:r>
            <a:endParaRPr lang="en-US" sz="1200" dirty="0"/>
          </a:p>
        </p:txBody>
      </p:sp>
      <p:sp>
        <p:nvSpPr>
          <p:cNvPr id="6" name="Shape 4"/>
          <p:cNvSpPr/>
          <p:nvPr/>
        </p:nvSpPr>
        <p:spPr>
          <a:xfrm>
            <a:off x="457200" y="1901952"/>
            <a:ext cx="2103120" cy="777240"/>
          </a:xfrm>
          <a:prstGeom prst="roundRect">
            <a:avLst>
              <a:gd name="adj" fmla="val 9412"/>
            </a:avLst>
          </a:prstGeom>
          <a:solidFill>
            <a:srgbClr val="FFF4E0"/>
          </a:solidFill>
          <a:ln w="12700">
            <a:solidFill>
              <a:srgbClr val="FFF4E0"/>
            </a:solidFill>
            <a:prstDash val="solid"/>
          </a:ln>
        </p:spPr>
        <p:txBody>
          <a:bodyPr/>
          <a:lstStyle/>
          <a:p>
            <a:endParaRPr lang="es-PE"/>
          </a:p>
        </p:txBody>
      </p:sp>
      <p:sp>
        <p:nvSpPr>
          <p:cNvPr id="7" name="Text 5"/>
          <p:cNvSpPr txBox="1"/>
          <p:nvPr/>
        </p:nvSpPr>
        <p:spPr>
          <a:xfrm>
            <a:off x="594360" y="1901952"/>
            <a:ext cx="640080" cy="777240"/>
          </a:xfrm>
          <a:prstGeom prst="rect">
            <a:avLst/>
          </a:prstGeom>
          <a:noFill/>
          <a:ln/>
        </p:spPr>
        <p:txBody>
          <a:bodyPr wrap="square" lIns="0" tIns="0" rIns="0" bIns="0" rtlCol="0" anchor="ctr"/>
          <a:lstStyle/>
          <a:p>
            <a:pPr marL="0" indent="0">
              <a:buNone/>
            </a:pPr>
            <a:r>
              <a:rPr lang="en-US" sz="3000" b="1" dirty="0">
                <a:solidFill>
                  <a:srgbClr val="9A6700"/>
                </a:solidFill>
                <a:latin typeface="Calibri" pitchFamily="34" charset="0"/>
                <a:ea typeface="Calibri" pitchFamily="34" charset="-122"/>
                <a:cs typeface="Calibri" pitchFamily="34" charset="-120"/>
              </a:rPr>
              <a:t>1</a:t>
            </a:r>
            <a:endParaRPr lang="en-US" sz="3000" dirty="0"/>
          </a:p>
        </p:txBody>
      </p:sp>
      <p:sp>
        <p:nvSpPr>
          <p:cNvPr id="8" name="Text 6"/>
          <p:cNvSpPr txBox="1"/>
          <p:nvPr/>
        </p:nvSpPr>
        <p:spPr>
          <a:xfrm>
            <a:off x="1234440" y="1901952"/>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parcial</a:t>
            </a:r>
            <a:endParaRPr lang="en-US" sz="1200" dirty="0"/>
          </a:p>
        </p:txBody>
      </p:sp>
      <p:sp>
        <p:nvSpPr>
          <p:cNvPr id="9" name="Shape 7"/>
          <p:cNvSpPr/>
          <p:nvPr/>
        </p:nvSpPr>
        <p:spPr>
          <a:xfrm>
            <a:off x="457200" y="2798064"/>
            <a:ext cx="2103120" cy="777240"/>
          </a:xfrm>
          <a:prstGeom prst="roundRect">
            <a:avLst>
              <a:gd name="adj" fmla="val 9412"/>
            </a:avLst>
          </a:prstGeom>
          <a:solidFill>
            <a:srgbClr val="FFF4E0"/>
          </a:solidFill>
          <a:ln w="12700">
            <a:solidFill>
              <a:srgbClr val="FFF4E0"/>
            </a:solidFill>
            <a:prstDash val="solid"/>
          </a:ln>
        </p:spPr>
        <p:txBody>
          <a:bodyPr/>
          <a:lstStyle/>
          <a:p>
            <a:endParaRPr lang="es-PE"/>
          </a:p>
        </p:txBody>
      </p:sp>
      <p:sp>
        <p:nvSpPr>
          <p:cNvPr id="10" name="Text 8"/>
          <p:cNvSpPr txBox="1"/>
          <p:nvPr/>
        </p:nvSpPr>
        <p:spPr>
          <a:xfrm>
            <a:off x="594360" y="2798064"/>
            <a:ext cx="640080" cy="777240"/>
          </a:xfrm>
          <a:prstGeom prst="rect">
            <a:avLst/>
          </a:prstGeom>
          <a:noFill/>
          <a:ln/>
        </p:spPr>
        <p:txBody>
          <a:bodyPr wrap="square" lIns="0" tIns="0" rIns="0" bIns="0" rtlCol="0" anchor="ctr"/>
          <a:lstStyle/>
          <a:p>
            <a:pPr marL="0" indent="0">
              <a:buNone/>
            </a:pPr>
            <a:r>
              <a:rPr lang="en-US" sz="3000" b="1" dirty="0">
                <a:solidFill>
                  <a:srgbClr val="9A6700"/>
                </a:solidFill>
                <a:latin typeface="Calibri" pitchFamily="34" charset="0"/>
                <a:ea typeface="Calibri" pitchFamily="34" charset="-122"/>
                <a:cs typeface="Calibri" pitchFamily="34" charset="-120"/>
              </a:rPr>
              <a:t>4</a:t>
            </a:r>
            <a:endParaRPr lang="en-US" sz="3000" dirty="0"/>
          </a:p>
        </p:txBody>
      </p:sp>
      <p:sp>
        <p:nvSpPr>
          <p:cNvPr id="11" name="Text 9"/>
          <p:cNvSpPr txBox="1"/>
          <p:nvPr/>
        </p:nvSpPr>
        <p:spPr>
          <a:xfrm>
            <a:off x="1234440" y="2798064"/>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pendientes de medir</a:t>
            </a:r>
            <a:endParaRPr lang="en-US" sz="1200" dirty="0"/>
          </a:p>
        </p:txBody>
      </p:sp>
      <p:sp>
        <p:nvSpPr>
          <p:cNvPr id="12" name="Shape 10"/>
          <p:cNvSpPr/>
          <p:nvPr/>
        </p:nvSpPr>
        <p:spPr>
          <a:xfrm>
            <a:off x="457200" y="3694176"/>
            <a:ext cx="2103120" cy="777240"/>
          </a:xfrm>
          <a:prstGeom prst="roundRect">
            <a:avLst>
              <a:gd name="adj" fmla="val 9412"/>
            </a:avLst>
          </a:prstGeom>
          <a:solidFill>
            <a:srgbClr val="FDE7E7"/>
          </a:solidFill>
          <a:ln w="12700">
            <a:solidFill>
              <a:srgbClr val="FDE7E7"/>
            </a:solidFill>
            <a:prstDash val="solid"/>
          </a:ln>
        </p:spPr>
        <p:txBody>
          <a:bodyPr/>
          <a:lstStyle/>
          <a:p>
            <a:endParaRPr lang="es-PE"/>
          </a:p>
        </p:txBody>
      </p:sp>
      <p:sp>
        <p:nvSpPr>
          <p:cNvPr id="13" name="Text 11"/>
          <p:cNvSpPr txBox="1"/>
          <p:nvPr/>
        </p:nvSpPr>
        <p:spPr>
          <a:xfrm>
            <a:off x="594360" y="3694176"/>
            <a:ext cx="640080" cy="777240"/>
          </a:xfrm>
          <a:prstGeom prst="rect">
            <a:avLst/>
          </a:prstGeom>
          <a:noFill/>
          <a:ln/>
        </p:spPr>
        <p:txBody>
          <a:bodyPr wrap="square" lIns="0" tIns="0" rIns="0" bIns="0" rtlCol="0" anchor="ctr"/>
          <a:lstStyle/>
          <a:p>
            <a:pPr marL="0" indent="0">
              <a:buNone/>
            </a:pPr>
            <a:r>
              <a:rPr lang="en-US" sz="3000" b="1" dirty="0">
                <a:solidFill>
                  <a:srgbClr val="B42318"/>
                </a:solidFill>
                <a:latin typeface="Calibri" pitchFamily="34" charset="0"/>
                <a:ea typeface="Calibri" pitchFamily="34" charset="-122"/>
                <a:cs typeface="Calibri" pitchFamily="34" charset="-120"/>
              </a:rPr>
              <a:t>0</a:t>
            </a:r>
            <a:endParaRPr lang="en-US" sz="3000" dirty="0"/>
          </a:p>
        </p:txBody>
      </p:sp>
      <p:sp>
        <p:nvSpPr>
          <p:cNvPr id="14" name="Text 12"/>
          <p:cNvSpPr txBox="1"/>
          <p:nvPr/>
        </p:nvSpPr>
        <p:spPr>
          <a:xfrm>
            <a:off x="1234440" y="3694176"/>
            <a:ext cx="1280160" cy="777240"/>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por debajo de la meta</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789353482"/>
              </p:ext>
            </p:extLst>
          </p:nvPr>
        </p:nvGraphicFramePr>
        <p:xfrm>
          <a:off x="2788920" y="960120"/>
          <a:ext cx="5897880" cy="3593595"/>
        </p:xfrm>
        <a:graphic>
          <a:graphicData uri="http://schemas.openxmlformats.org/drawingml/2006/table">
            <a:tbl>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239573">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Métrica</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Meta</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Línea base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Estado</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Cumplimiento de requisitos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95 %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Falta ejecutar CP001–CP084</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9A6700"/>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01"/>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Exactitud de cálculos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 (6/6 + CC07)</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2"/>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Pruebas unitarias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53/53</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3"/>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Densidad de defectos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5/KLOC</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3.5/KLOC</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4"/>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Defectos críticos abiertos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5"/>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Tiempo de carga</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&lt; 2 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30–77 ms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6"/>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Navegadores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3 de 3</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2 de 3 (sin Firefox)</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9A6700"/>
                          </a:solidFill>
                          <a:latin typeface="Calibri" pitchFamily="34" charset="0"/>
                          <a:ea typeface="Calibri" pitchFamily="34" charset="-122"/>
                          <a:cs typeface="Calibri" pitchFamily="34" charset="-120"/>
                        </a:rPr>
                        <a:t>Parcial</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07"/>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Tasa de éxito (T1–T5)</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80 %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Herramienta lista; faltan usuarios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9A6700"/>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08"/>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Satisfacción SUS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68</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Herramienta lista; faltan usuarios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9A6700"/>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09"/>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Accesibilidad (Lighthouse)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 90</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95–100</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0"/>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Controles de seguridad</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5/5 (CC01–CC05)</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1"/>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Módulos con pruebas</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2"/>
                  </a:ext>
                </a:extLst>
              </a:tr>
              <a:tr h="239573">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Páginas sin scroll a 375 px</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100 %</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dirty="0">
                          <a:solidFill>
                            <a:srgbClr val="4A5568"/>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000" b="1" dirty="0">
                          <a:solidFill>
                            <a:srgbClr val="2E7D32"/>
                          </a:solidFill>
                          <a:latin typeface="Calibri" pitchFamily="34" charset="0"/>
                          <a:ea typeface="Calibri" pitchFamily="34" charset="-122"/>
                          <a:cs typeface="Calibri" pitchFamily="34" charset="-120"/>
                        </a:rPr>
                        <a:t>Cumple</a:t>
                      </a: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13"/>
                  </a:ext>
                </a:extLst>
              </a:tr>
              <a:tr h="239573">
                <a:tc>
                  <a:txBody>
                    <a:bodyPr/>
                    <a:lstStyle/>
                    <a:p>
                      <a:pPr marL="0" indent="0">
                        <a:buNone/>
                      </a:pP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endParaRPr lang="en-US" sz="1000" dirty="0">
                        <a:latin typeface="Calibri" charset="0"/>
                        <a:ea typeface="Calibri" charset="0"/>
                        <a:cs typeface="Calibri" charset="0"/>
                      </a:endParaRPr>
                    </a:p>
                  </a:txBody>
                  <a:tcPr marL="32004" marR="32004" marT="32004" marB="32004">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14"/>
                  </a:ext>
                </a:extLst>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Medición en las 11 páginas publicadas</a:t>
            </a:r>
            <a:endParaRPr lang="en-US" sz="2600" dirty="0"/>
          </a:p>
        </p:txBody>
      </p:sp>
      <p:graphicFrame>
        <p:nvGraphicFramePr>
          <p:cNvPr id="3" name="Chart 0"/>
          <p:cNvGraphicFramePr/>
          <p:nvPr/>
        </p:nvGraphicFramePr>
        <p:xfrm>
          <a:off x="365760" y="960120"/>
          <a:ext cx="566928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6309360" y="1005840"/>
            <a:ext cx="2377440" cy="1051560"/>
          </a:xfrm>
          <a:prstGeom prst="roundRect">
            <a:avLst>
              <a:gd name="adj" fmla="val 6957"/>
            </a:avLst>
          </a:prstGeom>
          <a:solidFill>
            <a:srgbClr val="EEF2F7"/>
          </a:solidFill>
          <a:ln w="12700">
            <a:solidFill>
              <a:srgbClr val="EEF2F7"/>
            </a:solidFill>
            <a:prstDash val="solid"/>
          </a:ln>
        </p:spPr>
        <p:txBody>
          <a:bodyPr/>
          <a:lstStyle/>
          <a:p>
            <a:endParaRPr lang="es-PE"/>
          </a:p>
        </p:txBody>
      </p:sp>
      <p:sp>
        <p:nvSpPr>
          <p:cNvPr id="5" name="Text 2"/>
          <p:cNvSpPr txBox="1"/>
          <p:nvPr/>
        </p:nvSpPr>
        <p:spPr>
          <a:xfrm>
            <a:off x="6446520" y="1078992"/>
            <a:ext cx="2103120" cy="502920"/>
          </a:xfrm>
          <a:prstGeom prst="rect">
            <a:avLst/>
          </a:prstGeom>
          <a:noFill/>
          <a:ln/>
        </p:spPr>
        <p:txBody>
          <a:bodyPr wrap="square" lIns="0" tIns="0" rIns="0" bIns="0" rtlCol="0" anchor="ctr"/>
          <a:lstStyle/>
          <a:p>
            <a:pPr marL="0" indent="0">
              <a:buNone/>
            </a:pPr>
            <a:r>
              <a:rPr lang="en-US" sz="2600" b="1" dirty="0">
                <a:solidFill>
                  <a:srgbClr val="14213D"/>
                </a:solidFill>
                <a:latin typeface="Calibri" pitchFamily="34" charset="0"/>
                <a:ea typeface="Calibri" pitchFamily="34" charset="-122"/>
                <a:cs typeface="Calibri" pitchFamily="34" charset="-120"/>
              </a:rPr>
              <a:t>77 ms</a:t>
            </a:r>
            <a:endParaRPr lang="en-US" sz="2600" dirty="0"/>
          </a:p>
        </p:txBody>
      </p:sp>
      <p:sp>
        <p:nvSpPr>
          <p:cNvPr id="6" name="Text 3"/>
          <p:cNvSpPr txBox="1"/>
          <p:nvPr/>
        </p:nvSpPr>
        <p:spPr>
          <a:xfrm>
            <a:off x="6446520" y="1581912"/>
            <a:ext cx="2103120" cy="41148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mediana de carga de la página más lenta (meta: &lt; 2 s)</a:t>
            </a:r>
            <a:endParaRPr lang="en-US" sz="1100" dirty="0"/>
          </a:p>
        </p:txBody>
      </p:sp>
      <p:sp>
        <p:nvSpPr>
          <p:cNvPr id="7" name="Shape 4"/>
          <p:cNvSpPr/>
          <p:nvPr/>
        </p:nvSpPr>
        <p:spPr>
          <a:xfrm>
            <a:off x="6309360" y="2194560"/>
            <a:ext cx="2377440" cy="1051560"/>
          </a:xfrm>
          <a:prstGeom prst="roundRect">
            <a:avLst>
              <a:gd name="adj" fmla="val 6957"/>
            </a:avLst>
          </a:prstGeom>
          <a:solidFill>
            <a:srgbClr val="EEF2F7"/>
          </a:solidFill>
          <a:ln w="12700">
            <a:solidFill>
              <a:srgbClr val="EEF2F7"/>
            </a:solidFill>
            <a:prstDash val="solid"/>
          </a:ln>
        </p:spPr>
        <p:txBody>
          <a:bodyPr/>
          <a:lstStyle/>
          <a:p>
            <a:endParaRPr lang="es-PE"/>
          </a:p>
        </p:txBody>
      </p:sp>
      <p:sp>
        <p:nvSpPr>
          <p:cNvPr id="8" name="Text 5"/>
          <p:cNvSpPr txBox="1"/>
          <p:nvPr/>
        </p:nvSpPr>
        <p:spPr>
          <a:xfrm>
            <a:off x="6446520" y="2267712"/>
            <a:ext cx="2103120" cy="502920"/>
          </a:xfrm>
          <a:prstGeom prst="rect">
            <a:avLst/>
          </a:prstGeom>
          <a:noFill/>
          <a:ln/>
        </p:spPr>
        <p:txBody>
          <a:bodyPr wrap="square" lIns="0" tIns="0" rIns="0" bIns="0" rtlCol="0" anchor="ctr"/>
          <a:lstStyle/>
          <a:p>
            <a:pPr marL="0" indent="0">
              <a:buNone/>
            </a:pPr>
            <a:r>
              <a:rPr lang="en-US" sz="2600" b="1" dirty="0">
                <a:solidFill>
                  <a:srgbClr val="14213D"/>
                </a:solidFill>
                <a:latin typeface="Calibri" pitchFamily="34" charset="0"/>
                <a:ea typeface="Calibri" pitchFamily="34" charset="-122"/>
                <a:cs typeface="Calibri" pitchFamily="34" charset="-120"/>
              </a:rPr>
              <a:t>95+</a:t>
            </a:r>
            <a:endParaRPr lang="en-US" sz="2600" dirty="0"/>
          </a:p>
        </p:txBody>
      </p:sp>
      <p:sp>
        <p:nvSpPr>
          <p:cNvPr id="9" name="Text 6"/>
          <p:cNvSpPr txBox="1"/>
          <p:nvPr/>
        </p:nvSpPr>
        <p:spPr>
          <a:xfrm>
            <a:off x="6446520" y="2770632"/>
            <a:ext cx="2103120" cy="41148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accesibilidad en todas las páginas (meta ≥ 90)</a:t>
            </a:r>
            <a:endParaRPr lang="en-US" sz="1100" dirty="0"/>
          </a:p>
        </p:txBody>
      </p:sp>
      <p:sp>
        <p:nvSpPr>
          <p:cNvPr id="10" name="Shape 7"/>
          <p:cNvSpPr/>
          <p:nvPr/>
        </p:nvSpPr>
        <p:spPr>
          <a:xfrm>
            <a:off x="6309360" y="3383280"/>
            <a:ext cx="2377440" cy="1051560"/>
          </a:xfrm>
          <a:prstGeom prst="roundRect">
            <a:avLst>
              <a:gd name="adj" fmla="val 6957"/>
            </a:avLst>
          </a:prstGeom>
          <a:solidFill>
            <a:srgbClr val="EEF2F7"/>
          </a:solidFill>
          <a:ln w="12700">
            <a:solidFill>
              <a:srgbClr val="EEF2F7"/>
            </a:solidFill>
            <a:prstDash val="solid"/>
          </a:ln>
        </p:spPr>
        <p:txBody>
          <a:bodyPr/>
          <a:lstStyle/>
          <a:p>
            <a:endParaRPr lang="es-PE"/>
          </a:p>
        </p:txBody>
      </p:sp>
      <p:sp>
        <p:nvSpPr>
          <p:cNvPr id="11" name="Text 8"/>
          <p:cNvSpPr txBox="1"/>
          <p:nvPr/>
        </p:nvSpPr>
        <p:spPr>
          <a:xfrm>
            <a:off x="6446520" y="3456432"/>
            <a:ext cx="2103120" cy="502920"/>
          </a:xfrm>
          <a:prstGeom prst="rect">
            <a:avLst/>
          </a:prstGeom>
          <a:noFill/>
          <a:ln/>
        </p:spPr>
        <p:txBody>
          <a:bodyPr wrap="square" lIns="0" tIns="0" rIns="0" bIns="0" rtlCol="0" anchor="ctr"/>
          <a:lstStyle/>
          <a:p>
            <a:pPr marL="0" indent="0">
              <a:buNone/>
            </a:pPr>
            <a:r>
              <a:rPr lang="en-US" sz="2600" b="1" dirty="0">
                <a:solidFill>
                  <a:srgbClr val="14213D"/>
                </a:solidFill>
                <a:latin typeface="Calibri" pitchFamily="34" charset="0"/>
                <a:ea typeface="Calibri" pitchFamily="34" charset="-122"/>
                <a:cs typeface="Calibri" pitchFamily="34" charset="-120"/>
              </a:rPr>
              <a:t>11/11</a:t>
            </a:r>
            <a:endParaRPr lang="en-US" sz="2600" dirty="0"/>
          </a:p>
        </p:txBody>
      </p:sp>
      <p:sp>
        <p:nvSpPr>
          <p:cNvPr id="12" name="Text 9"/>
          <p:cNvSpPr txBox="1"/>
          <p:nvPr/>
        </p:nvSpPr>
        <p:spPr>
          <a:xfrm>
            <a:off x="6446520" y="3959352"/>
            <a:ext cx="2103120" cy="41148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páginas sin scroll horizontal a 375 y 1920 px</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Defectos encontrados y estado de la aceptación</a:t>
            </a:r>
            <a:endParaRPr lang="en-US" sz="2600" dirty="0"/>
          </a:p>
        </p:txBody>
      </p:sp>
      <p:sp>
        <p:nvSpPr>
          <p:cNvPr id="3" name="Shape 1"/>
          <p:cNvSpPr/>
          <p:nvPr/>
        </p:nvSpPr>
        <p:spPr>
          <a:xfrm>
            <a:off x="457200" y="1051560"/>
            <a:ext cx="4206240" cy="896112"/>
          </a:xfrm>
          <a:prstGeom prst="roundRect">
            <a:avLst>
              <a:gd name="adj" fmla="val 8163"/>
            </a:avLst>
          </a:prstGeom>
          <a:solidFill>
            <a:srgbClr val="EEF2F7"/>
          </a:solidFill>
          <a:ln w="12700">
            <a:solidFill>
              <a:srgbClr val="EEF2F7"/>
            </a:solidFill>
            <a:prstDash val="solid"/>
          </a:ln>
        </p:spPr>
        <p:txBody>
          <a:bodyPr/>
          <a:lstStyle/>
          <a:p>
            <a:endParaRPr lang="es-PE"/>
          </a:p>
        </p:txBody>
      </p:sp>
      <p:sp>
        <p:nvSpPr>
          <p:cNvPr id="4" name="Text 2"/>
          <p:cNvSpPr txBox="1"/>
          <p:nvPr/>
        </p:nvSpPr>
        <p:spPr>
          <a:xfrm>
            <a:off x="594360" y="1124712"/>
            <a:ext cx="7315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D-01</a:t>
            </a:r>
            <a:endParaRPr lang="en-US" sz="1500" dirty="0"/>
          </a:p>
        </p:txBody>
      </p:sp>
      <p:sp>
        <p:nvSpPr>
          <p:cNvPr id="5" name="Text 3"/>
          <p:cNvSpPr txBox="1"/>
          <p:nvPr/>
        </p:nvSpPr>
        <p:spPr>
          <a:xfrm>
            <a:off x="3657600" y="1124712"/>
            <a:ext cx="868680" cy="320040"/>
          </a:xfrm>
          <a:prstGeom prst="rect">
            <a:avLst/>
          </a:prstGeom>
          <a:noFill/>
          <a:ln/>
        </p:spPr>
        <p:txBody>
          <a:bodyPr wrap="square" lIns="0" tIns="0" rIns="0" bIns="0" rtlCol="0" anchor="ctr"/>
          <a:lstStyle/>
          <a:p>
            <a:pPr marL="0" indent="0" algn="r">
              <a:buNone/>
            </a:pPr>
            <a:r>
              <a:rPr lang="en-US" sz="1100" b="1" dirty="0">
                <a:solidFill>
                  <a:srgbClr val="9A6700"/>
                </a:solidFill>
                <a:latin typeface="Calibri" pitchFamily="34" charset="0"/>
                <a:ea typeface="Calibri" pitchFamily="34" charset="-122"/>
                <a:cs typeface="Calibri" pitchFamily="34" charset="-120"/>
              </a:rPr>
              <a:t>Media</a:t>
            </a:r>
            <a:endParaRPr lang="en-US" sz="1100" dirty="0"/>
          </a:p>
        </p:txBody>
      </p:sp>
      <p:sp>
        <p:nvSpPr>
          <p:cNvPr id="6" name="Text 4"/>
          <p:cNvSpPr txBox="1"/>
          <p:nvPr/>
        </p:nvSpPr>
        <p:spPr>
          <a:xfrm>
            <a:off x="594360" y="1435608"/>
            <a:ext cx="3931920" cy="475488"/>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«Restablecer datos de demo» no desbloquea una cuenta bloqueada (RNF09). Afecta el login de T5.</a:t>
            </a:r>
            <a:endParaRPr lang="en-US" sz="1200" dirty="0"/>
          </a:p>
        </p:txBody>
      </p:sp>
      <p:sp>
        <p:nvSpPr>
          <p:cNvPr id="7" name="Shape 5"/>
          <p:cNvSpPr/>
          <p:nvPr/>
        </p:nvSpPr>
        <p:spPr>
          <a:xfrm>
            <a:off x="457200" y="2075688"/>
            <a:ext cx="4206240" cy="896112"/>
          </a:xfrm>
          <a:prstGeom prst="roundRect">
            <a:avLst>
              <a:gd name="adj" fmla="val 8163"/>
            </a:avLst>
          </a:prstGeom>
          <a:solidFill>
            <a:srgbClr val="EEF2F7"/>
          </a:solidFill>
          <a:ln w="12700">
            <a:solidFill>
              <a:srgbClr val="EEF2F7"/>
            </a:solidFill>
            <a:prstDash val="solid"/>
          </a:ln>
        </p:spPr>
        <p:txBody>
          <a:bodyPr/>
          <a:lstStyle/>
          <a:p>
            <a:endParaRPr lang="es-PE"/>
          </a:p>
        </p:txBody>
      </p:sp>
      <p:sp>
        <p:nvSpPr>
          <p:cNvPr id="8" name="Text 6"/>
          <p:cNvSpPr txBox="1"/>
          <p:nvPr/>
        </p:nvSpPr>
        <p:spPr>
          <a:xfrm>
            <a:off x="594360" y="2148840"/>
            <a:ext cx="7315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D-02</a:t>
            </a:r>
            <a:endParaRPr lang="en-US" sz="1500" dirty="0"/>
          </a:p>
        </p:txBody>
      </p:sp>
      <p:sp>
        <p:nvSpPr>
          <p:cNvPr id="9" name="Text 7"/>
          <p:cNvSpPr txBox="1"/>
          <p:nvPr/>
        </p:nvSpPr>
        <p:spPr>
          <a:xfrm>
            <a:off x="3657600" y="2148840"/>
            <a:ext cx="868680" cy="320040"/>
          </a:xfrm>
          <a:prstGeom prst="rect">
            <a:avLst/>
          </a:prstGeom>
          <a:noFill/>
          <a:ln/>
        </p:spPr>
        <p:txBody>
          <a:bodyPr wrap="square" lIns="0" tIns="0" rIns="0" bIns="0" rtlCol="0" anchor="ctr"/>
          <a:lstStyle/>
          <a:p>
            <a:pPr marL="0" indent="0" algn="r">
              <a:buNone/>
            </a:pPr>
            <a:r>
              <a:rPr lang="en-US" sz="1100" b="1" dirty="0">
                <a:solidFill>
                  <a:srgbClr val="9A6700"/>
                </a:solidFill>
                <a:latin typeface="Calibri" pitchFamily="34" charset="0"/>
                <a:ea typeface="Calibri" pitchFamily="34" charset="-122"/>
                <a:cs typeface="Calibri" pitchFamily="34" charset="-120"/>
              </a:rPr>
              <a:t>Media</a:t>
            </a:r>
            <a:endParaRPr lang="en-US" sz="1100" dirty="0"/>
          </a:p>
        </p:txBody>
      </p:sp>
      <p:sp>
        <p:nvSpPr>
          <p:cNvPr id="10" name="Text 8"/>
          <p:cNvSpPr txBox="1"/>
          <p:nvPr/>
        </p:nvSpPr>
        <p:spPr>
          <a:xfrm>
            <a:off x="594360" y="2459736"/>
            <a:ext cx="3931920" cy="475488"/>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Contraste de 4.17:1 en el texto verde de stock (WCAG pide 4.5:1). Se ve en T2 y T3.</a:t>
            </a:r>
            <a:endParaRPr lang="en-US" sz="1200" dirty="0"/>
          </a:p>
        </p:txBody>
      </p:sp>
      <p:sp>
        <p:nvSpPr>
          <p:cNvPr id="11" name="Shape 9"/>
          <p:cNvSpPr/>
          <p:nvPr/>
        </p:nvSpPr>
        <p:spPr>
          <a:xfrm>
            <a:off x="457200" y="3099816"/>
            <a:ext cx="4206240" cy="896112"/>
          </a:xfrm>
          <a:prstGeom prst="roundRect">
            <a:avLst>
              <a:gd name="adj" fmla="val 8163"/>
            </a:avLst>
          </a:prstGeom>
          <a:solidFill>
            <a:srgbClr val="EEF2F7"/>
          </a:solidFill>
          <a:ln w="12700">
            <a:solidFill>
              <a:srgbClr val="EEF2F7"/>
            </a:solidFill>
            <a:prstDash val="solid"/>
          </a:ln>
        </p:spPr>
        <p:txBody>
          <a:bodyPr/>
          <a:lstStyle/>
          <a:p>
            <a:endParaRPr lang="es-PE"/>
          </a:p>
        </p:txBody>
      </p:sp>
      <p:sp>
        <p:nvSpPr>
          <p:cNvPr id="12" name="Text 10"/>
          <p:cNvSpPr txBox="1"/>
          <p:nvPr/>
        </p:nvSpPr>
        <p:spPr>
          <a:xfrm>
            <a:off x="594360" y="3172968"/>
            <a:ext cx="73152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D-03</a:t>
            </a:r>
            <a:endParaRPr lang="en-US" sz="1500" dirty="0"/>
          </a:p>
        </p:txBody>
      </p:sp>
      <p:sp>
        <p:nvSpPr>
          <p:cNvPr id="13" name="Text 11"/>
          <p:cNvSpPr txBox="1"/>
          <p:nvPr/>
        </p:nvSpPr>
        <p:spPr>
          <a:xfrm>
            <a:off x="3657600" y="3172968"/>
            <a:ext cx="868680" cy="320040"/>
          </a:xfrm>
          <a:prstGeom prst="rect">
            <a:avLst/>
          </a:prstGeom>
          <a:noFill/>
          <a:ln/>
        </p:spPr>
        <p:txBody>
          <a:bodyPr wrap="square" lIns="0" tIns="0" rIns="0" bIns="0" rtlCol="0" anchor="ctr"/>
          <a:lstStyle/>
          <a:p>
            <a:pPr marL="0" indent="0" algn="r">
              <a:buNone/>
            </a:pPr>
            <a:r>
              <a:rPr lang="en-US" sz="1100" b="1" dirty="0">
                <a:solidFill>
                  <a:srgbClr val="4A5568"/>
                </a:solidFill>
                <a:latin typeface="Calibri" pitchFamily="34" charset="0"/>
                <a:ea typeface="Calibri" pitchFamily="34" charset="-122"/>
                <a:cs typeface="Calibri" pitchFamily="34" charset="-120"/>
              </a:rPr>
              <a:t>Baja</a:t>
            </a:r>
            <a:endParaRPr lang="en-US" sz="1100" dirty="0"/>
          </a:p>
        </p:txBody>
      </p:sp>
      <p:sp>
        <p:nvSpPr>
          <p:cNvPr id="14" name="Text 12"/>
          <p:cNvSpPr txBox="1"/>
          <p:nvPr/>
        </p:nvSpPr>
        <p:spPr>
          <a:xfrm>
            <a:off x="594360" y="3483864"/>
            <a:ext cx="3931920" cy="475488"/>
          </a:xfrm>
          <a:prstGeom prst="rect">
            <a:avLst/>
          </a:prstGeom>
          <a:noFill/>
          <a:ln/>
        </p:spPr>
        <p:txBody>
          <a:bodyPr wrap="square" lIns="0" tIns="0" rIns="0" bIns="0" rtlCol="0" anchor="t"/>
          <a:lstStyle/>
          <a:p>
            <a:pPr marL="0" indent="0">
              <a:buNone/>
            </a:pPr>
            <a:r>
              <a:rPr lang="en-US" sz="1200" dirty="0">
                <a:solidFill>
                  <a:srgbClr val="4A5568"/>
                </a:solidFill>
                <a:latin typeface="Calibri" pitchFamily="34" charset="0"/>
                <a:ea typeface="Calibri" pitchFamily="34" charset="-122"/>
                <a:cs typeface="Calibri" pitchFamily="34" charset="-120"/>
              </a:rPr>
              <a:t>Salto de diseño (CLS 0.89) en la primera carga del catálogo.</a:t>
            </a:r>
            <a:endParaRPr lang="en-US" sz="1200" dirty="0"/>
          </a:p>
        </p:txBody>
      </p:sp>
      <p:sp>
        <p:nvSpPr>
          <p:cNvPr id="15" name="Text 13"/>
          <p:cNvSpPr txBox="1"/>
          <p:nvPr/>
        </p:nvSpPr>
        <p:spPr>
          <a:xfrm>
            <a:off x="457200" y="4160520"/>
            <a:ext cx="4206240" cy="320040"/>
          </a:xfrm>
          <a:prstGeom prst="rect">
            <a:avLst/>
          </a:prstGeom>
          <a:noFill/>
          <a:ln/>
        </p:spPr>
        <p:txBody>
          <a:bodyPr wrap="square" lIns="0" tIns="0" rIns="0" bIns="0" rtlCol="0" anchor="ctr"/>
          <a:lstStyle/>
          <a:p>
            <a:pPr marL="0" indent="0">
              <a:buNone/>
            </a:pPr>
            <a:r>
              <a:rPr lang="en-US" sz="1200" b="1" dirty="0">
                <a:solidFill>
                  <a:srgbClr val="2E7D32"/>
                </a:solidFill>
                <a:latin typeface="Calibri" pitchFamily="34" charset="0"/>
                <a:ea typeface="Calibri" pitchFamily="34" charset="-122"/>
                <a:cs typeface="Calibri" pitchFamily="34" charset="-120"/>
              </a:rPr>
              <a:t>0 defectos críticos · densidad 3.5/KLOC</a:t>
            </a:r>
            <a:endParaRPr lang="en-US" sz="1200" dirty="0"/>
          </a:p>
        </p:txBody>
      </p:sp>
      <p:sp>
        <p:nvSpPr>
          <p:cNvPr id="16" name="Text 14"/>
          <p:cNvSpPr txBox="1"/>
          <p:nvPr/>
        </p:nvSpPr>
        <p:spPr>
          <a:xfrm>
            <a:off x="4937760" y="1005840"/>
            <a:ext cx="3749040" cy="320040"/>
          </a:xfrm>
          <a:prstGeom prst="rect">
            <a:avLst/>
          </a:prstGeom>
          <a:noFill/>
          <a:ln/>
        </p:spPr>
        <p:txBody>
          <a:bodyPr wrap="square" lIns="0" tIns="0" rIns="0" bIns="0" rtlCol="0" anchor="ctr"/>
          <a:lstStyle/>
          <a:p>
            <a:pPr marL="0" indent="0">
              <a:buNone/>
            </a:pPr>
            <a:r>
              <a:rPr lang="en-US" sz="1500" b="1" dirty="0">
                <a:solidFill>
                  <a:srgbClr val="14213D"/>
                </a:solidFill>
                <a:latin typeface="Calibri" pitchFamily="34" charset="0"/>
                <a:ea typeface="Calibri" pitchFamily="34" charset="-122"/>
                <a:cs typeface="Calibri" pitchFamily="34" charset="-120"/>
              </a:rPr>
              <a:t>Plan de aceptación</a:t>
            </a:r>
            <a:endParaRPr lang="en-US" sz="1500" dirty="0"/>
          </a:p>
        </p:txBody>
      </p:sp>
      <p:sp>
        <p:nvSpPr>
          <p:cNvPr id="17" name="Text 15"/>
          <p:cNvSpPr txBox="1"/>
          <p:nvPr/>
        </p:nvSpPr>
        <p:spPr>
          <a:xfrm>
            <a:off x="4937760" y="1417320"/>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 95 % de RF validados</a:t>
            </a:r>
            <a:endParaRPr lang="en-US" sz="1300" dirty="0"/>
          </a:p>
        </p:txBody>
      </p:sp>
      <p:sp>
        <p:nvSpPr>
          <p:cNvPr id="18" name="Shape 16"/>
          <p:cNvSpPr/>
          <p:nvPr/>
        </p:nvSpPr>
        <p:spPr>
          <a:xfrm>
            <a:off x="7543800" y="1472184"/>
            <a:ext cx="1143000" cy="365760"/>
          </a:xfrm>
          <a:prstGeom prst="roundRect">
            <a:avLst>
              <a:gd name="adj" fmla="val 20000"/>
            </a:avLst>
          </a:prstGeom>
          <a:solidFill>
            <a:srgbClr val="FFF4E0"/>
          </a:solidFill>
          <a:ln w="12700">
            <a:solidFill>
              <a:srgbClr val="FFF4E0"/>
            </a:solidFill>
            <a:prstDash val="solid"/>
          </a:ln>
        </p:spPr>
        <p:txBody>
          <a:bodyPr/>
          <a:lstStyle/>
          <a:p>
            <a:endParaRPr lang="es-PE"/>
          </a:p>
        </p:txBody>
      </p:sp>
      <p:sp>
        <p:nvSpPr>
          <p:cNvPr id="19" name="Text 17"/>
          <p:cNvSpPr txBox="1"/>
          <p:nvPr/>
        </p:nvSpPr>
        <p:spPr>
          <a:xfrm>
            <a:off x="7543800" y="1472184"/>
            <a:ext cx="1143000" cy="365760"/>
          </a:xfrm>
          <a:prstGeom prst="rect">
            <a:avLst/>
          </a:prstGeom>
          <a:noFill/>
          <a:ln/>
        </p:spPr>
        <p:txBody>
          <a:bodyPr wrap="square" lIns="0" tIns="0" rIns="0" bIns="0" rtlCol="0" anchor="ctr"/>
          <a:lstStyle/>
          <a:p>
            <a:pPr marL="0" indent="0" algn="ctr">
              <a:buNone/>
            </a:pPr>
            <a:r>
              <a:rPr lang="en-US" sz="1100" b="1" dirty="0">
                <a:solidFill>
                  <a:srgbClr val="9A6700"/>
                </a:solidFill>
                <a:latin typeface="Calibri" pitchFamily="34" charset="0"/>
                <a:ea typeface="Calibri" pitchFamily="34" charset="-122"/>
                <a:cs typeface="Calibri" pitchFamily="34" charset="-120"/>
              </a:rPr>
              <a:t>Pendiente</a:t>
            </a:r>
            <a:endParaRPr lang="en-US" sz="1100" dirty="0"/>
          </a:p>
        </p:txBody>
      </p:sp>
      <p:sp>
        <p:nvSpPr>
          <p:cNvPr id="20" name="Text 18"/>
          <p:cNvSpPr txBox="1"/>
          <p:nvPr/>
        </p:nvSpPr>
        <p:spPr>
          <a:xfrm>
            <a:off x="4937760" y="2020824"/>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Métricas dentro de la meta</a:t>
            </a:r>
            <a:endParaRPr lang="en-US" sz="1300" dirty="0"/>
          </a:p>
        </p:txBody>
      </p:sp>
      <p:sp>
        <p:nvSpPr>
          <p:cNvPr id="21" name="Shape 19"/>
          <p:cNvSpPr/>
          <p:nvPr/>
        </p:nvSpPr>
        <p:spPr>
          <a:xfrm>
            <a:off x="7543800" y="2075688"/>
            <a:ext cx="1143000" cy="365760"/>
          </a:xfrm>
          <a:prstGeom prst="roundRect">
            <a:avLst>
              <a:gd name="adj" fmla="val 20000"/>
            </a:avLst>
          </a:prstGeom>
          <a:solidFill>
            <a:srgbClr val="FFF4E0"/>
          </a:solidFill>
          <a:ln w="12700">
            <a:solidFill>
              <a:srgbClr val="FFF4E0"/>
            </a:solidFill>
            <a:prstDash val="solid"/>
          </a:ln>
        </p:spPr>
        <p:txBody>
          <a:bodyPr/>
          <a:lstStyle/>
          <a:p>
            <a:endParaRPr lang="es-PE"/>
          </a:p>
        </p:txBody>
      </p:sp>
      <p:sp>
        <p:nvSpPr>
          <p:cNvPr id="22" name="Text 20"/>
          <p:cNvSpPr txBox="1"/>
          <p:nvPr/>
        </p:nvSpPr>
        <p:spPr>
          <a:xfrm>
            <a:off x="7543800" y="2075688"/>
            <a:ext cx="1143000" cy="365760"/>
          </a:xfrm>
          <a:prstGeom prst="rect">
            <a:avLst/>
          </a:prstGeom>
          <a:noFill/>
          <a:ln/>
        </p:spPr>
        <p:txBody>
          <a:bodyPr wrap="square" lIns="0" tIns="0" rIns="0" bIns="0" rtlCol="0" anchor="ctr"/>
          <a:lstStyle/>
          <a:p>
            <a:pPr marL="0" indent="0" algn="ctr">
              <a:buNone/>
            </a:pPr>
            <a:r>
              <a:rPr lang="en-US" sz="1100" b="1" dirty="0">
                <a:solidFill>
                  <a:srgbClr val="9A6700"/>
                </a:solidFill>
                <a:latin typeface="Calibri" pitchFamily="34" charset="0"/>
                <a:ea typeface="Calibri" pitchFamily="34" charset="-122"/>
                <a:cs typeface="Calibri" pitchFamily="34" charset="-120"/>
              </a:rPr>
              <a:t>Parcial</a:t>
            </a:r>
            <a:endParaRPr lang="en-US" sz="1100" dirty="0"/>
          </a:p>
        </p:txBody>
      </p:sp>
      <p:sp>
        <p:nvSpPr>
          <p:cNvPr id="23" name="Text 21"/>
          <p:cNvSpPr txBox="1"/>
          <p:nvPr/>
        </p:nvSpPr>
        <p:spPr>
          <a:xfrm>
            <a:off x="4937760" y="2624328"/>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0 defectos críticos</a:t>
            </a:r>
            <a:endParaRPr lang="en-US" sz="1300" dirty="0"/>
          </a:p>
        </p:txBody>
      </p:sp>
      <p:sp>
        <p:nvSpPr>
          <p:cNvPr id="24" name="Shape 22"/>
          <p:cNvSpPr/>
          <p:nvPr/>
        </p:nvSpPr>
        <p:spPr>
          <a:xfrm>
            <a:off x="7543800" y="2679192"/>
            <a:ext cx="1143000" cy="365760"/>
          </a:xfrm>
          <a:prstGeom prst="roundRect">
            <a:avLst>
              <a:gd name="adj" fmla="val 20000"/>
            </a:avLst>
          </a:prstGeom>
          <a:solidFill>
            <a:srgbClr val="E6F4EA"/>
          </a:solidFill>
          <a:ln w="12700">
            <a:solidFill>
              <a:srgbClr val="E6F4EA"/>
            </a:solidFill>
            <a:prstDash val="solid"/>
          </a:ln>
        </p:spPr>
        <p:txBody>
          <a:bodyPr/>
          <a:lstStyle/>
          <a:p>
            <a:endParaRPr lang="es-PE"/>
          </a:p>
        </p:txBody>
      </p:sp>
      <p:sp>
        <p:nvSpPr>
          <p:cNvPr id="25" name="Text 23"/>
          <p:cNvSpPr txBox="1"/>
          <p:nvPr/>
        </p:nvSpPr>
        <p:spPr>
          <a:xfrm>
            <a:off x="7543800" y="2679192"/>
            <a:ext cx="1143000" cy="365760"/>
          </a:xfrm>
          <a:prstGeom prst="rect">
            <a:avLst/>
          </a:prstGeom>
          <a:noFill/>
          <a:ln/>
        </p:spPr>
        <p:txBody>
          <a:bodyPr wrap="square" lIns="0" tIns="0" rIns="0" bIns="0" rtlCol="0" anchor="ctr"/>
          <a:lstStyle/>
          <a:p>
            <a:pPr marL="0" indent="0" algn="ctr">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p>
        </p:txBody>
      </p:sp>
      <p:sp>
        <p:nvSpPr>
          <p:cNvPr id="26" name="Text 24"/>
          <p:cNvSpPr txBox="1"/>
          <p:nvPr/>
        </p:nvSpPr>
        <p:spPr>
          <a:xfrm>
            <a:off x="4937760" y="3227832"/>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Prueba de conformidad</a:t>
            </a:r>
            <a:endParaRPr lang="en-US" sz="1300" dirty="0"/>
          </a:p>
        </p:txBody>
      </p:sp>
      <p:sp>
        <p:nvSpPr>
          <p:cNvPr id="27" name="Shape 25"/>
          <p:cNvSpPr/>
          <p:nvPr/>
        </p:nvSpPr>
        <p:spPr>
          <a:xfrm>
            <a:off x="7543800" y="3282696"/>
            <a:ext cx="1143000" cy="365760"/>
          </a:xfrm>
          <a:prstGeom prst="roundRect">
            <a:avLst>
              <a:gd name="adj" fmla="val 20000"/>
            </a:avLst>
          </a:prstGeom>
          <a:solidFill>
            <a:srgbClr val="E6F4EA"/>
          </a:solidFill>
          <a:ln w="12700">
            <a:solidFill>
              <a:srgbClr val="E6F4EA"/>
            </a:solidFill>
            <a:prstDash val="solid"/>
          </a:ln>
        </p:spPr>
        <p:txBody>
          <a:bodyPr/>
          <a:lstStyle/>
          <a:p>
            <a:endParaRPr lang="es-PE"/>
          </a:p>
        </p:txBody>
      </p:sp>
      <p:sp>
        <p:nvSpPr>
          <p:cNvPr id="28" name="Text 26"/>
          <p:cNvSpPr txBox="1"/>
          <p:nvPr/>
        </p:nvSpPr>
        <p:spPr>
          <a:xfrm>
            <a:off x="7543800" y="3282696"/>
            <a:ext cx="1143000" cy="365760"/>
          </a:xfrm>
          <a:prstGeom prst="rect">
            <a:avLst/>
          </a:prstGeom>
          <a:noFill/>
          <a:ln/>
        </p:spPr>
        <p:txBody>
          <a:bodyPr wrap="square" lIns="0" tIns="0" rIns="0" bIns="0" rtlCol="0" anchor="ctr"/>
          <a:lstStyle/>
          <a:p>
            <a:pPr marL="0" indent="0" algn="ctr">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p>
        </p:txBody>
      </p:sp>
      <p:sp>
        <p:nvSpPr>
          <p:cNvPr id="29" name="Text 27"/>
          <p:cNvSpPr txBox="1"/>
          <p:nvPr/>
        </p:nvSpPr>
        <p:spPr>
          <a:xfrm>
            <a:off x="4937760" y="3831336"/>
            <a:ext cx="2560320" cy="475488"/>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Prueba con usuarios (T1–T5)</a:t>
            </a:r>
            <a:endParaRPr lang="en-US" sz="1300" dirty="0"/>
          </a:p>
        </p:txBody>
      </p:sp>
      <p:sp>
        <p:nvSpPr>
          <p:cNvPr id="30" name="Shape 28"/>
          <p:cNvSpPr/>
          <p:nvPr/>
        </p:nvSpPr>
        <p:spPr>
          <a:xfrm>
            <a:off x="7543800" y="3886200"/>
            <a:ext cx="1143000" cy="365760"/>
          </a:xfrm>
          <a:prstGeom prst="roundRect">
            <a:avLst>
              <a:gd name="adj" fmla="val 20000"/>
            </a:avLst>
          </a:prstGeom>
          <a:solidFill>
            <a:srgbClr val="FFF4E0"/>
          </a:solidFill>
          <a:ln w="12700">
            <a:solidFill>
              <a:srgbClr val="FFF4E0"/>
            </a:solidFill>
            <a:prstDash val="solid"/>
          </a:ln>
        </p:spPr>
        <p:txBody>
          <a:bodyPr/>
          <a:lstStyle/>
          <a:p>
            <a:endParaRPr lang="es-PE"/>
          </a:p>
        </p:txBody>
      </p:sp>
      <p:sp>
        <p:nvSpPr>
          <p:cNvPr id="31" name="Text 29"/>
          <p:cNvSpPr txBox="1"/>
          <p:nvPr/>
        </p:nvSpPr>
        <p:spPr>
          <a:xfrm>
            <a:off x="7543800" y="3886200"/>
            <a:ext cx="1143000" cy="365760"/>
          </a:xfrm>
          <a:prstGeom prst="rect">
            <a:avLst/>
          </a:prstGeom>
          <a:noFill/>
          <a:ln/>
        </p:spPr>
        <p:txBody>
          <a:bodyPr wrap="square" lIns="0" tIns="0" rIns="0" bIns="0" rtlCol="0" anchor="ctr"/>
          <a:lstStyle/>
          <a:p>
            <a:pPr marL="0" indent="0" algn="ctr">
              <a:buNone/>
            </a:pPr>
            <a:r>
              <a:rPr lang="en-US" sz="1100" b="1" dirty="0">
                <a:solidFill>
                  <a:srgbClr val="9A6700"/>
                </a:solidFill>
                <a:latin typeface="Calibri" pitchFamily="34" charset="0"/>
                <a:ea typeface="Calibri" pitchFamily="34" charset="-122"/>
                <a:cs typeface="Calibri" pitchFamily="34" charset="-120"/>
              </a:rPr>
              <a:t>Pendiente</a:t>
            </a:r>
            <a:endParaRPr lang="en-US" sz="1100" dirty="0"/>
          </a:p>
        </p:txBody>
      </p:sp>
      <p:sp>
        <p:nvSpPr>
          <p:cNvPr id="3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1737360"/>
            <a:ext cx="5486400" cy="548640"/>
          </a:xfrm>
          <a:prstGeom prst="rect">
            <a:avLst/>
          </a:prstGeom>
          <a:noFill/>
          <a:ln/>
        </p:spPr>
        <p:txBody>
          <a:bodyPr wrap="square" lIns="0" tIns="0" rIns="0" bIns="0" rtlCol="0" anchor="ctr"/>
          <a:lstStyle/>
          <a:p>
            <a:pPr marL="0" indent="0">
              <a:buNone/>
            </a:pPr>
            <a:r>
              <a:rPr lang="en-US" sz="2400" b="1" kern="0" spc="300" dirty="0">
                <a:solidFill>
                  <a:srgbClr val="FCA311"/>
                </a:solidFill>
                <a:latin typeface="Calibri" pitchFamily="34" charset="0"/>
                <a:ea typeface="Calibri" pitchFamily="34" charset="-122"/>
                <a:cs typeface="Calibri" pitchFamily="34" charset="-120"/>
              </a:rPr>
              <a:t>PARTE V</a:t>
            </a:r>
            <a:endParaRPr lang="en-US" sz="2400" dirty="0"/>
          </a:p>
        </p:txBody>
      </p:sp>
      <p:sp>
        <p:nvSpPr>
          <p:cNvPr id="3" name="Text 1"/>
          <p:cNvSpPr txBox="1"/>
          <p:nvPr/>
        </p:nvSpPr>
        <p:spPr>
          <a:xfrm>
            <a:off x="731520" y="2423160"/>
            <a:ext cx="768096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Prueba de Conformidad</a:t>
            </a:r>
            <a:endParaRPr lang="en-US" sz="3600" dirty="0"/>
          </a:p>
        </p:txBody>
      </p:sp>
      <p:sp>
        <p:nvSpPr>
          <p:cNvPr id="4" name="Text 2"/>
          <p:cNvSpPr txBox="1"/>
          <p:nvPr/>
        </p:nvSpPr>
        <p:spPr>
          <a:xfrm>
            <a:off x="731520" y="3154680"/>
            <a:ext cx="7680960" cy="457200"/>
          </a:xfrm>
          <a:prstGeom prst="rect">
            <a:avLst/>
          </a:prstGeom>
          <a:noFill/>
          <a:ln/>
        </p:spPr>
        <p:txBody>
          <a:bodyPr wrap="square" lIns="0" tIns="0" rIns="0" bIns="0" rtlCol="0" anchor="ctr"/>
          <a:lstStyle/>
          <a:p>
            <a:pPr marL="0" indent="0">
              <a:buNone/>
            </a:pPr>
            <a:r>
              <a:rPr lang="en-US" sz="1600" dirty="0">
                <a:solidFill>
                  <a:srgbClr val="C9D3E3"/>
                </a:solidFill>
                <a:latin typeface="Calibri" pitchFamily="34" charset="0"/>
                <a:ea typeface="Calibri" pitchFamily="34" charset="-122"/>
                <a:cs typeface="Calibri" pitchFamily="34" charset="-120"/>
              </a:rPr>
              <a:t>Normas y regulaciones: ISO/IEC 25010, Ley N.° 29733, PCI DSS, WCAG e IGV</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Normas evaluadas y cómo se verificaron</a:t>
            </a:r>
            <a:endParaRPr lang="en-US" sz="2600" dirty="0"/>
          </a:p>
        </p:txBody>
      </p:sp>
      <p:sp>
        <p:nvSpPr>
          <p:cNvPr id="3" name="Shape 1"/>
          <p:cNvSpPr/>
          <p:nvPr/>
        </p:nvSpPr>
        <p:spPr>
          <a:xfrm>
            <a:off x="457200" y="1005840"/>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4" name="Text 2"/>
          <p:cNvSpPr txBox="1"/>
          <p:nvPr/>
        </p:nvSpPr>
        <p:spPr>
          <a:xfrm>
            <a:off x="594360" y="1005840"/>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ISO/IEC 25010 – Seguridad</a:t>
            </a:r>
            <a:endParaRPr lang="en-US" sz="1200" dirty="0"/>
          </a:p>
        </p:txBody>
      </p:sp>
      <p:sp>
        <p:nvSpPr>
          <p:cNvPr id="5" name="Text 3"/>
          <p:cNvSpPr txBox="1"/>
          <p:nvPr/>
        </p:nvSpPr>
        <p:spPr>
          <a:xfrm>
            <a:off x="2697480" y="1005840"/>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Clave segura, bloqueo y sesión: el login de T5</a:t>
            </a:r>
            <a:endParaRPr lang="en-US" sz="1100" dirty="0"/>
          </a:p>
        </p:txBody>
      </p:sp>
      <p:sp>
        <p:nvSpPr>
          <p:cNvPr id="6" name="Text 4"/>
          <p:cNvSpPr txBox="1"/>
          <p:nvPr/>
        </p:nvSpPr>
        <p:spPr>
          <a:xfrm>
            <a:off x="5120640" y="1005840"/>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CC01–CC03</a:t>
            </a:r>
            <a:endParaRPr lang="en-US" sz="1100" dirty="0"/>
          </a:p>
        </p:txBody>
      </p:sp>
      <p:sp>
        <p:nvSpPr>
          <p:cNvPr id="7" name="Shape 5"/>
          <p:cNvSpPr/>
          <p:nvPr/>
        </p:nvSpPr>
        <p:spPr>
          <a:xfrm>
            <a:off x="457200" y="1609344"/>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8" name="Text 6"/>
          <p:cNvSpPr txBox="1"/>
          <p:nvPr/>
        </p:nvSpPr>
        <p:spPr>
          <a:xfrm>
            <a:off x="594360" y="1609344"/>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Ley N.° 29733</a:t>
            </a:r>
            <a:endParaRPr lang="en-US" sz="1200" dirty="0"/>
          </a:p>
        </p:txBody>
      </p:sp>
      <p:sp>
        <p:nvSpPr>
          <p:cNvPr id="9" name="Text 7"/>
          <p:cNvSpPr txBox="1"/>
          <p:nvPr/>
        </p:nvSpPr>
        <p:spPr>
          <a:xfrm>
            <a:off x="2697480" y="1609344"/>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Consentimiento expreso (también en la prueba con usuarios)</a:t>
            </a:r>
            <a:endParaRPr lang="en-US" sz="1100" dirty="0"/>
          </a:p>
        </p:txBody>
      </p:sp>
      <p:sp>
        <p:nvSpPr>
          <p:cNvPr id="10" name="Text 8"/>
          <p:cNvSpPr txBox="1"/>
          <p:nvPr/>
        </p:nvSpPr>
        <p:spPr>
          <a:xfrm>
            <a:off x="5120640" y="1609344"/>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CC04</a:t>
            </a:r>
            <a:endParaRPr lang="en-US" sz="1100" dirty="0"/>
          </a:p>
        </p:txBody>
      </p:sp>
      <p:sp>
        <p:nvSpPr>
          <p:cNvPr id="11" name="Shape 9"/>
          <p:cNvSpPr/>
          <p:nvPr/>
        </p:nvSpPr>
        <p:spPr>
          <a:xfrm>
            <a:off x="457200" y="2212848"/>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12" name="Text 10"/>
          <p:cNvSpPr txBox="1"/>
          <p:nvPr/>
        </p:nvSpPr>
        <p:spPr>
          <a:xfrm>
            <a:off x="594360" y="2212848"/>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PCI DSS (buenas prácticas)</a:t>
            </a:r>
            <a:endParaRPr lang="en-US" sz="1200" dirty="0"/>
          </a:p>
        </p:txBody>
      </p:sp>
      <p:sp>
        <p:nvSpPr>
          <p:cNvPr id="13" name="Text 11"/>
          <p:cNvSpPr txBox="1"/>
          <p:nvPr/>
        </p:nvSpPr>
        <p:spPr>
          <a:xfrm>
            <a:off x="2697480" y="2212848"/>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T5: tarjeta validada con Luhn; no se guarda completa ni el CVV</a:t>
            </a:r>
            <a:endParaRPr lang="en-US" sz="1100" dirty="0"/>
          </a:p>
        </p:txBody>
      </p:sp>
      <p:sp>
        <p:nvSpPr>
          <p:cNvPr id="14" name="Text 12"/>
          <p:cNvSpPr txBox="1"/>
          <p:nvPr/>
        </p:nvSpPr>
        <p:spPr>
          <a:xfrm>
            <a:off x="5120640" y="2212848"/>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CC05</a:t>
            </a:r>
            <a:endParaRPr lang="en-US" sz="1100" dirty="0"/>
          </a:p>
        </p:txBody>
      </p:sp>
      <p:sp>
        <p:nvSpPr>
          <p:cNvPr id="15" name="Shape 13"/>
          <p:cNvSpPr/>
          <p:nvPr/>
        </p:nvSpPr>
        <p:spPr>
          <a:xfrm>
            <a:off x="457200" y="2816352"/>
            <a:ext cx="5486400" cy="512064"/>
          </a:xfrm>
          <a:prstGeom prst="roundRect">
            <a:avLst>
              <a:gd name="adj" fmla="val 14286"/>
            </a:avLst>
          </a:prstGeom>
          <a:solidFill>
            <a:srgbClr val="FFFFFF"/>
          </a:solidFill>
          <a:ln w="12700">
            <a:solidFill>
              <a:srgbClr val="E4EAF2"/>
            </a:solidFill>
            <a:prstDash val="solid"/>
          </a:ln>
        </p:spPr>
        <p:txBody>
          <a:bodyPr/>
          <a:lstStyle/>
          <a:p>
            <a:endParaRPr lang="es-PE"/>
          </a:p>
        </p:txBody>
      </p:sp>
      <p:sp>
        <p:nvSpPr>
          <p:cNvPr id="16" name="Text 14"/>
          <p:cNvSpPr txBox="1"/>
          <p:nvPr/>
        </p:nvSpPr>
        <p:spPr>
          <a:xfrm>
            <a:off x="594360" y="2816352"/>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WCAG 2.1 AA</a:t>
            </a:r>
            <a:endParaRPr lang="en-US" sz="1200" dirty="0"/>
          </a:p>
        </p:txBody>
      </p:sp>
      <p:sp>
        <p:nvSpPr>
          <p:cNvPr id="17" name="Text 15"/>
          <p:cNvSpPr txBox="1"/>
          <p:nvPr/>
        </p:nvSpPr>
        <p:spPr>
          <a:xfrm>
            <a:off x="2697480" y="2816352"/>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T5 se completa solo con teclado; etiquetas y foco visible</a:t>
            </a:r>
            <a:endParaRPr lang="en-US" sz="1100" dirty="0"/>
          </a:p>
        </p:txBody>
      </p:sp>
      <p:sp>
        <p:nvSpPr>
          <p:cNvPr id="18" name="Text 16"/>
          <p:cNvSpPr txBox="1"/>
          <p:nvPr/>
        </p:nvSpPr>
        <p:spPr>
          <a:xfrm>
            <a:off x="5120640" y="2816352"/>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CC06</a:t>
            </a:r>
            <a:endParaRPr lang="en-US" sz="1100" dirty="0"/>
          </a:p>
        </p:txBody>
      </p:sp>
      <p:sp>
        <p:nvSpPr>
          <p:cNvPr id="19" name="Shape 17"/>
          <p:cNvSpPr/>
          <p:nvPr/>
        </p:nvSpPr>
        <p:spPr>
          <a:xfrm>
            <a:off x="457200" y="3419856"/>
            <a:ext cx="5486400" cy="512064"/>
          </a:xfrm>
          <a:prstGeom prst="roundRect">
            <a:avLst>
              <a:gd name="adj" fmla="val 14286"/>
            </a:avLst>
          </a:prstGeom>
          <a:solidFill>
            <a:srgbClr val="EEF2F7"/>
          </a:solidFill>
          <a:ln w="12700">
            <a:solidFill>
              <a:srgbClr val="E4EAF2"/>
            </a:solidFill>
            <a:prstDash val="solid"/>
          </a:ln>
        </p:spPr>
        <p:txBody>
          <a:bodyPr/>
          <a:lstStyle/>
          <a:p>
            <a:endParaRPr lang="es-PE"/>
          </a:p>
        </p:txBody>
      </p:sp>
      <p:sp>
        <p:nvSpPr>
          <p:cNvPr id="20" name="Text 18"/>
          <p:cNvSpPr txBox="1"/>
          <p:nvPr/>
        </p:nvSpPr>
        <p:spPr>
          <a:xfrm>
            <a:off x="594360" y="3419856"/>
            <a:ext cx="2103120" cy="512064"/>
          </a:xfrm>
          <a:prstGeom prst="rect">
            <a:avLst/>
          </a:prstGeom>
          <a:noFill/>
          <a:ln/>
        </p:spPr>
        <p:txBody>
          <a:bodyPr wrap="square" lIns="0" tIns="0" rIns="0" bIns="0" rtlCol="0" anchor="ctr"/>
          <a:lstStyle/>
          <a:p>
            <a:pPr marL="0" indent="0">
              <a:buNone/>
            </a:pPr>
            <a:r>
              <a:rPr lang="en-US" sz="1200" b="1" dirty="0">
                <a:solidFill>
                  <a:srgbClr val="14213D"/>
                </a:solidFill>
                <a:latin typeface="Calibri" pitchFamily="34" charset="0"/>
                <a:ea typeface="Calibri" pitchFamily="34" charset="-122"/>
                <a:cs typeface="Calibri" pitchFamily="34" charset="-120"/>
              </a:rPr>
              <a:t>IGV · Ley N.° 29571</a:t>
            </a:r>
            <a:endParaRPr lang="en-US" sz="1200" dirty="0"/>
          </a:p>
        </p:txBody>
      </p:sp>
      <p:sp>
        <p:nvSpPr>
          <p:cNvPr id="21" name="Text 19"/>
          <p:cNvSpPr txBox="1"/>
          <p:nvPr/>
        </p:nvSpPr>
        <p:spPr>
          <a:xfrm>
            <a:off x="2697480" y="3419856"/>
            <a:ext cx="2514600" cy="512064"/>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T4 y T5: totales con IGV incluido y sin cargos ocultos</a:t>
            </a:r>
            <a:endParaRPr lang="en-US" sz="1100" dirty="0"/>
          </a:p>
        </p:txBody>
      </p:sp>
      <p:sp>
        <p:nvSpPr>
          <p:cNvPr id="22" name="Text 20"/>
          <p:cNvSpPr txBox="1"/>
          <p:nvPr/>
        </p:nvSpPr>
        <p:spPr>
          <a:xfrm>
            <a:off x="5120640" y="3419856"/>
            <a:ext cx="731520" cy="512064"/>
          </a:xfrm>
          <a:prstGeom prst="rect">
            <a:avLst/>
          </a:prstGeom>
          <a:noFill/>
          <a:ln/>
        </p:spPr>
        <p:txBody>
          <a:bodyPr wrap="square" lIns="0" tIns="0" rIns="0" bIns="0" rtlCol="0" anchor="ctr"/>
          <a:lstStyle/>
          <a:p>
            <a:pPr marL="0" indent="0" algn="r">
              <a:buNone/>
            </a:pPr>
            <a:r>
              <a:rPr lang="en-US" sz="1100" b="1" dirty="0">
                <a:solidFill>
                  <a:srgbClr val="B7791F"/>
                </a:solidFill>
                <a:latin typeface="Calibri" pitchFamily="34" charset="0"/>
                <a:ea typeface="Calibri" pitchFamily="34" charset="-122"/>
                <a:cs typeface="Calibri" pitchFamily="34" charset="-120"/>
              </a:rPr>
              <a:t>CC07</a:t>
            </a:r>
            <a:endParaRPr lang="en-US" sz="1100" dirty="0"/>
          </a:p>
        </p:txBody>
      </p:sp>
      <p:sp>
        <p:nvSpPr>
          <p:cNvPr id="23" name="Shape 21"/>
          <p:cNvSpPr/>
          <p:nvPr/>
        </p:nvSpPr>
        <p:spPr>
          <a:xfrm>
            <a:off x="6217920" y="1005840"/>
            <a:ext cx="2468880" cy="2926080"/>
          </a:xfrm>
          <a:prstGeom prst="roundRect">
            <a:avLst>
              <a:gd name="adj" fmla="val 2963"/>
            </a:avLst>
          </a:prstGeom>
          <a:solidFill>
            <a:srgbClr val="14213D"/>
          </a:solidFill>
          <a:ln w="12700">
            <a:solidFill>
              <a:srgbClr val="14213D"/>
            </a:solidFill>
            <a:prstDash val="solid"/>
          </a:ln>
        </p:spPr>
        <p:txBody>
          <a:bodyPr/>
          <a:lstStyle/>
          <a:p>
            <a:endParaRPr lang="es-PE"/>
          </a:p>
        </p:txBody>
      </p:sp>
      <p:sp>
        <p:nvSpPr>
          <p:cNvPr id="24" name="Text 22"/>
          <p:cNvSpPr txBox="1"/>
          <p:nvPr/>
        </p:nvSpPr>
        <p:spPr>
          <a:xfrm>
            <a:off x="6400800" y="1097280"/>
            <a:ext cx="21031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Método</a:t>
            </a:r>
            <a:endParaRPr lang="en-US" sz="1600" dirty="0"/>
          </a:p>
        </p:txBody>
      </p:sp>
      <p:sp>
        <p:nvSpPr>
          <p:cNvPr id="25" name="Text 23"/>
          <p:cNvSpPr txBox="1"/>
          <p:nvPr/>
        </p:nvSpPr>
        <p:spPr>
          <a:xfrm>
            <a:off x="6400800" y="1508760"/>
            <a:ext cx="2148840" cy="233172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Chrome 154 y Edge 155</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Perfil limpio en cada caso</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Capturas como evidencia</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Esperas de 5 y 15 min acortadas y documentadas</a:t>
            </a:r>
            <a:endParaRPr lang="en-US" sz="1200" dirty="0"/>
          </a:p>
        </p:txBody>
      </p:sp>
      <p:sp>
        <p:nvSpPr>
          <p:cNvPr id="26"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Matriz de resultados de conformidad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3307080"/>
        </p:xfrm>
        <a:graphic>
          <a:graphicData uri="http://schemas.openxmlformats.org/drawingml/2006/table">
            <a:tbl>
              <a:tblPr/>
              <a:tblGrid>
                <a:gridCol w="5943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tblGrid>
              <a:tr h="41148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Caso</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Norma</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Requisito</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Chrome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Edge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Veredicto</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CC01</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ISO/IEC 25010</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Política de contraseñas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1"/>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CC02</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ISO/IEC 25010</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Bloqueo por intentos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2"/>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CC03</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ISO/IEC 25010</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Expiración de sesión</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3"/>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CC04</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Ley N.° 29733</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Consentimiento de datos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4"/>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CC05</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PCI DSS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Datos de tarjeta</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5"/>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CC06</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WCAG 2.1 AA</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Accesibilidad</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marL="0" indent="0">
                        <a:buNone/>
                      </a:pPr>
                      <a:r>
                        <a:rPr lang="en-US" sz="1100" b="1" dirty="0">
                          <a:solidFill>
                            <a:srgbClr val="9A6700"/>
                          </a:solidFill>
                          <a:latin typeface="Calibri" pitchFamily="34" charset="0"/>
                          <a:ea typeface="Calibri" pitchFamily="34" charset="-122"/>
                          <a:cs typeface="Calibri" pitchFamily="34" charset="-120"/>
                        </a:rPr>
                        <a:t>Cumple con observación</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4E0"/>
                    </a:solidFill>
                  </a:tcPr>
                </a:tc>
                <a:extLst>
                  <a:ext uri="{0D108BD9-81ED-4DB2-BD59-A6C34878D82A}">
                    <a16:rowId xmlns:a16="http://schemas.microsoft.com/office/drawing/2014/main" val="10006"/>
                  </a:ext>
                </a:extLst>
              </a:tr>
              <a:tr h="411480">
                <a:tc>
                  <a:txBody>
                    <a:bodyPr/>
                    <a:lstStyle/>
                    <a:p>
                      <a:pPr marL="0" indent="0">
                        <a:buNone/>
                      </a:pPr>
                      <a:r>
                        <a:rPr lang="en-US" sz="1100" b="1" dirty="0">
                          <a:solidFill>
                            <a:srgbClr val="4A5568"/>
                          </a:solidFill>
                          <a:latin typeface="Calibri" pitchFamily="34" charset="0"/>
                          <a:ea typeface="Calibri" pitchFamily="34" charset="-122"/>
                          <a:cs typeface="Calibri" pitchFamily="34" charset="-120"/>
                        </a:rPr>
                        <a:t>CC07</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IGV / Ley 29571</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Precios transparentes</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dirty="0">
                          <a:solidFill>
                            <a:srgbClr val="4A5568"/>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EF2F7"/>
                    </a:solidFill>
                  </a:tcPr>
                </a:tc>
                <a:tc>
                  <a:txBody>
                    <a:bodyPr/>
                    <a:lstStyle/>
                    <a:p>
                      <a:pPr marL="0" indent="0">
                        <a:buNone/>
                      </a:pPr>
                      <a:r>
                        <a:rPr lang="en-US" sz="1100" b="1" dirty="0">
                          <a:solidFill>
                            <a:srgbClr val="2E7D32"/>
                          </a:solidFill>
                          <a:latin typeface="Calibri" pitchFamily="34" charset="0"/>
                          <a:ea typeface="Calibri" pitchFamily="34" charset="-122"/>
                          <a:cs typeface="Calibri" pitchFamily="34" charset="-120"/>
                        </a:rPr>
                        <a:t>Cumple</a:t>
                      </a:r>
                      <a:endParaRPr lang="en-US" sz="1100" dirty="0">
                        <a:latin typeface="Calibri" charset="0"/>
                        <a:ea typeface="Calibri" charset="0"/>
                        <a:cs typeface="Calibri" charset="0"/>
                      </a:endParaRPr>
                    </a:p>
                  </a:txBody>
                  <a:tcPr marL="45720" marR="45720">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E6F4EA"/>
                    </a:solidFill>
                  </a:tcPr>
                </a:tc>
                <a:extLst>
                  <a:ext uri="{0D108BD9-81ED-4DB2-BD59-A6C34878D82A}">
                    <a16:rowId xmlns:a16="http://schemas.microsoft.com/office/drawing/2014/main" val="10007"/>
                  </a:ext>
                </a:extLst>
              </a:tr>
            </a:tbl>
          </a:graphicData>
        </a:graphic>
      </p:graphicFrame>
      <p:sp>
        <p:nvSpPr>
          <p:cNvPr id="4" name="Shape 1"/>
          <p:cNvSpPr/>
          <p:nvPr/>
        </p:nvSpPr>
        <p:spPr>
          <a:xfrm>
            <a:off x="6766560" y="1005840"/>
            <a:ext cx="1920240" cy="3291840"/>
          </a:xfrm>
          <a:prstGeom prst="roundRect">
            <a:avLst>
              <a:gd name="adj" fmla="val 3810"/>
            </a:avLst>
          </a:prstGeom>
          <a:solidFill>
            <a:srgbClr val="E6F4EA"/>
          </a:solidFill>
          <a:ln w="12700">
            <a:solidFill>
              <a:srgbClr val="E6F4EA"/>
            </a:solidFill>
            <a:prstDash val="solid"/>
          </a:ln>
        </p:spPr>
        <p:txBody>
          <a:bodyPr/>
          <a:lstStyle/>
          <a:p>
            <a:endParaRPr lang="es-PE"/>
          </a:p>
        </p:txBody>
      </p:sp>
      <p:sp>
        <p:nvSpPr>
          <p:cNvPr id="5" name="Text 2"/>
          <p:cNvSpPr txBox="1"/>
          <p:nvPr/>
        </p:nvSpPr>
        <p:spPr>
          <a:xfrm>
            <a:off x="6766560" y="1463040"/>
            <a:ext cx="1920240" cy="822960"/>
          </a:xfrm>
          <a:prstGeom prst="rect">
            <a:avLst/>
          </a:prstGeom>
          <a:noFill/>
          <a:ln/>
        </p:spPr>
        <p:txBody>
          <a:bodyPr wrap="square" lIns="0" tIns="0" rIns="0" bIns="0" rtlCol="0" anchor="ctr"/>
          <a:lstStyle/>
          <a:p>
            <a:pPr marL="0" indent="0" algn="ctr">
              <a:buNone/>
            </a:pPr>
            <a:r>
              <a:rPr lang="en-US" sz="4400" b="1" dirty="0">
                <a:solidFill>
                  <a:srgbClr val="2E7D32"/>
                </a:solidFill>
                <a:latin typeface="Calibri" pitchFamily="34" charset="0"/>
                <a:ea typeface="Calibri" pitchFamily="34" charset="-122"/>
                <a:cs typeface="Calibri" pitchFamily="34" charset="-120"/>
              </a:rPr>
              <a:t>7 / 7</a:t>
            </a:r>
            <a:endParaRPr lang="en-US" sz="4400" dirty="0"/>
          </a:p>
        </p:txBody>
      </p:sp>
      <p:sp>
        <p:nvSpPr>
          <p:cNvPr id="6" name="Text 3"/>
          <p:cNvSpPr txBox="1"/>
          <p:nvPr/>
        </p:nvSpPr>
        <p:spPr>
          <a:xfrm>
            <a:off x="6949440" y="2377440"/>
            <a:ext cx="1554480" cy="731520"/>
          </a:xfrm>
          <a:prstGeom prst="rect">
            <a:avLst/>
          </a:prstGeom>
          <a:noFill/>
          <a:ln/>
        </p:spPr>
        <p:txBody>
          <a:bodyPr wrap="square" lIns="0" tIns="0" rIns="0" bIns="0" rtlCol="0" anchor="t"/>
          <a:lstStyle/>
          <a:p>
            <a:pPr marL="0" indent="0" algn="ctr">
              <a:buNone/>
            </a:pPr>
            <a:r>
              <a:rPr lang="en-US" sz="1300" dirty="0">
                <a:solidFill>
                  <a:srgbClr val="4A5568"/>
                </a:solidFill>
                <a:latin typeface="Calibri" pitchFamily="34" charset="0"/>
                <a:ea typeface="Calibri" pitchFamily="34" charset="-122"/>
                <a:cs typeface="Calibri" pitchFamily="34" charset="-120"/>
              </a:rPr>
              <a:t>casos cumplen en los dos navegadores</a:t>
            </a:r>
            <a:endParaRPr lang="en-US" sz="1300" dirty="0"/>
          </a:p>
        </p:txBody>
      </p:sp>
      <p:sp>
        <p:nvSpPr>
          <p:cNvPr id="7" name="Text 4"/>
          <p:cNvSpPr txBox="1"/>
          <p:nvPr/>
        </p:nvSpPr>
        <p:spPr>
          <a:xfrm>
            <a:off x="6949440" y="3291840"/>
            <a:ext cx="1554480" cy="731520"/>
          </a:xfrm>
          <a:prstGeom prst="rect">
            <a:avLst/>
          </a:prstGeom>
          <a:noFill/>
          <a:ln/>
        </p:spPr>
        <p:txBody>
          <a:bodyPr wrap="square" lIns="0" tIns="0" rIns="0" bIns="0" rtlCol="0" anchor="t"/>
          <a:lstStyle/>
          <a:p>
            <a:pPr marL="0" indent="0" algn="ctr">
              <a:buNone/>
            </a:pPr>
            <a:r>
              <a:rPr lang="en-US" sz="1100" i="1" dirty="0">
                <a:solidFill>
                  <a:srgbClr val="9A6700"/>
                </a:solidFill>
                <a:latin typeface="Calibri" pitchFamily="34" charset="0"/>
                <a:ea typeface="Calibri" pitchFamily="34" charset="-122"/>
                <a:cs typeface="Calibri" pitchFamily="34" charset="-120"/>
              </a:rPr>
              <a:t>CC06 con observación de contraste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lgn="ctr">
              <a:buNone/>
            </a:pPr>
            <a:r>
              <a:rPr lang="en-US" sz="2600" b="1" dirty="0">
                <a:solidFill>
                  <a:srgbClr val="14213D"/>
                </a:solidFill>
                <a:latin typeface="Calibri" pitchFamily="34" charset="0"/>
                <a:ea typeface="Calibri" pitchFamily="34" charset="-122"/>
                <a:cs typeface="Calibri" pitchFamily="34" charset="-120"/>
              </a:rPr>
              <a:t>Evidencia y no conformidades</a:t>
            </a:r>
            <a:endParaRPr lang="en-US" sz="2600" dirty="0"/>
          </a:p>
        </p:txBody>
      </p:sp>
      <p:pic>
        <p:nvPicPr>
          <p:cNvPr id="3" name="Image 0" descr="Captura: número de tarjeta rechazado por el algoritmo de Luhn"/>
          <p:cNvPicPr>
            <a:picLocks noChangeAspect="1"/>
          </p:cNvPicPr>
          <p:nvPr/>
        </p:nvPicPr>
        <p:blipFill>
          <a:blip r:embed="rId3"/>
          <a:stretch>
            <a:fillRect/>
          </a:stretch>
        </p:blipFill>
        <p:spPr>
          <a:xfrm>
            <a:off x="457200" y="1005840"/>
            <a:ext cx="4023360" cy="2706624"/>
          </a:xfrm>
          <a:prstGeom prst="rect">
            <a:avLst/>
          </a:prstGeom>
        </p:spPr>
      </p:pic>
      <p:sp>
        <p:nvSpPr>
          <p:cNvPr id="4" name="Shape 1"/>
          <p:cNvSpPr/>
          <p:nvPr/>
        </p:nvSpPr>
        <p:spPr>
          <a:xfrm>
            <a:off x="457200" y="1005840"/>
            <a:ext cx="4023360" cy="2706624"/>
          </a:xfrm>
          <a:prstGeom prst="rect">
            <a:avLst/>
          </a:prstGeom>
          <a:ln w="12700">
            <a:solidFill>
              <a:srgbClr val="E4EAF2"/>
            </a:solidFill>
            <a:prstDash val="solid"/>
          </a:ln>
        </p:spPr>
        <p:txBody>
          <a:bodyPr/>
          <a:lstStyle/>
          <a:p>
            <a:endParaRPr lang="es-PE"/>
          </a:p>
        </p:txBody>
      </p:sp>
      <p:sp>
        <p:nvSpPr>
          <p:cNvPr id="5" name="Text 2"/>
          <p:cNvSpPr txBox="1"/>
          <p:nvPr/>
        </p:nvSpPr>
        <p:spPr>
          <a:xfrm>
            <a:off x="457200" y="3794760"/>
            <a:ext cx="4023360" cy="548640"/>
          </a:xfrm>
          <a:prstGeom prst="rect">
            <a:avLst/>
          </a:prstGeom>
          <a:noFill/>
          <a:ln/>
        </p:spPr>
        <p:txBody>
          <a:bodyPr wrap="square" lIns="0" tIns="0" rIns="0" bIns="0" rtlCol="0" anchor="t"/>
          <a:lstStyle/>
          <a:p>
            <a:pPr marL="0" indent="0">
              <a:buNone/>
            </a:pPr>
            <a:r>
              <a:rPr lang="en-US" sz="1100" i="1" dirty="0">
                <a:solidFill>
                  <a:srgbClr val="4A5568"/>
                </a:solidFill>
                <a:latin typeface="Calibri" pitchFamily="34" charset="0"/>
                <a:ea typeface="Calibri" pitchFamily="34" charset="-122"/>
                <a:cs typeface="Calibri" pitchFamily="34" charset="-120"/>
              </a:rPr>
              <a:t>CC05: la tarjeta 4111 1111 1111 1112 se rechaza; el pedido guarda solo «Visa» y «1111».</a:t>
            </a:r>
            <a:endParaRPr lang="en-US" sz="1100" dirty="0"/>
          </a:p>
        </p:txBody>
      </p:sp>
      <p:sp>
        <p:nvSpPr>
          <p:cNvPr id="6" name="Shape 3"/>
          <p:cNvSpPr/>
          <p:nvPr/>
        </p:nvSpPr>
        <p:spPr>
          <a:xfrm>
            <a:off x="4754880" y="1005840"/>
            <a:ext cx="3931920" cy="960120"/>
          </a:xfrm>
          <a:prstGeom prst="roundRect">
            <a:avLst>
              <a:gd name="adj" fmla="val 7619"/>
            </a:avLst>
          </a:prstGeom>
          <a:solidFill>
            <a:srgbClr val="FFF4E0"/>
          </a:solidFill>
          <a:ln w="12700">
            <a:solidFill>
              <a:srgbClr val="FFF4E0"/>
            </a:solidFill>
            <a:prstDash val="solid"/>
          </a:ln>
        </p:spPr>
        <p:txBody>
          <a:bodyPr/>
          <a:lstStyle/>
          <a:p>
            <a:endParaRPr lang="es-PE"/>
          </a:p>
        </p:txBody>
      </p:sp>
      <p:sp>
        <p:nvSpPr>
          <p:cNvPr id="7" name="Text 4"/>
          <p:cNvSpPr txBox="1"/>
          <p:nvPr/>
        </p:nvSpPr>
        <p:spPr>
          <a:xfrm>
            <a:off x="4892040" y="1069848"/>
            <a:ext cx="3657600" cy="320040"/>
          </a:xfrm>
          <a:prstGeom prst="rect">
            <a:avLst/>
          </a:prstGeom>
          <a:noFill/>
          <a:ln/>
        </p:spPr>
        <p:txBody>
          <a:bodyPr wrap="square" lIns="0" tIns="0" rIns="0" bIns="0" rtlCol="0" anchor="ctr"/>
          <a:lstStyle/>
          <a:p>
            <a:pPr marL="0" indent="0">
              <a:buNone/>
            </a:pPr>
            <a:r>
              <a:rPr lang="en-US" sz="1300" b="1" dirty="0">
                <a:solidFill>
                  <a:srgbClr val="9A6700"/>
                </a:solidFill>
                <a:latin typeface="Calibri" pitchFamily="34" charset="0"/>
                <a:ea typeface="Calibri" pitchFamily="34" charset="-122"/>
                <a:cs typeface="Calibri" pitchFamily="34" charset="-120"/>
              </a:rPr>
              <a:t>NC-01  </a:t>
            </a:r>
            <a:r>
              <a:rPr lang="en-US" sz="1300" b="1" dirty="0">
                <a:solidFill>
                  <a:srgbClr val="14213D"/>
                </a:solidFill>
                <a:latin typeface="Calibri" pitchFamily="34" charset="0"/>
                <a:ea typeface="Calibri" pitchFamily="34" charset="-122"/>
                <a:cs typeface="Calibri" pitchFamily="34" charset="-120"/>
              </a:rPr>
              <a:t>Contraste insuficiente</a:t>
            </a:r>
            <a:endParaRPr lang="en-US" sz="1300" dirty="0"/>
          </a:p>
        </p:txBody>
      </p:sp>
      <p:sp>
        <p:nvSpPr>
          <p:cNvPr id="8" name="Text 5"/>
          <p:cNvSpPr txBox="1"/>
          <p:nvPr/>
        </p:nvSpPr>
        <p:spPr>
          <a:xfrm>
            <a:off x="4892040" y="1389888"/>
            <a:ext cx="3657600" cy="54864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Texto verde de stock 4.17:1; WCAG 1.4.3 pide 4.5:1. Impide el nivel AA completo.</a:t>
            </a:r>
            <a:endParaRPr lang="en-US" sz="1100" dirty="0"/>
          </a:p>
        </p:txBody>
      </p:sp>
      <p:sp>
        <p:nvSpPr>
          <p:cNvPr id="9" name="Shape 6"/>
          <p:cNvSpPr/>
          <p:nvPr/>
        </p:nvSpPr>
        <p:spPr>
          <a:xfrm>
            <a:off x="4754880" y="2103120"/>
            <a:ext cx="3931920" cy="960120"/>
          </a:xfrm>
          <a:prstGeom prst="roundRect">
            <a:avLst>
              <a:gd name="adj" fmla="val 7619"/>
            </a:avLst>
          </a:prstGeom>
          <a:solidFill>
            <a:srgbClr val="EEF2F7"/>
          </a:solidFill>
          <a:ln w="12700">
            <a:solidFill>
              <a:srgbClr val="EEF2F7"/>
            </a:solidFill>
            <a:prstDash val="solid"/>
          </a:ln>
        </p:spPr>
        <p:txBody>
          <a:bodyPr/>
          <a:lstStyle/>
          <a:p>
            <a:endParaRPr lang="es-PE"/>
          </a:p>
        </p:txBody>
      </p:sp>
      <p:sp>
        <p:nvSpPr>
          <p:cNvPr id="10" name="Text 7"/>
          <p:cNvSpPr txBox="1"/>
          <p:nvPr/>
        </p:nvSpPr>
        <p:spPr>
          <a:xfrm>
            <a:off x="4892040" y="2167128"/>
            <a:ext cx="3657600" cy="32004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OBS-01  Hash de contraseñas</a:t>
            </a:r>
            <a:endParaRPr lang="en-US" sz="1300" dirty="0"/>
          </a:p>
        </p:txBody>
      </p:sp>
      <p:sp>
        <p:nvSpPr>
          <p:cNvPr id="11" name="Text 8"/>
          <p:cNvSpPr txBox="1"/>
          <p:nvPr/>
        </p:nvSpPr>
        <p:spPr>
          <a:xfrm>
            <a:off x="4892040" y="2487168"/>
            <a:ext cx="3657600" cy="54864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No están en texto plano, pero el hash no es criptográfico: limitación aceptada sin servidor.</a:t>
            </a:r>
            <a:endParaRPr lang="en-US" sz="1100" dirty="0"/>
          </a:p>
        </p:txBody>
      </p:sp>
      <p:sp>
        <p:nvSpPr>
          <p:cNvPr id="12" name="Shape 9"/>
          <p:cNvSpPr/>
          <p:nvPr/>
        </p:nvSpPr>
        <p:spPr>
          <a:xfrm>
            <a:off x="4754880" y="3200400"/>
            <a:ext cx="3931920" cy="960120"/>
          </a:xfrm>
          <a:prstGeom prst="roundRect">
            <a:avLst>
              <a:gd name="adj" fmla="val 7619"/>
            </a:avLst>
          </a:prstGeom>
          <a:solidFill>
            <a:srgbClr val="EEF2F7"/>
          </a:solidFill>
          <a:ln w="12700">
            <a:solidFill>
              <a:srgbClr val="EEF2F7"/>
            </a:solidFill>
            <a:prstDash val="solid"/>
          </a:ln>
        </p:spPr>
        <p:txBody>
          <a:bodyPr/>
          <a:lstStyle/>
          <a:p>
            <a:endParaRPr lang="es-PE"/>
          </a:p>
        </p:txBody>
      </p:sp>
      <p:sp>
        <p:nvSpPr>
          <p:cNvPr id="13" name="Text 10"/>
          <p:cNvSpPr txBox="1"/>
          <p:nvPr/>
        </p:nvSpPr>
        <p:spPr>
          <a:xfrm>
            <a:off x="4892040" y="3264408"/>
            <a:ext cx="3657600" cy="32004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OBS-02  Firefox no verificado</a:t>
            </a:r>
            <a:endParaRPr lang="en-US" sz="1300" dirty="0"/>
          </a:p>
        </p:txBody>
      </p:sp>
      <p:sp>
        <p:nvSpPr>
          <p:cNvPr id="14" name="Text 11"/>
          <p:cNvSpPr txBox="1"/>
          <p:nvPr/>
        </p:nvSpPr>
        <p:spPr>
          <a:xfrm>
            <a:off x="4892040" y="3584448"/>
            <a:ext cx="3657600" cy="548640"/>
          </a:xfrm>
          <a:prstGeom prst="rect">
            <a:avLst/>
          </a:prstGeom>
          <a:noFill/>
          <a:ln/>
        </p:spPr>
        <p:txBody>
          <a:bodyPr wrap="square" lIns="0" tIns="0" rIns="0" bIns="0" rtlCol="0" anchor="t"/>
          <a:lstStyle/>
          <a:p>
            <a:pPr marL="0" indent="0">
              <a:buNone/>
            </a:pPr>
            <a:r>
              <a:rPr lang="en-US" sz="1100" dirty="0">
                <a:solidFill>
                  <a:srgbClr val="4A5568"/>
                </a:solidFill>
                <a:latin typeface="Calibri" pitchFamily="34" charset="0"/>
                <a:ea typeface="Calibri" pitchFamily="34" charset="-122"/>
                <a:cs typeface="Calibri" pitchFamily="34" charset="-120"/>
              </a:rPr>
              <a:t>No está instalado en el equipo de pruebas.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A94A6"/>
                </a:solidFill>
                <a:latin typeface="Calibri"/>
                <a:ea typeface="Calibri"/>
                <a:cs typeface="Calibri"/>
              </a:defRPr>
            </a:lvl1pPr>
          </a:lstStyle>
          <a:p>
            <a:pPr algn="r"/>
            <a:fld id="{F7021451-1387-4CA6-816F-3879F97B5CBC}" type="slidenum">
              <a:rPr lang="en-US" b="0"/>
              <a:t>3</a:t>
            </a:fld>
            <a:endParaRPr lang="en-US"/>
          </a:p>
        </p:txBody>
      </p:sp>
      <p:sp>
        <p:nvSpPr>
          <p:cNvPr id="26" name="TextBox 25"/>
          <p:cNvSpPr txBox="1"/>
          <p:nvPr/>
        </p:nvSpPr>
        <p:spPr>
          <a:xfrm>
            <a:off x="457200" y="274320"/>
            <a:ext cx="8229600" cy="548640"/>
          </a:xfrm>
          <a:prstGeom prst="rect">
            <a:avLst/>
          </a:prstGeom>
          <a:noFill/>
        </p:spPr>
        <p:txBody>
          <a:bodyPr wrap="square" lIns="0" rIns="0" tIns="0" bIns="0" anchor="ctr">
            <a:spAutoFit/>
          </a:bodyPr>
          <a:lstStyle/>
          <a:p>
            <a:pPr algn="ctr"/>
            <a:r>
              <a:rPr sz="2600" b="1">
                <a:solidFill>
                  <a:srgbClr val="14213D"/>
                </a:solidFill>
                <a:latin typeface="Calibri"/>
              </a:rPr>
              <a:t>Del requerimiento a la conformidad</a:t>
            </a:r>
          </a:p>
        </p:txBody>
      </p:sp>
      <p:graphicFrame>
        <p:nvGraphicFramePr>
          <p:cNvPr id="27" name="Table 26"/>
          <p:cNvGraphicFramePr>
            <a:graphicFrameLocks noGrp="1"/>
          </p:cNvGraphicFramePr>
          <p:nvPr/>
        </p:nvGraphicFramePr>
        <p:xfrm>
          <a:off x="457200" y="914400"/>
          <a:ext cx="8229600" cy="2880360"/>
        </p:xfrm>
        <a:graphic>
          <a:graphicData uri="http://schemas.openxmlformats.org/drawingml/2006/table">
            <a:tbl>
              <a:tblPr firstRow="0" bandRow="0"/>
              <a:tblGrid>
                <a:gridCol w="1828800"/>
                <a:gridCol w="1005840"/>
                <a:gridCol w="2103120"/>
                <a:gridCol w="2011680"/>
                <a:gridCol w="1280160"/>
              </a:tblGrid>
              <a:tr h="411480">
                <a:tc>
                  <a:txBody>
                    <a:bodyPr wrap="square"/>
                    <a:lstStyle/>
                    <a:p>
                      <a:r>
                        <a:rPr sz="1100" b="1">
                          <a:solidFill>
                            <a:srgbClr val="FFFFFF"/>
                          </a:solidFill>
                          <a:latin typeface="Calibri"/>
                        </a:rPr>
                        <a:t>Requerimiento</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Historia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Caso de prueba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Métrica (Plan de Calidad)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c>
                  <a:txBody>
                    <a:bodyPr wrap="square"/>
                    <a:lstStyle/>
                    <a:p>
                      <a:r>
                        <a:rPr sz="1100" b="1">
                          <a:solidFill>
                            <a:srgbClr val="FFFFFF"/>
                          </a:solidFill>
                          <a:latin typeface="Calibri"/>
                        </a:rPr>
                        <a:t>Conformidad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14213D"/>
                    </a:solidFill>
                  </a:tcPr>
                </a:tc>
              </a:tr>
              <a:tr h="411480">
                <a:tc>
                  <a:txBody>
                    <a:bodyPr wrap="square"/>
                    <a:lstStyle/>
                    <a:p>
                      <a:r>
                        <a:rPr sz="1100" b="1">
                          <a:solidFill>
                            <a:srgbClr val="4A5568"/>
                          </a:solidFill>
                          <a:latin typeface="Calibri"/>
                        </a:rPr>
                        <a:t>R1 Desglose de montos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HU14, HU25</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CP037–CP038, CP067–CP069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Exactitud de cálculos: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CC07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11480">
                <a:tc>
                  <a:txBody>
                    <a:bodyPr wrap="square"/>
                    <a:lstStyle/>
                    <a:p>
                      <a:r>
                        <a:rPr sz="1100" b="1">
                          <a:solidFill>
                            <a:srgbClr val="4A5568"/>
                          </a:solidFill>
                          <a:latin typeface="Calibri"/>
                        </a:rPr>
                        <a:t>R3 Buscar y filtrar</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HU02–HU04</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CP004–CP013</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Cumplimiento de requisitos: pendiente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No aplica (sin norma)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411480">
                <a:tc>
                  <a:txBody>
                    <a:bodyPr wrap="square"/>
                    <a:lstStyle/>
                    <a:p>
                      <a:r>
                        <a:rPr sz="1100" b="1">
                          <a:solidFill>
                            <a:srgbClr val="4A5568"/>
                          </a:solidFill>
                          <a:latin typeface="Calibri"/>
                        </a:rPr>
                        <a:t>R6 Autenticación segura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HU18, HU20</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CP046–CP049, CP053–CP056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CC01, CC02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11480">
                <a:tc>
                  <a:txBody>
                    <a:bodyPr wrap="square"/>
                    <a:lstStyle/>
                    <a:p>
                      <a:r>
                        <a:rPr sz="1100" b="1">
                          <a:solidFill>
                            <a:srgbClr val="4A5568"/>
                          </a:solidFill>
                          <a:latin typeface="Calibri"/>
                        </a:rPr>
                        <a:t>R7 Cierre por inactividad</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HU22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CP059–CP060</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CC03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r h="411480">
                <a:tc>
                  <a:txBody>
                    <a:bodyPr wrap="square"/>
                    <a:lstStyle/>
                    <a:p>
                      <a:r>
                        <a:rPr sz="1100" b="1">
                          <a:solidFill>
                            <a:srgbClr val="4A5568"/>
                          </a:solidFill>
                          <a:latin typeface="Calibri"/>
                        </a:rPr>
                        <a:t>R8 Consentimiento de datos</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HU19</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CP050–CP052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c>
                  <a:txBody>
                    <a:bodyPr wrap="square"/>
                    <a:lstStyle/>
                    <a:p>
                      <a:r>
                        <a:rPr sz="1100" b="0">
                          <a:solidFill>
                            <a:srgbClr val="4A5568"/>
                          </a:solidFill>
                          <a:latin typeface="Calibri"/>
                        </a:rPr>
                        <a:t>CC04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FFFFF"/>
                    </a:solidFill>
                  </a:tcPr>
                </a:tc>
              </a:tr>
              <a:tr h="411480">
                <a:tc>
                  <a:txBody>
                    <a:bodyPr wrap="square"/>
                    <a:lstStyle/>
                    <a:p>
                      <a:r>
                        <a:rPr sz="1100" b="1">
                          <a:solidFill>
                            <a:srgbClr val="4A5568"/>
                          </a:solidFill>
                          <a:latin typeface="Calibri"/>
                        </a:rPr>
                        <a:t>R9 Pago con tarjeta</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HU26</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CP070–CP072</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Controles de seguridad: 100 %</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c>
                  <a:txBody>
                    <a:bodyPr wrap="square"/>
                    <a:lstStyle/>
                    <a:p>
                      <a:r>
                        <a:rPr sz="1100" b="0">
                          <a:solidFill>
                            <a:srgbClr val="4A5568"/>
                          </a:solidFill>
                          <a:latin typeface="Calibri"/>
                        </a:rPr>
                        <a:t>CC05 · Cumple</a:t>
                      </a:r>
                    </a:p>
                  </a:txBody>
                  <a:tcPr marL="54864" marR="54864" marT="36576" marB="36576" anchor="ctr">
                    <a:lnL w="6350">
                      <a:solidFill>
                        <a:srgbClr val="E4EAF2"/>
                      </a:solidFill>
                    </a:lnL>
                    <a:lnR w="6350">
                      <a:solidFill>
                        <a:srgbClr val="E4EAF2"/>
                      </a:solidFill>
                    </a:lnR>
                    <a:lnT w="6350">
                      <a:solidFill>
                        <a:srgbClr val="E4EAF2"/>
                      </a:solidFill>
                    </a:lnT>
                    <a:lnB w="6350">
                      <a:solidFill>
                        <a:srgbClr val="E4EAF2"/>
                      </a:solidFill>
                    </a:lnB>
                    <a:solidFill>
                      <a:srgbClr val="F7F9FC"/>
                    </a:solidFill>
                  </a:tcPr>
                </a:tc>
              </a:tr>
            </a:tbl>
          </a:graphicData>
        </a:graphic>
      </p:graphicFrame>
      <p:sp>
        <p:nvSpPr>
          <p:cNvPr id="28" name="Rounded Rectangle 27"/>
          <p:cNvSpPr/>
          <p:nvPr/>
        </p:nvSpPr>
        <p:spPr>
          <a:xfrm>
            <a:off x="457200" y="3931920"/>
            <a:ext cx="7315200" cy="411480"/>
          </a:xfrm>
          <a:prstGeom prst="roundRect">
            <a:avLst>
              <a:gd name="adj" fmla="val 15000"/>
            </a:avLst>
          </a:prstGeom>
          <a:solidFill>
            <a:srgbClr val="FFF4E0"/>
          </a:solidFill>
          <a:ln>
            <a:solidFill>
              <a:srgbClr val="FFF4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931920"/>
            <a:ext cx="7040880" cy="411480"/>
          </a:xfrm>
          <a:prstGeom prst="rect">
            <a:avLst/>
          </a:prstGeom>
          <a:noFill/>
        </p:spPr>
        <p:txBody>
          <a:bodyPr wrap="square" lIns="0" rIns="0" tIns="0" bIns="0" anchor="ctr">
            <a:spAutoFit/>
          </a:bodyPr>
          <a:lstStyle/>
          <a:p>
            <a:pPr algn="l"/>
            <a:r>
              <a:rPr sz="1200" b="1">
                <a:solidFill>
                  <a:srgbClr val="5C4400"/>
                </a:solidFill>
                <a:latin typeface="Calibri"/>
              </a:rPr>
              <a:t>Ejemplo R6: </a:t>
            </a:r>
            <a:r>
              <a:rPr sz="1200" b="0">
                <a:solidFill>
                  <a:srgbClr val="5C4400"/>
                </a:solidFill>
                <a:latin typeface="Calibri"/>
              </a:rPr>
              <a:t>Ishikawa (seguridad) → HU20 → CP055 → controles de seguridad 100 % → CC02 cumple.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11480"/>
            <a:ext cx="7680960" cy="54864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Conclusiones y próximos pasos</a:t>
            </a:r>
            <a:endParaRPr lang="en-US" sz="2800" dirty="0"/>
          </a:p>
        </p:txBody>
      </p:sp>
      <p:sp>
        <p:nvSpPr>
          <p:cNvPr id="3" name="Text 1"/>
          <p:cNvSpPr txBox="1"/>
          <p:nvPr/>
        </p:nvSpPr>
        <p:spPr>
          <a:xfrm>
            <a:off x="731520" y="1143000"/>
            <a:ext cx="3840480" cy="2743200"/>
          </a:xfrm>
          <a:prstGeom prst="rect">
            <a:avLst/>
          </a:prstGeom>
          <a:noFill/>
          <a:ln/>
        </p:spPr>
        <p:txBody>
          <a:bodyPr wrap="square" lIns="0" tIns="0" rIns="0" bIns="0" rtlCol="0" anchor="t"/>
          <a:lstStyle/>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9 requerimientos obtenidos con afinidad, Ishikawa y 5 por qués.</a:t>
            </a:r>
            <a:endParaRPr lang="en-US" sz="1500" dirty="0"/>
          </a:p>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Cada requerimiento tiene su HU con criterios Dado / Cuando / Entonces.</a:t>
            </a:r>
            <a:endParaRPr lang="en-US" sz="1500" dirty="0"/>
          </a:p>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7/7 casos de conformidad y 9 de 14 métricas cumplen su meta.</a:t>
            </a:r>
            <a:endParaRPr lang="en-US" sz="1500" dirty="0"/>
          </a:p>
          <a:p>
            <a:pPr marL="152400" indent="-152400">
              <a:spcAft>
                <a:spcPts val="800"/>
              </a:spcAft>
              <a:buSzPct val="100000"/>
              <a:buChar char="•"/>
            </a:pPr>
            <a:r>
              <a:rPr lang="en-US" sz="1500" dirty="0">
                <a:solidFill>
                  <a:srgbClr val="C9D3E3"/>
                </a:solidFill>
                <a:latin typeface="Calibri" pitchFamily="34" charset="0"/>
                <a:ea typeface="Calibri" pitchFamily="34" charset="-122"/>
                <a:cs typeface="Calibri" pitchFamily="34" charset="-120"/>
              </a:rPr>
              <a:t>96 casos diseñados; 3 defectos, ninguno crítico.</a:t>
            </a:r>
            <a:endParaRPr lang="en-US" sz="1500" dirty="0"/>
          </a:p>
        </p:txBody>
      </p:sp>
      <p:sp>
        <p:nvSpPr>
          <p:cNvPr id="4" name="Text 2"/>
          <p:cNvSpPr txBox="1"/>
          <p:nvPr/>
        </p:nvSpPr>
        <p:spPr>
          <a:xfrm>
            <a:off x="4937760" y="1097280"/>
            <a:ext cx="3474720" cy="365760"/>
          </a:xfrm>
          <a:prstGeom prst="rect">
            <a:avLst/>
          </a:prstGeom>
          <a:noFill/>
          <a:ln/>
        </p:spPr>
        <p:txBody>
          <a:bodyPr wrap="square" lIns="0" tIns="0" rIns="0" bIns="0" rtlCol="0" anchor="ctr"/>
          <a:lstStyle/>
          <a:p>
            <a:pPr marL="0" indent="0">
              <a:buNone/>
            </a:pPr>
            <a:r>
              <a:rPr lang="en-US" sz="1600" b="1" dirty="0">
                <a:solidFill>
                  <a:srgbClr val="FCA311"/>
                </a:solidFill>
                <a:latin typeface="Calibri" pitchFamily="34" charset="0"/>
                <a:ea typeface="Calibri" pitchFamily="34" charset="-122"/>
                <a:cs typeface="Calibri" pitchFamily="34" charset="-120"/>
              </a:rPr>
              <a:t>Próximos pasos</a:t>
            </a:r>
            <a:endParaRPr lang="en-US" sz="1600" dirty="0"/>
          </a:p>
        </p:txBody>
      </p:sp>
      <p:sp>
        <p:nvSpPr>
          <p:cNvPr id="5" name="Shape 3"/>
          <p:cNvSpPr/>
          <p:nvPr/>
        </p:nvSpPr>
        <p:spPr>
          <a:xfrm>
            <a:off x="4937760" y="1554480"/>
            <a:ext cx="384048" cy="384048"/>
          </a:xfrm>
          <a:prstGeom prst="ellipse">
            <a:avLst/>
          </a:prstGeom>
          <a:solidFill>
            <a:srgbClr val="FCA311"/>
          </a:solidFill>
          <a:ln w="12700">
            <a:solidFill>
              <a:srgbClr val="FCA311"/>
            </a:solidFill>
            <a:prstDash val="solid"/>
          </a:ln>
        </p:spPr>
        <p:txBody>
          <a:bodyPr/>
          <a:lstStyle/>
          <a:p>
            <a:endParaRPr lang="es-PE"/>
          </a:p>
        </p:txBody>
      </p:sp>
      <p:sp>
        <p:nvSpPr>
          <p:cNvPr id="6" name="Text 4"/>
          <p:cNvSpPr txBox="1"/>
          <p:nvPr/>
        </p:nvSpPr>
        <p:spPr>
          <a:xfrm>
            <a:off x="4937760" y="1554480"/>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5486400" y="1554480"/>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Prueba con ≥ 5 usuarios (T1–T5 y SUS)</a:t>
            </a:r>
            <a:endParaRPr lang="en-US" sz="1400" dirty="0"/>
          </a:p>
        </p:txBody>
      </p:sp>
      <p:sp>
        <p:nvSpPr>
          <p:cNvPr id="8" name="Shape 6"/>
          <p:cNvSpPr/>
          <p:nvPr/>
        </p:nvSpPr>
        <p:spPr>
          <a:xfrm>
            <a:off x="4937760" y="2121408"/>
            <a:ext cx="384048" cy="384048"/>
          </a:xfrm>
          <a:prstGeom prst="ellipse">
            <a:avLst/>
          </a:prstGeom>
          <a:solidFill>
            <a:srgbClr val="FCA311"/>
          </a:solidFill>
          <a:ln w="12700">
            <a:solidFill>
              <a:srgbClr val="FCA311"/>
            </a:solidFill>
            <a:prstDash val="solid"/>
          </a:ln>
        </p:spPr>
        <p:txBody>
          <a:bodyPr/>
          <a:lstStyle/>
          <a:p>
            <a:endParaRPr lang="es-PE"/>
          </a:p>
        </p:txBody>
      </p:sp>
      <p:sp>
        <p:nvSpPr>
          <p:cNvPr id="9" name="Text 7"/>
          <p:cNvSpPr txBox="1"/>
          <p:nvPr/>
        </p:nvSpPr>
        <p:spPr>
          <a:xfrm>
            <a:off x="4937760" y="2121408"/>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5486400" y="2121408"/>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Ejecutar los 84 casos funcionales</a:t>
            </a:r>
            <a:endParaRPr lang="en-US" sz="1400" dirty="0"/>
          </a:p>
        </p:txBody>
      </p:sp>
      <p:sp>
        <p:nvSpPr>
          <p:cNvPr id="11" name="Shape 9"/>
          <p:cNvSpPr/>
          <p:nvPr/>
        </p:nvSpPr>
        <p:spPr>
          <a:xfrm>
            <a:off x="4937760" y="2688336"/>
            <a:ext cx="384048" cy="384048"/>
          </a:xfrm>
          <a:prstGeom prst="ellipse">
            <a:avLst/>
          </a:prstGeom>
          <a:solidFill>
            <a:srgbClr val="FCA311"/>
          </a:solidFill>
          <a:ln w="12700">
            <a:solidFill>
              <a:srgbClr val="FCA311"/>
            </a:solidFill>
            <a:prstDash val="solid"/>
          </a:ln>
        </p:spPr>
        <p:txBody>
          <a:bodyPr/>
          <a:lstStyle/>
          <a:p>
            <a:endParaRPr lang="es-PE"/>
          </a:p>
        </p:txBody>
      </p:sp>
      <p:sp>
        <p:nvSpPr>
          <p:cNvPr id="12" name="Text 10"/>
          <p:cNvSpPr txBox="1"/>
          <p:nvPr/>
        </p:nvSpPr>
        <p:spPr>
          <a:xfrm>
            <a:off x="4937760" y="2688336"/>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5486400" y="2688336"/>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Corregir D-01 y D-02 y medir el MTTR</a:t>
            </a:r>
            <a:endParaRPr lang="en-US" sz="1400" dirty="0"/>
          </a:p>
        </p:txBody>
      </p:sp>
      <p:sp>
        <p:nvSpPr>
          <p:cNvPr id="14" name="Shape 12"/>
          <p:cNvSpPr/>
          <p:nvPr/>
        </p:nvSpPr>
        <p:spPr>
          <a:xfrm>
            <a:off x="4937760" y="3255264"/>
            <a:ext cx="384048" cy="384048"/>
          </a:xfrm>
          <a:prstGeom prst="ellipse">
            <a:avLst/>
          </a:prstGeom>
          <a:solidFill>
            <a:srgbClr val="FCA311"/>
          </a:solidFill>
          <a:ln w="12700">
            <a:solidFill>
              <a:srgbClr val="FCA311"/>
            </a:solidFill>
            <a:prstDash val="solid"/>
          </a:ln>
        </p:spPr>
        <p:txBody>
          <a:bodyPr/>
          <a:lstStyle/>
          <a:p>
            <a:endParaRPr lang="es-PE"/>
          </a:p>
        </p:txBody>
      </p:sp>
      <p:sp>
        <p:nvSpPr>
          <p:cNvPr id="15" name="Text 13"/>
          <p:cNvSpPr txBox="1"/>
          <p:nvPr/>
        </p:nvSpPr>
        <p:spPr>
          <a:xfrm>
            <a:off x="4937760" y="3255264"/>
            <a:ext cx="384048" cy="384048"/>
          </a:xfrm>
          <a:prstGeom prst="rect">
            <a:avLst/>
          </a:prstGeom>
          <a:noFill/>
          <a:ln/>
        </p:spPr>
        <p:txBody>
          <a:bodyPr wrap="square" lIns="0" tIns="0" rIns="0" bIns="0" rtlCol="0" anchor="ctr"/>
          <a:lstStyle/>
          <a:p>
            <a:pPr marL="0" indent="0" algn="ctr">
              <a:buNone/>
            </a:pPr>
            <a:r>
              <a:rPr lang="en-US" sz="1300" b="1" dirty="0">
                <a:solidFill>
                  <a:srgbClr val="14213D"/>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5486400" y="3255264"/>
            <a:ext cx="3017520" cy="384048"/>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Verificar el flujo en Firefox</a:t>
            </a:r>
            <a:endParaRPr lang="en-US" sz="1400" dirty="0"/>
          </a:p>
        </p:txBody>
      </p:sp>
      <p:sp>
        <p:nvSpPr>
          <p:cNvPr id="17" name="Text 15"/>
          <p:cNvSpPr txBox="1"/>
          <p:nvPr/>
        </p:nvSpPr>
        <p:spPr>
          <a:xfrm>
            <a:off x="731520" y="4206240"/>
            <a:ext cx="7680960" cy="411480"/>
          </a:xfrm>
          <a:prstGeom prst="rect">
            <a:avLst/>
          </a:prstGeom>
          <a:noFill/>
          <a:ln/>
        </p:spPr>
        <p:txBody>
          <a:bodyPr wrap="square" lIns="0" tIns="0" rIns="0" bIns="0" rtlCol="0" anchor="ctr"/>
          <a:lstStyle/>
          <a:p>
            <a:pPr marL="0" indent="0">
              <a:buNone/>
            </a:pPr>
            <a:r>
              <a:rPr lang="en-US" sz="1800" b="1" dirty="0">
                <a:solidFill>
                  <a:srgbClr val="FCA311"/>
                </a:solidFill>
                <a:latin typeface="Calibri" pitchFamily="34" charset="0"/>
                <a:ea typeface="Calibri" pitchFamily="34" charset="-122"/>
                <a:cs typeface="Calibri" pitchFamily="34" charset="-120"/>
              </a:rPr>
              <a:t>Gracias · ¿Preguntas?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3861</Words>
  <Application>Microsoft Office PowerPoint</Application>
  <PresentationFormat>Presentación en pantalla (16:9)</PresentationFormat>
  <Paragraphs>494</Paragraphs>
  <Slides>24</Slides>
  <Notes>24</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24</vt:i4>
      </vt:variant>
    </vt:vector>
  </HeadingPairs>
  <TitlesOfParts>
    <vt:vector size="27"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de Pruebas, Plan de Calidad y Prueba de Conformidad – TechStore</dc:title>
  <dc:subject>PptxGenJS Presentation</dc:subject>
  <dc:creator>PptxGenJS</dc:creator>
  <cp:lastModifiedBy>ALUMNO - Diego Aaron DAMIAN VALDIVIA</cp:lastModifiedBy>
  <cp:revision>2</cp:revision>
  <dcterms:created xsi:type="dcterms:W3CDTF">2026-10-09T23:14:56Z</dcterms:created>
  <dcterms:modified xsi:type="dcterms:W3CDTF">2026-10-16T23:31:38Z</dcterms:modified>
</cp:coreProperties>
</file>