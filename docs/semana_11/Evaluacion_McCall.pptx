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76" r:id="rId3"/>
    <p:sldId id="277" r:id="rId4"/>
    <p:sldId id="278" r:id="rId5"/>
    <p:sldId id="279" r:id="rId6"/>
    <p:sldId id="280" r:id="rId7"/>
    <p:sldId id="283" r:id="rId8"/>
    <p:sldId id="284" r:id="rId9"/>
    <p:sldId id="27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451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Presento los tres entregables de aseguramiento de la calidad de TechStore: el Plan de Pruebas, el Plan de Calidad y la Prueba de Conformidad. Para que cada concepto sea concreto, lo explicaré con las cinco tareas que realizan los usuarios en nuestra prueba de usabilidad: buscar, filtrar, agregar al carrito, aplicar un cupón y comprar.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 resumen: con el diagrama de afinidad, el Ishikawa y los cinco por qués obtuvimos nueve requerimientos, y cada uno quedó como historia de usuario con criterios verificables. Los tres planes cierran el ciclo: TechStore cumple las normas evaluadas, siete de siete casos de conformidad, nueve de catorce métricas cumplen y ninguna medida está bajo la meta, y hay 96 casos diseñados con tres defectos, ninguno crítico. Los próximos pasos son la prueba con al menos cinco usuarios, ejecutar los 84 casos funcionales, corregir D-01 y D-02 para medir el MTTR y verificar el flujo en Firefox.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TechStore · Calidad de Software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502920"/>
            <a:ext cx="2103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3" name="Image 0" descr="Logo de la Universidad Tecnológica del Perú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589788"/>
            <a:ext cx="1865376" cy="49651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6858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INGENIERÍA DE SOFTWARE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3258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la calidad con el modelo de McCall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514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TechStore – Semana 11: factores y atributos de calidad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461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</a:t>
            </a: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Software – Sección 37648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Profesor: </a:t>
            </a: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Luis Blanco Reyna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</a:t>
            </a: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DAMIÁN VALDIVIA, Diego Aarón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– Perú,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14213D"/>
                </a:solidFill>
                <a:latin typeface="Calibri"/>
              </a:rPr>
              <a:t>Modelo de McCall: 3 categorías y 11 factores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1005840"/>
            <a:ext cx="2606040" cy="32004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114300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4213D"/>
                </a:solidFill>
                <a:latin typeface="Calibri"/>
              </a:rPr>
              <a:t>Operación del producto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155448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B7791F"/>
                </a:solidFill>
                <a:latin typeface="Calibri"/>
              </a:rPr>
              <a:t>¿Qué tan bien funciona el software al usarlo?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2194560"/>
            <a:ext cx="22402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Calibri"/>
              </a:rPr>
              <a:t>• Corrección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Calibri"/>
              </a:rPr>
              <a:t>• Confiabilidad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Calibri"/>
              </a:rPr>
              <a:t>• Eficiencia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Calibri"/>
              </a:rPr>
              <a:t>• Integridad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Calibri"/>
              </a:rPr>
              <a:t>• Usabilidad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68980" y="1005840"/>
            <a:ext cx="2606040" cy="32004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51860" y="114300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4213D"/>
                </a:solidFill>
                <a:latin typeface="Calibri"/>
              </a:rPr>
              <a:t>Revisión del producto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1860" y="155448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B7791F"/>
                </a:solidFill>
                <a:latin typeface="Calibri"/>
              </a:rPr>
              <a:t>¿Qué tan fácil es corregirlo, cambiarlo y probarlo?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51860" y="2194560"/>
            <a:ext cx="22402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Calibri"/>
              </a:rPr>
              <a:t>• Mantenibilidad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Calibri"/>
              </a:rPr>
              <a:t>• Flexibilidad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Calibri"/>
              </a:rPr>
              <a:t>• Testabilidad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80760" y="1005840"/>
            <a:ext cx="2606040" cy="32004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63640" y="114300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4213D"/>
                </a:solidFill>
                <a:latin typeface="Calibri"/>
              </a:rPr>
              <a:t>Transición del producto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155448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B7791F"/>
                </a:solidFill>
                <a:latin typeface="Calibri"/>
              </a:rPr>
              <a:t>¿Qué tan fácil es llevarlo a otro entorno o reutilizarlo?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194560"/>
            <a:ext cx="22402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Calibri"/>
              </a:rPr>
              <a:t>• Portabilidad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Calibri"/>
              </a:rPr>
              <a:t>• Reusabilidad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Calibri"/>
              </a:rPr>
              <a:t>• Interoperabilidad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McCall, Richards y Walters (1977), para la Fuerza Aérea de EE. UU. Es la base de ISO 9126 e ISO/IEC 25010.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14213D"/>
                </a:solidFill>
                <a:latin typeface="Calibri"/>
              </a:rPr>
              <a:t>Cómo se evaluó TechStore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1005840"/>
            <a:ext cx="3840480" cy="10058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94360" y="1143000"/>
            <a:ext cx="411480" cy="411480"/>
          </a:xfrm>
          <a:prstGeom prst="ellipse">
            <a:avLst/>
          </a:prstGeom>
          <a:solidFill>
            <a:srgbClr val="14213D"/>
          </a:solidFill>
          <a:ln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114300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4213D"/>
                </a:solidFill>
                <a:latin typeface="Calibri"/>
              </a:rPr>
              <a:t>Evidencia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146304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Datos ya medidos: Plan de Pruebas, Plan de Calidad, Conformidad, Usabilidad y la versión publicada.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103120"/>
            <a:ext cx="3840480" cy="10058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94360" y="2240280"/>
            <a:ext cx="411480" cy="411480"/>
          </a:xfrm>
          <a:prstGeom prst="ellipse">
            <a:avLst/>
          </a:prstGeom>
          <a:solidFill>
            <a:srgbClr val="14213D"/>
          </a:solidFill>
          <a:ln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22402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22402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4213D"/>
                </a:solidFill>
                <a:latin typeface="Calibri"/>
              </a:rPr>
              <a:t>Propiedades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256032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Cada factor se divide en 2 o 3 criterios de McCall (30 propiedades medibles).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200400"/>
            <a:ext cx="3840480" cy="10058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94360" y="3337560"/>
            <a:ext cx="411480" cy="411480"/>
          </a:xfrm>
          <a:prstGeom prst="ellipse">
            <a:avLst/>
          </a:prstGeom>
          <a:solidFill>
            <a:srgbClr val="14213D"/>
          </a:solidFill>
          <a:ln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" y="33375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33375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4213D"/>
                </a:solidFill>
                <a:latin typeface="Calibri"/>
              </a:rPr>
              <a:t>Valoración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365760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Cada propiedad recibe de 1 a 5 según una escala fijada antes de evaluar; el factor es el promedio.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4572000" y="1005840"/>
          <a:ext cx="4114800" cy="30292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L="36000" marR="36000" marT="36000" marB="36000" anchor="ctr">
                    <a:lnB w="6350">
                      <a:solidFill>
                        <a:srgbClr val="E4EAF2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Nivel</a:t>
                      </a:r>
                    </a:p>
                  </a:txBody>
                  <a:tcPr marL="36000" marR="36000" marT="36000" marB="36000" anchor="ctr">
                    <a:lnB w="6350">
                      <a:solidFill>
                        <a:srgbClr val="E4EAF2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 marL="36000" marR="36000" marT="36000" marB="36000" anchor="ctr">
                    <a:lnB w="6350">
                      <a:solidFill>
                        <a:srgbClr val="E4EAF2"/>
                      </a:solidFill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A556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Cumple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Cumple la meta con evidencia medida y sin observaciones.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A556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Cumple con observaciones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Cumple la meta, pero hay observaciones menores o defectos ya corregidos.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A556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Cumple parcialmente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Cumple en parte o con limitaciones conocidas y aceptadas por el alcance.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A556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Débil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Existe el mecanismo o la medición, pero no alcanza la meta.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A556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No cumple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No está implementado o no hay evidencia.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4572000" y="443484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Puntaje global = promedio de los 11 factores (× 20 en %).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14213D"/>
                </a:solidFill>
                <a:latin typeface="Calibri"/>
              </a:rPr>
              <a:t>Instrumento McCall – Operación del producto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57200" y="1005840"/>
          <a:ext cx="8229600" cy="31641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 marL="36000" marR="36000" marT="36000" marB="36000" anchor="ctr">
                    <a:lnB w="6350">
                      <a:solidFill>
                        <a:srgbClr val="E4EAF2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Propiedad medible: valor</a:t>
                      </a:r>
                    </a:p>
                  </a:txBody>
                  <a:tcPr marL="36000" marR="36000" marT="36000" marB="36000" anchor="ctr">
                    <a:lnB w="6350">
                      <a:solidFill>
                        <a:srgbClr val="E4EAF2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Evidencia clave</a:t>
                      </a:r>
                    </a:p>
                  </a:txBody>
                  <a:tcPr marL="36000" marR="36000" marT="36000" marB="36000" anchor="ctr">
                    <a:lnB w="6350">
                      <a:solidFill>
                        <a:srgbClr val="E4EAF2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Puntaje</a:t>
                      </a:r>
                    </a:p>
                  </a:txBody>
                  <a:tcPr marL="36000" marR="36000" marT="36000" marB="36000" anchor="ctr">
                    <a:lnB w="6350">
                      <a:solidFill>
                        <a:srgbClr val="E4EAF2"/>
                      </a:solidFill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A5568"/>
                          </a:solidFill>
                          <a:latin typeface="Calibri"/>
                        </a:rPr>
                        <a:t>Corrección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Trazabilidad: 5
Completitud: 5
Exactitud de cálculos: 5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Los 30 requisitos funcionales están implementados y sus 84 casos de prueba pasaron; los totales con IGV, cupones y envío siempre salen exactos.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5,0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A5568"/>
                          </a:solidFill>
                          <a:latin typeface="Calibri"/>
                        </a:rPr>
                        <a:t>Confiabilidad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Tolerancia a errores: 5
Madurez: 4
Estabilidad tras cambios: 5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Tras corregir 3 defectos menores, la regresión pasó 282 de 282 ejecuciones; no hubo defectos críticos (3,5 por cada 1000 líneas).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4,7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A5568"/>
                          </a:solidFill>
                          <a:latin typeface="Calibri"/>
                        </a:rPr>
                        <a:t>Eficiencia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Eficiencia de ejecución: 5
Eficiencia de recursos: 5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Las páginas cargan en menos de 0,06 s y el contenido principal aparece en menos de 0,6 s; Lighthouse da 96–100 de rendimiento.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5,0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92A2A"/>
                          </a:solidFill>
                          <a:latin typeface="Calibri"/>
                        </a:rPr>
                        <a:t>Integridad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C92A2A"/>
                          </a:solidFill>
                          <a:latin typeface="Calibri"/>
                        </a:rPr>
                        <a:t>Control de acceso: 4
Protección de datos: 4
Auditoría de acceso: 2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C92A2A"/>
                          </a:solidFill>
                          <a:latin typeface="Calibri"/>
                        </a:rPr>
                        <a:t>Cumple contraseña segura, bloqueo por intentos, cierre de sesión y protección de la tarjeta; sin servidor, el cifrado es básico y no se registran accesos.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92A2A"/>
                          </a:solidFill>
                          <a:latin typeface="Calibri"/>
                        </a:rPr>
                        <a:t>3,3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A5568"/>
                          </a:solidFill>
                          <a:latin typeface="Calibri"/>
                        </a:rPr>
                        <a:t>Usabilidad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Operabilidad: 4
Facilidad de aprendizaje: 4
Comunicabilidad y accesibilidad: 5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9 de cada 10 tareas se completaron y la satisfacción (SUS 84,4) es «Excelente»*; la accesibilidad obtuvo 100 en Lighthouse.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4,3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213D"/>
                </a:solidFill>
                <a:latin typeface="Calibri"/>
              </a:rPr>
              <a:t>Promedio de la categoría: 4,5 (90 %) – nivel «Alto».  * 7 de los 8 participantes de usabilidad son sintéticos.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14213D"/>
                </a:solidFill>
                <a:latin typeface="Calibri"/>
              </a:rPr>
              <a:t>Instrumento McCall – Revisión del producto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57200" y="1005840"/>
          <a:ext cx="8229600" cy="28000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 marL="36000" marR="36000" marT="36000" marB="36000" anchor="ctr">
                    <a:lnB w="6350">
                      <a:solidFill>
                        <a:srgbClr val="E4EAF2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Propiedad medible: valor</a:t>
                      </a:r>
                    </a:p>
                  </a:txBody>
                  <a:tcPr marL="36000" marR="36000" marT="36000" marB="36000" anchor="ctr">
                    <a:lnB w="6350">
                      <a:solidFill>
                        <a:srgbClr val="E4EAF2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Evidencia clave</a:t>
                      </a:r>
                    </a:p>
                  </a:txBody>
                  <a:tcPr marL="36000" marR="36000" marT="36000" marB="36000" anchor="ctr">
                    <a:lnB w="6350">
                      <a:solidFill>
                        <a:srgbClr val="E4EAF2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Puntaje</a:t>
                      </a:r>
                    </a:p>
                  </a:txBody>
                  <a:tcPr marL="36000" marR="36000" marT="36000" marB="36000" anchor="ctr">
                    <a:lnB w="6350">
                      <a:solidFill>
                        <a:srgbClr val="E4EAF2"/>
                      </a:solidFill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A5568"/>
                          </a:solidFill>
                          <a:latin typeface="Calibri"/>
                        </a:rPr>
                        <a:t>Mantenibilidad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Modularidad: 5
Esfuerzo de corrección: 5
Tiempo medio de corrección: 2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El código está separado en módulos y los defectos se arreglaron con cambios pequeños, pero tardaron 15 días en corregirse (meta: 2).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4,0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92A2A"/>
                          </a:solidFill>
                          <a:latin typeface="Calibri"/>
                        </a:rPr>
                        <a:t>Flexibilidad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C92A2A"/>
                          </a:solidFill>
                          <a:latin typeface="Calibri"/>
                        </a:rPr>
                        <a:t>Expansibilidad: 4
Autodescripción: 4
Cambio sin programar: 2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C92A2A"/>
                          </a:solidFill>
                          <a:latin typeface="Calibri"/>
                        </a:rPr>
                        <a:t>Precios, cupones, envíos e IGV se cambian editando un solo archivo de datos, pero no hay un panel para hacerlo sin programar.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92A2A"/>
                          </a:solidFill>
                          <a:latin typeface="Calibri"/>
                        </a:rPr>
                        <a:t>3,3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A5568"/>
                          </a:solidFill>
                          <a:latin typeface="Calibri"/>
                        </a:rPr>
                        <a:t>Testabilidad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Instrumentación: 5
Aislamiento: 5
Automatización: 5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164 elementos marcados para automatizar, 66 pruebas unitarias y 96 casos que se ejecutan solos en Chrome, Edge y Firefox.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5,0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213D"/>
                </a:solidFill>
                <a:latin typeface="Calibri"/>
              </a:rPr>
              <a:t>Promedio de la categoría: 4,1 (82 %) – nivel «Bueno».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14213D"/>
                </a:solidFill>
                <a:latin typeface="Calibri"/>
              </a:rPr>
              <a:t>Instrumento McCall – Transición del producto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57200" y="1005840"/>
          <a:ext cx="8229600" cy="28000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 marL="36000" marR="36000" marT="36000" marB="36000" anchor="ctr">
                    <a:lnB w="6350">
                      <a:solidFill>
                        <a:srgbClr val="E4EAF2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Propiedad medible: valor</a:t>
                      </a:r>
                    </a:p>
                  </a:txBody>
                  <a:tcPr marL="36000" marR="36000" marT="36000" marB="36000" anchor="ctr">
                    <a:lnB w="6350">
                      <a:solidFill>
                        <a:srgbClr val="E4EAF2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Evidencia clave</a:t>
                      </a:r>
                    </a:p>
                  </a:txBody>
                  <a:tcPr marL="36000" marR="36000" marT="36000" marB="36000" anchor="ctr">
                    <a:lnB w="6350">
                      <a:solidFill>
                        <a:srgbClr val="E4EAF2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Puntaje</a:t>
                      </a:r>
                    </a:p>
                  </a:txBody>
                  <a:tcPr marL="36000" marR="36000" marT="36000" marB="36000" anchor="ctr">
                    <a:lnB w="6350">
                      <a:solidFill>
                        <a:srgbClr val="E4EAF2"/>
                      </a:solidFill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A5568"/>
                          </a:solidFill>
                          <a:latin typeface="Calibri"/>
                        </a:rPr>
                        <a:t>Portabilidad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Independencia del navegador y la pantalla: 5
Independencia del entorno: 5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Funciona igual en Chrome, Edge y Firefox, del celular al escritorio, y se abre sin instalar nada (doble clic o GitHub Pages).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5,0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92A2A"/>
                          </a:solidFill>
                          <a:latin typeface="Calibri"/>
                        </a:rPr>
                        <a:t>Reusabilidad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C92A2A"/>
                          </a:solidFill>
                          <a:latin typeface="Calibri"/>
                        </a:rPr>
                        <a:t>Modularidad: 4
Generalidad: 3
Independencia: 2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C92A2A"/>
                          </a:solidFill>
                          <a:latin typeface="Calibri"/>
                        </a:rPr>
                        <a:t>Los módulos tienen funciones claras (carrito, pagos, almacenamiento), pero dependen de variables globales y de un orden de carga fijo.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92A2A"/>
                          </a:solidFill>
                          <a:latin typeface="Calibri"/>
                        </a:rPr>
                        <a:t>3,0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92A2A"/>
                          </a:solidFill>
                          <a:latin typeface="Calibri"/>
                        </a:rPr>
                        <a:t>Interoperabilidad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C92A2A"/>
                          </a:solidFill>
                          <a:latin typeface="Calibri"/>
                        </a:rPr>
                        <a:t>Comunicaciones comunes: 1
Datos comunes: 3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C92A2A"/>
                          </a:solidFill>
                          <a:latin typeface="Calibri"/>
                        </a:rPr>
                        <a:t>No tiene API ni servidor, así que no puede intercambiar pedidos con otros sistemas; solo exporta los resultados de usabilidad en JSON y CSV.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92A2A"/>
                          </a:solidFill>
                          <a:latin typeface="Calibri"/>
                        </a:rPr>
                        <a:t>2,0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213D"/>
                </a:solidFill>
                <a:latin typeface="Calibri"/>
              </a:rPr>
              <a:t>Promedio de la categoría: 3,3 (66 %) – nivel «Medio».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14213D"/>
                </a:solidFill>
                <a:latin typeface="Calibri"/>
              </a:rPr>
              <a:t>Fortalezas y debilidades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1005840"/>
            <a:ext cx="4023360" cy="338328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11430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F855A"/>
                </a:solidFill>
                <a:latin typeface="Calibri"/>
              </a:rPr>
              <a:t>Fortalezas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1600200"/>
            <a:ext cx="36576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• Corrección y testabilidad 5,0: 30/30 RF, 96/96 casos, 66/66 unitarias.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• Eficiencia y portabilidad 5,0: carga &lt; 60 ms, 3 navegadores, 375–1920 px.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• Accesibilidad 100 y WCAG AA; datos de tarjeta protegidos.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1005840"/>
            <a:ext cx="4023360" cy="338328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46320" y="11430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C92A2A"/>
                </a:solidFill>
                <a:latin typeface="Calibri"/>
              </a:rPr>
              <a:t>Debilidades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1600200"/>
            <a:ext cx="36576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• Interoperabilidad 2,0: sin API ni backend.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• Reusabilidad 3,0 y flexibilidad 3,3: scripts globales, cambios editando código.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• Integridad 3,3: sin servidor no hay hash seguro ni auditoría.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• MTTR de 15 días (meta ≤ 2).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14213D"/>
                </a:solidFill>
                <a:latin typeface="Calibri"/>
              </a:rPr>
              <a:t>Plan de mejora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601503"/>
              </p:ext>
            </p:extLst>
          </p:nvPr>
        </p:nvGraphicFramePr>
        <p:xfrm>
          <a:off x="457200" y="1005840"/>
          <a:ext cx="8229600" cy="28800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N.°</a:t>
                      </a:r>
                    </a:p>
                  </a:txBody>
                  <a:tcPr marL="36000" marR="36000" marT="36000" marB="36000" anchor="ctr">
                    <a:lnB w="6350">
                      <a:solidFill>
                        <a:srgbClr val="E4EAF2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 marL="36000" marR="36000" marT="36000" marB="36000" anchor="ctr">
                    <a:lnB w="6350">
                      <a:solidFill>
                        <a:srgbClr val="E4EAF2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Acción</a:t>
                      </a:r>
                    </a:p>
                  </a:txBody>
                  <a:tcPr marL="36000" marR="36000" marT="36000" marB="36000" anchor="ctr">
                    <a:lnB w="6350">
                      <a:solidFill>
                        <a:srgbClr val="E4EAF2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Prioridad</a:t>
                      </a:r>
                    </a:p>
                  </a:txBody>
                  <a:tcPr marL="36000" marR="36000" marT="36000" marB="36000" anchor="ctr">
                    <a:lnB w="6350">
                      <a:solidFill>
                        <a:srgbClr val="E4EAF2"/>
                      </a:solidFill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A5568"/>
                          </a:solidFill>
                          <a:latin typeface="Calibri"/>
                        </a:rPr>
                        <a:t>PM01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Interoperabilidad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Permitir descargar los pedidos en JSON o CSV y documentar cómo sería la API para conectar la tienda con un servidor en una futura versión.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A5568"/>
                          </a:solidFill>
                          <a:latin typeface="Calibri"/>
                        </a:rPr>
                        <a:t>PM02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Mantenibilidad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Corregir cada defecto como máximo 2 días después de confirmarlo y registrar las fechas de reporte y cierre para medir el MTTR.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A5568"/>
                          </a:solidFill>
                          <a:latin typeface="Calibri"/>
                        </a:rPr>
                        <a:t>PM03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Integridad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Dejar documentado que una versión real necesita servidor, contraseñas cifradas con un algoritmo seguro (bcrypt o Argon2) y registro de accesos.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A5568"/>
                          </a:solidFill>
                          <a:latin typeface="Calibri"/>
                        </a:rPr>
                        <a:t>PM04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Flexibilidad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Pasar a data.js las reglas que aún están en el código (intentos y tiempo de bloqueo) y evaluar un panel para editar precios y cupones sin programar.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A5568"/>
                          </a:solidFill>
                          <a:latin typeface="Calibri"/>
                        </a:rPr>
                        <a:t>PM05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Reusabilidad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Reorganizar los módulos para que no dependan de variables globales y se puedan llevar a otro proyecto sin cambios.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4A5568"/>
                          </a:solidFill>
                          <a:latin typeface="Calibri"/>
                        </a:rPr>
                        <a:t>Baja</a:t>
                      </a: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rgbClr val="E4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AF2"/>
                      </a:solidFill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recomendaciones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4300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TechStore obtiene 4,1/5 (82 %) en McCall: calidad «Bueno».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es multidimensional: corrección 5,0 frente a interoperabilidad 2,0.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McCall complementa a ISO/IEC 25010: la transición mostró lo que no medíamos.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debilidades vienen del alcance (sin backend), no de defectos.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93776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937760" y="1554480"/>
            <a:ext cx="384048" cy="384048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 txBox="1"/>
          <p:nvPr/>
        </p:nvSpPr>
        <p:spPr>
          <a:xfrm>
            <a:off x="493776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554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McCall desde el diseño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2121408"/>
            <a:ext cx="384048" cy="384048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 txBox="1"/>
          <p:nvPr/>
        </p:nvSpPr>
        <p:spPr>
          <a:xfrm>
            <a:off x="493776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21214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RNF y una métrica por factor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2688336"/>
            <a:ext cx="384048" cy="384048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 txBox="1"/>
          <p:nvPr/>
        </p:nvSpPr>
        <p:spPr>
          <a:xfrm>
            <a:off x="493776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6883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Reaplicar el instrumento en cada versión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3255264"/>
            <a:ext cx="384048" cy="384048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 txBox="1"/>
          <p:nvPr/>
        </p:nvSpPr>
        <p:spPr>
          <a:xfrm>
            <a:off x="493776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32552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usabilidad con usuarios reales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2062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· ¿Preguntas?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1373</Words>
  <Application>Microsoft Office PowerPoint</Application>
  <PresentationFormat>Presentación en pantalla (16:9)</PresentationFormat>
  <Paragraphs>178</Paragraphs>
  <Slides>9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Pruebas, Plan de Calidad y Prueba de Conformidad – TechStore</dc:title>
  <dc:subject>PptxGenJS Presentation</dc:subject>
  <dc:creator>PptxGenJS</dc:creator>
  <cp:lastModifiedBy>ALUMNO - Diego Aaron DAMIAN VALDIVIA</cp:lastModifiedBy>
  <cp:revision>4</cp:revision>
  <dcterms:created xsi:type="dcterms:W3CDTF">2026-10-09T23:14:56Z</dcterms:created>
  <dcterms:modified xsi:type="dcterms:W3CDTF">2026-10-25T07:25:02Z</dcterms:modified>
</cp:coreProperties>
</file>