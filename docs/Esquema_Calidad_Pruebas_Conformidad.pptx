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233C501-9607-6FD7-5F88-22059824C7CC}">
          <p14:sldIdLst>
            <p14:sldId id="256"/>
            <p14:sldId id="257"/>
            <p14:sldId id="258"/>
          </p14:sldIdLst>
        </p14:section>
        <p14:section name="Plan de Calidad" id="{36765C67-2527-D50D-39B7-23EF1704755F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lan de Pruebas" id="{3E639C74-9169-1901-F8CB-8D3F3DC61DE1}">
          <p14:sldIdLst>
            <p14:sldId id="265"/>
            <p14:sldId id="266"/>
            <p14:sldId id="267"/>
            <p14:sldId id="268"/>
            <p14:sldId id="269"/>
            <p14:sldId id="270"/>
            <p14:sldId id="279"/>
            <p14:sldId id="271"/>
            <p14:sldId id="272"/>
            <p14:sldId id="280"/>
          </p14:sldIdLst>
        </p14:section>
        <p14:section name="Conformidad" id="{4729A5D9-E5C0-64AC-639A-6694611E0BE3}">
          <p14:sldIdLst>
            <p14:sldId id="273"/>
            <p14:sldId id="274"/>
            <p14:sldId id="275"/>
            <p14:sldId id="276"/>
            <p14:sldId id="277"/>
          </p14:sldIdLst>
        </p14:section>
        <p14:section name="Cierre" id="{1B505F7F-177D-B518-8104-D97D46496D50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38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avance de los tres instrumentos de aseguramiento de calidad para TechStore: plan de calidad, plan de pruebas y pruebas de conformidad.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TechStore es una tienda web solo frontend. Todo el esquema mantiene trazabilidad con el informe de historias de usuario: HU01–HU30, RF01–RF30, RNF01–RNF09 y épicas EP01–EP05.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actividad pide tres esquemas. Cada uno se presenta como una parte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parte: qué normas seguimos y cómo medimos la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objetivos que guían el plan. El alcance cubre todo el ciclo, desde las historias de usuario hasta la publicación en GitHub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ISO/IEC 25010 es el eje: de ahí salen las características que medimos. IEEE 730 y 29119 dan la estructura de los planes. WCAG y la Ley 29733 cubren accesibilidad y datos personales.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tarjeta es una métrica con su meta mínima. Por ejemplo, la fiabilidad se mide con las 53 pruebas unitarias, que deben pasar al 100 %, y la usabilidad con la tasa de éxito con la herramienta propia y la escala 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estrategias se apoyan en herramientas gratuitas y sin backend: el mini-framework de pruebas en el navegador, DevTools y Lighthouse, la herramienta propia de usabilidad y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se acepta solo si se cumplen los cuatro criterios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parte: cómo vamos a probar TechStore y cuándo damos una prueba por aprobada.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niveles, de lo más pequeño (funciones) a lo más grande (usuarios reales). Queda fuera lo que el sistema no tiene: pasarela de pago real, servidor y carga concurrente.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tipo de prueba tiene una técnica concreta y está ligado a HU o RNF. La regresión consiste en volver a correr tests.html después de cada cambio.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empezar a probar se necesitan requisitos aprobados y el entorno listo. Para terminar, al menos el 95 % de los casos ejecutados y ningún defecto crítico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esperado de cada caso es el mensaje real que muestra la aplicación. Datos de prueba: demo@techstore.pe / Demo@1234 y la tarjeta 4111 1111 1111 1111.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esperado de cada caso es el mensaje real que muestra la aplicación. Datos de prueba: demo@techstore.pe / Demo@1234 y la tarjeta 4111 1111 1111 1111.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empezar a probar se necesitan requisitos aprobados y el entorno listo. Para terminar, al menos el 95 % de los casos ejecutados y ningún defecto crítico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semanas de pruebas. Las métricas de prueba indican si el plan se cumplió: casos ejecutados, casos aprobados y cobertura de requisitos.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riesgos principales y lo que haremos para reducirlos.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se acepta solo si se cumplen los cuatro criterios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parte: qué normas y leyes debe cumplir TechStore y cómo lo comprobamos.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normas o regulaciones. Para cada una se indica qué exige y cómo lo cumple la aplicación hoy. Por ejemplo, para PCI DSS el pedido guarda solo la marca y los 4 últimos dígitos de la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Siete casos, cada uno con su requisito y su criterio de conformidad. Tres corresponden a la característica de seguridad de ISO/IEC 25010, que es el atributo del modelo del docente.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formato completo de cada caso, igual al del modelo del docente: requisito, precondiciones, entradas, pasos, resultado esperado y criterio de conformidad.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avance: los casos ya están diseñados y la próxima semana se ejecutan y se registran sus resultados con evidencias.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con los próximos pasos y abro espacio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· Calidad de Software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400" b="1" kern="0" spc="20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· INGENIERÍA DE SOFTWARE</a:t>
            </a:r>
            <a:endParaRPr lang="en-US" sz="1400" dirty="0"/>
          </a:p>
        </p:txBody>
      </p:sp>
      <p:sp>
        <p:nvSpPr>
          <p:cNvPr id="3" name="txt2"/>
          <p:cNvSpPr txBox="1"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Plan de Calidad, Plan de Pruebas y Pruebas de Conformidad</a:t>
            </a:r>
            <a:endParaRPr lang="en-US" sz="3400" dirty="0"/>
          </a:p>
        </p:txBody>
      </p:sp>
      <p:sp>
        <p:nvSpPr>
          <p:cNvPr id="5" name="txt4"/>
          <p:cNvSpPr txBox="1"/>
          <p:nvPr/>
        </p:nvSpPr>
        <p:spPr>
          <a:xfrm>
            <a:off x="731520" y="3429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n-US" sz="140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 – Sección 37648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40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Luis Blanco Reyna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b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40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DAMIÁN VALDIVIA, Diego Aarón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– Perú, 2026 · Versión 1.0</a:t>
            </a:r>
            <a:endParaRPr lang="en-US" sz="1400" dirty="0">
              <a:solidFill>
                <a:srgbClr val="C9D3E3"/>
              </a:solidFill>
            </a:endParaRPr>
          </a:p>
        </p:txBody>
      </p:sp>
      <p:sp>
        <p:nvSpPr>
          <p:cNvPr id="4" name="logoCard">
            <a:extLst>
              <a:ext uri="{FF2B5EF4-FFF2-40B4-BE49-F238E27FC236}">
                <a16:creationId xmlns:a16="http://schemas.microsoft.com/office/drawing/2014/main" id="{C0158DFF-2233-748E-6FB7-4A16D6664521}"/>
              </a:ext>
            </a:extLst>
          </p:cNvPr>
          <p:cNvSpPr/>
          <p:nvPr/>
        </p:nvSpPr>
        <p:spPr>
          <a:xfrm>
            <a:off x="6604000" y="5080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logoUTP" descr="Logo de la Universidad Tecnológica del Perú">
            <a:extLst>
              <a:ext uri="{FF2B5EF4-FFF2-40B4-BE49-F238E27FC236}">
                <a16:creationId xmlns:a16="http://schemas.microsoft.com/office/drawing/2014/main" id="{585C0159-974E-7851-B736-BB0F8F2956D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0" y="590550"/>
            <a:ext cx="1651000" cy="439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TechStore: el sistema bajo evaluación</a:t>
            </a:r>
            <a:endParaRPr lang="en-US" sz="2800" dirty="0"/>
          </a:p>
        </p:txBody>
      </p:sp>
      <p:sp>
        <p:nvSpPr>
          <p:cNvPr id="4" name="txt5"/>
          <p:cNvSpPr txBox="1"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web de tecnología: catálogo, carrito, cupones, registro e inicio de sesión, checkout con pago simulado e historial de pedidos.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y JavaScript puro, sin backend; datos en localStorage.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r>
              <a:rPr lang="en-US" sz="1500" b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(diegoaaron.github.io/calidadProyecto/).</a:t>
            </a:r>
            <a:endParaRPr lang="en-US" sz="1500" dirty="0"/>
          </a:p>
          <a:p>
            <a:pPr marL="0" indent="0">
              <a:buNone/>
            </a:pPr>
            <a:r>
              <a:rPr lang="en-US" sz="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</a:t>
            </a: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métrica, caso de prueba y caso de conformidad apunta a una HU/RF o RNF.</a:t>
            </a:r>
            <a:endParaRPr lang="en-US" sz="1500" dirty="0"/>
          </a:p>
        </p:txBody>
      </p:sp>
      <p:sp>
        <p:nvSpPr>
          <p:cNvPr id="5" name="box6"/>
          <p:cNvSpPr/>
          <p:nvPr/>
        </p:nvSpPr>
        <p:spPr>
          <a:xfrm>
            <a:off x="4663440" y="11887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7"/>
          <p:cNvSpPr txBox="1"/>
          <p:nvPr/>
        </p:nvSpPr>
        <p:spPr>
          <a:xfrm>
            <a:off x="4846320" y="1325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400" dirty="0"/>
          </a:p>
        </p:txBody>
      </p:sp>
      <p:sp>
        <p:nvSpPr>
          <p:cNvPr id="7" name="txt8"/>
          <p:cNvSpPr txBox="1"/>
          <p:nvPr/>
        </p:nvSpPr>
        <p:spPr>
          <a:xfrm>
            <a:off x="48463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(HU01–HU30)</a:t>
            </a:r>
            <a:endParaRPr lang="en-US" sz="1200" dirty="0"/>
          </a:p>
        </p:txBody>
      </p:sp>
      <p:sp>
        <p:nvSpPr>
          <p:cNvPr id="8" name="box9"/>
          <p:cNvSpPr/>
          <p:nvPr/>
        </p:nvSpPr>
        <p:spPr>
          <a:xfrm>
            <a:off x="6720840" y="118872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xt10"/>
          <p:cNvSpPr txBox="1"/>
          <p:nvPr/>
        </p:nvSpPr>
        <p:spPr>
          <a:xfrm>
            <a:off x="6903720" y="1325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xt11"/>
          <p:cNvSpPr txBox="1"/>
          <p:nvPr/>
        </p:nvSpPr>
        <p:spPr>
          <a:xfrm>
            <a:off x="690372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(EP01–EP05)</a:t>
            </a:r>
            <a:endParaRPr lang="en-US" sz="1200" dirty="0"/>
          </a:p>
        </p:txBody>
      </p:sp>
      <p:sp>
        <p:nvSpPr>
          <p:cNvPr id="11" name="box12"/>
          <p:cNvSpPr/>
          <p:nvPr/>
        </p:nvSpPr>
        <p:spPr>
          <a:xfrm>
            <a:off x="4663440" y="28803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xt13"/>
          <p:cNvSpPr txBox="1"/>
          <p:nvPr/>
        </p:nvSpPr>
        <p:spPr>
          <a:xfrm>
            <a:off x="484632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xt14"/>
          <p:cNvSpPr txBox="1"/>
          <p:nvPr/>
        </p:nvSpPr>
        <p:spPr>
          <a:xfrm>
            <a:off x="484632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200" dirty="0"/>
          </a:p>
        </p:txBody>
      </p:sp>
      <p:sp>
        <p:nvSpPr>
          <p:cNvPr id="14" name="box15"/>
          <p:cNvSpPr/>
          <p:nvPr/>
        </p:nvSpPr>
        <p:spPr>
          <a:xfrm>
            <a:off x="6720840" y="288036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xt16"/>
          <p:cNvSpPr txBox="1"/>
          <p:nvPr/>
        </p:nvSpPr>
        <p:spPr>
          <a:xfrm>
            <a:off x="6903720" y="3017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4400" dirty="0"/>
          </a:p>
        </p:txBody>
      </p:sp>
      <p:sp>
        <p:nvSpPr>
          <p:cNvPr id="16" name="txt17"/>
          <p:cNvSpPr txBox="1"/>
          <p:nvPr/>
        </p:nvSpPr>
        <p:spPr>
          <a:xfrm>
            <a:off x="690372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automatizadas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pide la actividad y cómo se responde</a:t>
            </a:r>
            <a:endParaRPr lang="en-US" sz="2800" dirty="0"/>
          </a:p>
        </p:txBody>
      </p:sp>
      <p:sp>
        <p:nvSpPr>
          <p:cNvPr id="4" name="box18"/>
          <p:cNvSpPr/>
          <p:nvPr/>
        </p:nvSpPr>
        <p:spPr>
          <a:xfrm>
            <a:off x="45720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circ19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20"/>
          <p:cNvSpPr txBox="1"/>
          <p:nvPr/>
        </p:nvSpPr>
        <p:spPr>
          <a:xfrm>
            <a:off x="6858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7" name="txt21"/>
          <p:cNvSpPr txBox="1"/>
          <p:nvPr/>
        </p:nvSpPr>
        <p:spPr>
          <a:xfrm>
            <a:off x="68580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Calidad</a:t>
            </a:r>
            <a:endParaRPr lang="en-US" sz="2000" dirty="0"/>
          </a:p>
        </p:txBody>
      </p:sp>
      <p:sp>
        <p:nvSpPr>
          <p:cNvPr id="8" name="txt22"/>
          <p:cNvSpPr txBox="1"/>
          <p:nvPr/>
        </p:nvSpPr>
        <p:spPr>
          <a:xfrm>
            <a:off x="68580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</a:t>
            </a:r>
            <a:endParaRPr lang="en-US" sz="1400" dirty="0"/>
          </a:p>
        </p:txBody>
      </p:sp>
      <p:sp>
        <p:nvSpPr>
          <p:cNvPr id="9" name="txt23"/>
          <p:cNvSpPr txBox="1"/>
          <p:nvPr/>
        </p:nvSpPr>
        <p:spPr>
          <a:xfrm>
            <a:off x="68580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25010, IEEE 730, ISO 29119, WCAG, Ley 29733 · 14 métricas con meta</a:t>
            </a:r>
            <a:endParaRPr lang="en-US" sz="1200" dirty="0"/>
          </a:p>
        </p:txBody>
      </p:sp>
      <p:sp>
        <p:nvSpPr>
          <p:cNvPr id="10" name="box24"/>
          <p:cNvSpPr/>
          <p:nvPr/>
        </p:nvSpPr>
        <p:spPr>
          <a:xfrm>
            <a:off x="324612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circ25"/>
          <p:cNvSpPr/>
          <p:nvPr/>
        </p:nvSpPr>
        <p:spPr>
          <a:xfrm>
            <a:off x="3474720" y="14173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xt26"/>
          <p:cNvSpPr txBox="1"/>
          <p:nvPr/>
        </p:nvSpPr>
        <p:spPr>
          <a:xfrm>
            <a:off x="34747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800" dirty="0"/>
          </a:p>
        </p:txBody>
      </p:sp>
      <p:sp>
        <p:nvSpPr>
          <p:cNvPr id="13" name="txt27"/>
          <p:cNvSpPr txBox="1"/>
          <p:nvPr/>
        </p:nvSpPr>
        <p:spPr>
          <a:xfrm>
            <a:off x="347472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2000" dirty="0"/>
          </a:p>
        </p:txBody>
      </p:sp>
      <p:sp>
        <p:nvSpPr>
          <p:cNvPr id="14" name="txt28"/>
          <p:cNvSpPr txBox="1"/>
          <p:nvPr/>
        </p:nvSpPr>
        <p:spPr>
          <a:xfrm>
            <a:off x="347472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pruebas y criterios de aceptación</a:t>
            </a:r>
            <a:endParaRPr lang="en-US" sz="1400" dirty="0"/>
          </a:p>
        </p:txBody>
      </p:sp>
      <p:sp>
        <p:nvSpPr>
          <p:cNvPr id="15" name="txt29"/>
          <p:cNvSpPr txBox="1"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 · 9 tipos de prueba · 12 casos CP01–CP12</a:t>
            </a:r>
            <a:endParaRPr lang="en-US" sz="1200" dirty="0"/>
          </a:p>
        </p:txBody>
      </p:sp>
      <p:sp>
        <p:nvSpPr>
          <p:cNvPr id="16" name="box30"/>
          <p:cNvSpPr/>
          <p:nvPr/>
        </p:nvSpPr>
        <p:spPr>
          <a:xfrm>
            <a:off x="6035040" y="1188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circ31"/>
          <p:cNvSpPr/>
          <p:nvPr/>
        </p:nvSpPr>
        <p:spPr>
          <a:xfrm>
            <a:off x="6263640" y="14173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xt32"/>
          <p:cNvSpPr txBox="1"/>
          <p:nvPr/>
        </p:nvSpPr>
        <p:spPr>
          <a:xfrm>
            <a:off x="6263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800" dirty="0"/>
          </a:p>
        </p:txBody>
      </p:sp>
      <p:sp>
        <p:nvSpPr>
          <p:cNvPr id="19" name="txt33"/>
          <p:cNvSpPr txBox="1"/>
          <p:nvPr/>
        </p:nvSpPr>
        <p:spPr>
          <a:xfrm>
            <a:off x="6263640" y="2194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Conformidad</a:t>
            </a:r>
            <a:endParaRPr lang="en-US" sz="2000" dirty="0"/>
          </a:p>
        </p:txBody>
      </p:sp>
      <p:sp>
        <p:nvSpPr>
          <p:cNvPr id="20" name="txt34"/>
          <p:cNvSpPr txBox="1"/>
          <p:nvPr/>
        </p:nvSpPr>
        <p:spPr>
          <a:xfrm>
            <a:off x="6263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o regulaciones a cumplir</a:t>
            </a:r>
            <a:endParaRPr lang="en-US" sz="1400" dirty="0"/>
          </a:p>
        </p:txBody>
      </p:sp>
      <p:sp>
        <p:nvSpPr>
          <p:cNvPr id="21" name="txt35"/>
          <p:cNvSpPr txBox="1"/>
          <p:nvPr/>
        </p:nvSpPr>
        <p:spPr>
          <a:xfrm>
            <a:off x="626364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normas · 7 casos CC01–CC07 · matriz de resultados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36"/>
          <p:cNvSpPr/>
          <p:nvPr/>
        </p:nvSpPr>
        <p:spPr>
          <a:xfrm>
            <a:off x="731520" y="960120"/>
            <a:ext cx="640080" cy="6400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xt37"/>
          <p:cNvSpPr txBox="1"/>
          <p:nvPr/>
        </p:nvSpPr>
        <p:spPr>
          <a:xfrm>
            <a:off x="7315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Calidad</a:t>
            </a:r>
            <a:endParaRPr lang="en-US" sz="4000" dirty="0"/>
          </a:p>
        </p:txBody>
      </p:sp>
      <p:sp>
        <p:nvSpPr>
          <p:cNvPr id="5" name="txt38"/>
          <p:cNvSpPr txBox="1"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métricas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 de calidad</a:t>
            </a:r>
            <a:endParaRPr lang="en-US" sz="2800" dirty="0"/>
          </a:p>
        </p:txBody>
      </p:sp>
      <p:sp>
        <p:nvSpPr>
          <p:cNvPr id="4" name="circ39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40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xt41"/>
          <p:cNvSpPr txBox="1"/>
          <p:nvPr/>
        </p:nvSpPr>
        <p:spPr>
          <a:xfrm>
            <a:off x="1005840" y="1143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los 30 requisitos funcionales y los 9 no funcionales</a:t>
            </a:r>
            <a:endParaRPr lang="en-US" sz="1400" dirty="0"/>
          </a:p>
        </p:txBody>
      </p:sp>
      <p:sp>
        <p:nvSpPr>
          <p:cNvPr id="7" name="circ42"/>
          <p:cNvSpPr/>
          <p:nvPr/>
        </p:nvSpPr>
        <p:spPr>
          <a:xfrm>
            <a:off x="457200" y="1746504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43"/>
          <p:cNvSpPr txBox="1"/>
          <p:nvPr/>
        </p:nvSpPr>
        <p:spPr>
          <a:xfrm>
            <a:off x="45720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xt44"/>
          <p:cNvSpPr txBox="1"/>
          <p:nvPr/>
        </p:nvSpPr>
        <p:spPr>
          <a:xfrm>
            <a:off x="1005840" y="1746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exactos (IGV, cupones, envío, stock) con pruebas automatizadas</a:t>
            </a:r>
            <a:endParaRPr lang="en-US" sz="1400" dirty="0"/>
          </a:p>
        </p:txBody>
      </p:sp>
      <p:sp>
        <p:nvSpPr>
          <p:cNvPr id="10" name="circ45"/>
          <p:cNvSpPr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46"/>
          <p:cNvSpPr txBox="1"/>
          <p:nvPr/>
        </p:nvSpPr>
        <p:spPr>
          <a:xfrm>
            <a:off x="457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xt47"/>
          <p:cNvSpPr txBox="1"/>
          <p:nvPr/>
        </p:nvSpPr>
        <p:spPr>
          <a:xfrm>
            <a:off x="1005840" y="2350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al usuario: contraseñas seguras, sesión con expiración, consentimiento</a:t>
            </a:r>
            <a:endParaRPr lang="en-US" sz="1400" dirty="0"/>
          </a:p>
        </p:txBody>
      </p:sp>
      <p:sp>
        <p:nvSpPr>
          <p:cNvPr id="13" name="circ48"/>
          <p:cNvSpPr/>
          <p:nvPr/>
        </p:nvSpPr>
        <p:spPr>
          <a:xfrm>
            <a:off x="457200" y="2953512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xt49"/>
          <p:cNvSpPr txBox="1"/>
          <p:nvPr/>
        </p:nvSpPr>
        <p:spPr>
          <a:xfrm>
            <a:off x="457200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xt50"/>
          <p:cNvSpPr txBox="1"/>
          <p:nvPr/>
        </p:nvSpPr>
        <p:spPr>
          <a:xfrm>
            <a:off x="1005840" y="2953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usable, accesible y adaptable a móvil y escritorio</a:t>
            </a:r>
            <a:endParaRPr lang="en-US" sz="1400" dirty="0"/>
          </a:p>
        </p:txBody>
      </p:sp>
      <p:sp>
        <p:nvSpPr>
          <p:cNvPr id="16" name="circ51"/>
          <p:cNvSpPr/>
          <p:nvPr/>
        </p:nvSpPr>
        <p:spPr>
          <a:xfrm>
            <a:off x="457200" y="3557016"/>
            <a:ext cx="411480" cy="4114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xt52"/>
          <p:cNvSpPr txBox="1"/>
          <p:nvPr/>
        </p:nvSpPr>
        <p:spPr>
          <a:xfrm>
            <a:off x="45720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xt53"/>
          <p:cNvSpPr txBox="1"/>
          <p:nvPr/>
        </p:nvSpPr>
        <p:spPr>
          <a:xfrm>
            <a:off x="1005840" y="35570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validación en cada entrega semanal</a:t>
            </a:r>
            <a:endParaRPr lang="en-US" sz="1400" dirty="0"/>
          </a:p>
        </p:txBody>
      </p:sp>
      <p:sp>
        <p:nvSpPr>
          <p:cNvPr id="19" name="box54"/>
          <p:cNvSpPr/>
          <p:nvPr/>
        </p:nvSpPr>
        <p:spPr>
          <a:xfrm>
            <a:off x="5577840" y="114300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xt55"/>
          <p:cNvSpPr txBox="1"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800" dirty="0"/>
          </a:p>
        </p:txBody>
      </p:sp>
      <p:sp>
        <p:nvSpPr>
          <p:cNvPr id="21" name="txt56"/>
          <p:cNvSpPr txBox="1"/>
          <p:nvPr/>
        </p:nvSpPr>
        <p:spPr>
          <a:xfrm>
            <a:off x="580644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requisitos (HU)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pantallas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módulos 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unitarias, integración, sistema, aceptación, usabilidad y conformidad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en GitHub Pages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estándares aplicables</a:t>
            </a:r>
            <a:endParaRPr lang="en-US" sz="2800" dirty="0"/>
          </a:p>
        </p:txBody>
      </p:sp>
      <p:sp>
        <p:nvSpPr>
          <p:cNvPr id="4" name="box57"/>
          <p:cNvSpPr/>
          <p:nvPr/>
        </p:nvSpPr>
        <p:spPr>
          <a:xfrm>
            <a:off x="457200" y="1143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58"/>
          <p:cNvSpPr txBox="1"/>
          <p:nvPr/>
        </p:nvSpPr>
        <p:spPr>
          <a:xfrm>
            <a:off x="640080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1700" dirty="0"/>
          </a:p>
        </p:txBody>
      </p:sp>
      <p:sp>
        <p:nvSpPr>
          <p:cNvPr id="6" name="txt59"/>
          <p:cNvSpPr txBox="1"/>
          <p:nvPr/>
        </p:nvSpPr>
        <p:spPr>
          <a:xfrm>
            <a:off x="640080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 del producto: características que se miden</a:t>
            </a:r>
            <a:endParaRPr lang="en-US" sz="1300" dirty="0"/>
          </a:p>
        </p:txBody>
      </p:sp>
      <p:sp>
        <p:nvSpPr>
          <p:cNvPr id="7" name="box60"/>
          <p:cNvSpPr/>
          <p:nvPr/>
        </p:nvSpPr>
        <p:spPr>
          <a:xfrm>
            <a:off x="3246120" y="1143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61"/>
          <p:cNvSpPr txBox="1"/>
          <p:nvPr/>
        </p:nvSpPr>
        <p:spPr>
          <a:xfrm>
            <a:off x="3429000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730</a:t>
            </a:r>
            <a:endParaRPr lang="en-US" sz="1700" dirty="0"/>
          </a:p>
        </p:txBody>
      </p:sp>
      <p:sp>
        <p:nvSpPr>
          <p:cNvPr id="9" name="txt62"/>
          <p:cNvSpPr txBox="1"/>
          <p:nvPr/>
        </p:nvSpPr>
        <p:spPr>
          <a:xfrm>
            <a:off x="3429000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plan de aseguramiento de la calidad</a:t>
            </a:r>
            <a:endParaRPr lang="en-US" sz="1300" dirty="0"/>
          </a:p>
        </p:txBody>
      </p:sp>
      <p:sp>
        <p:nvSpPr>
          <p:cNvPr id="10" name="box63"/>
          <p:cNvSpPr/>
          <p:nvPr/>
        </p:nvSpPr>
        <p:spPr>
          <a:xfrm>
            <a:off x="6035040" y="11430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64"/>
          <p:cNvSpPr txBox="1"/>
          <p:nvPr/>
        </p:nvSpPr>
        <p:spPr>
          <a:xfrm>
            <a:off x="6217920" y="13075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29119</a:t>
            </a:r>
            <a:endParaRPr lang="en-US" sz="1700" dirty="0"/>
          </a:p>
        </p:txBody>
      </p:sp>
      <p:sp>
        <p:nvSpPr>
          <p:cNvPr id="12" name="txt65"/>
          <p:cNvSpPr txBox="1"/>
          <p:nvPr/>
        </p:nvSpPr>
        <p:spPr>
          <a:xfrm>
            <a:off x="6217920" y="1783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documentación de casos (antes IEEE 829)</a:t>
            </a:r>
            <a:endParaRPr lang="en-US" sz="1300" dirty="0"/>
          </a:p>
        </p:txBody>
      </p:sp>
      <p:sp>
        <p:nvSpPr>
          <p:cNvPr id="13" name="box66"/>
          <p:cNvSpPr/>
          <p:nvPr/>
        </p:nvSpPr>
        <p:spPr>
          <a:xfrm>
            <a:off x="45720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xt67"/>
          <p:cNvSpPr txBox="1"/>
          <p:nvPr/>
        </p:nvSpPr>
        <p:spPr>
          <a:xfrm>
            <a:off x="640080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700" dirty="0"/>
          </a:p>
        </p:txBody>
      </p:sp>
      <p:sp>
        <p:nvSpPr>
          <p:cNvPr id="15" name="txt68"/>
          <p:cNvSpPr txBox="1"/>
          <p:nvPr/>
        </p:nvSpPr>
        <p:spPr>
          <a:xfrm>
            <a:off x="6400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planificar–hacer–verificar–actuar en cada entrega</a:t>
            </a:r>
            <a:endParaRPr lang="en-US" sz="1300" dirty="0"/>
          </a:p>
        </p:txBody>
      </p:sp>
      <p:sp>
        <p:nvSpPr>
          <p:cNvPr id="16" name="box69"/>
          <p:cNvSpPr/>
          <p:nvPr/>
        </p:nvSpPr>
        <p:spPr>
          <a:xfrm>
            <a:off x="324612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xt70"/>
          <p:cNvSpPr txBox="1"/>
          <p:nvPr/>
        </p:nvSpPr>
        <p:spPr>
          <a:xfrm>
            <a:off x="3429000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700" dirty="0"/>
          </a:p>
        </p:txBody>
      </p:sp>
      <p:sp>
        <p:nvSpPr>
          <p:cNvPr id="18" name="txt71"/>
          <p:cNvSpPr txBox="1"/>
          <p:nvPr/>
        </p:nvSpPr>
        <p:spPr>
          <a:xfrm>
            <a:off x="342900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accesibilidad web (RNF03)</a:t>
            </a:r>
            <a:endParaRPr lang="en-US" sz="1300" dirty="0"/>
          </a:p>
        </p:txBody>
      </p:sp>
      <p:sp>
        <p:nvSpPr>
          <p:cNvPr id="19" name="box72"/>
          <p:cNvSpPr/>
          <p:nvPr/>
        </p:nvSpPr>
        <p:spPr>
          <a:xfrm>
            <a:off x="603504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xt73"/>
          <p:cNvSpPr txBox="1"/>
          <p:nvPr/>
        </p:nvSpPr>
        <p:spPr>
          <a:xfrm>
            <a:off x="6217920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N.° 29733</a:t>
            </a:r>
            <a:endParaRPr lang="en-US" sz="1700" dirty="0"/>
          </a:p>
        </p:txBody>
      </p:sp>
      <p:sp>
        <p:nvSpPr>
          <p:cNvPr id="21" name="txt74"/>
          <p:cNvSpPr txBox="1"/>
          <p:nvPr/>
        </p:nvSpPr>
        <p:spPr>
          <a:xfrm>
            <a:off x="621792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personales: consentimiento (RNF05, HU19)</a:t>
            </a:r>
            <a:endParaRPr lang="en-US" sz="1300" dirty="0"/>
          </a:p>
        </p:txBody>
      </p:sp>
      <p:sp>
        <p:nvSpPr>
          <p:cNvPr id="22" name="txt75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convenciones internas de código (lógica sin DOM, respuestas { ok, error }, escape con UI.esc, data-testid) – RNF08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calidad (ISO/IEC 25010)</a:t>
            </a:r>
            <a:endParaRPr lang="en-US" sz="2800" dirty="0"/>
          </a:p>
        </p:txBody>
      </p:sp>
      <p:sp>
        <p:nvSpPr>
          <p:cNvPr id="4" name="box76"/>
          <p:cNvSpPr/>
          <p:nvPr/>
        </p:nvSpPr>
        <p:spPr>
          <a:xfrm>
            <a:off x="457200" y="1051560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77"/>
          <p:cNvSpPr txBox="1"/>
          <p:nvPr/>
        </p:nvSpPr>
        <p:spPr>
          <a:xfrm>
            <a:off x="566928" y="112471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900" dirty="0"/>
          </a:p>
        </p:txBody>
      </p:sp>
      <p:sp>
        <p:nvSpPr>
          <p:cNvPr id="6" name="txt78"/>
          <p:cNvSpPr txBox="1"/>
          <p:nvPr/>
        </p:nvSpPr>
        <p:spPr>
          <a:xfrm>
            <a:off x="566928" y="13258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2200" dirty="0"/>
          </a:p>
        </p:txBody>
      </p:sp>
      <p:sp>
        <p:nvSpPr>
          <p:cNvPr id="7" name="txt79"/>
          <p:cNvSpPr txBox="1"/>
          <p:nvPr/>
        </p:nvSpPr>
        <p:spPr>
          <a:xfrm>
            <a:off x="566928" y="1746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verificados ÷ 30</a:t>
            </a:r>
            <a:endParaRPr lang="en-US" sz="1000" dirty="0"/>
          </a:p>
        </p:txBody>
      </p:sp>
      <p:sp>
        <p:nvSpPr>
          <p:cNvPr id="8" name="box80"/>
          <p:cNvSpPr/>
          <p:nvPr/>
        </p:nvSpPr>
        <p:spPr>
          <a:xfrm>
            <a:off x="2125980" y="1051560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xt81"/>
          <p:cNvSpPr txBox="1"/>
          <p:nvPr/>
        </p:nvSpPr>
        <p:spPr>
          <a:xfrm>
            <a:off x="2235708" y="112471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900" dirty="0"/>
          </a:p>
        </p:txBody>
      </p:sp>
      <p:sp>
        <p:nvSpPr>
          <p:cNvPr id="10" name="txt82"/>
          <p:cNvSpPr txBox="1"/>
          <p:nvPr/>
        </p:nvSpPr>
        <p:spPr>
          <a:xfrm>
            <a:off x="2235708" y="13258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11" name="txt83"/>
          <p:cNvSpPr txBox="1"/>
          <p:nvPr/>
        </p:nvSpPr>
        <p:spPr>
          <a:xfrm>
            <a:off x="2235708" y="1746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cálculos</a:t>
            </a:r>
            <a:endParaRPr lang="en-US" sz="1000" dirty="0"/>
          </a:p>
        </p:txBody>
      </p:sp>
      <p:sp>
        <p:nvSpPr>
          <p:cNvPr id="12" name="box84"/>
          <p:cNvSpPr/>
          <p:nvPr/>
        </p:nvSpPr>
        <p:spPr>
          <a:xfrm>
            <a:off x="3794760" y="1051560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xt85"/>
          <p:cNvSpPr txBox="1"/>
          <p:nvPr/>
        </p:nvSpPr>
        <p:spPr>
          <a:xfrm>
            <a:off x="3904488" y="112471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900" dirty="0"/>
          </a:p>
        </p:txBody>
      </p:sp>
      <p:sp>
        <p:nvSpPr>
          <p:cNvPr id="14" name="txt86"/>
          <p:cNvSpPr txBox="1"/>
          <p:nvPr/>
        </p:nvSpPr>
        <p:spPr>
          <a:xfrm>
            <a:off x="3904488" y="13258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15" name="txt87"/>
          <p:cNvSpPr txBox="1"/>
          <p:nvPr/>
        </p:nvSpPr>
        <p:spPr>
          <a:xfrm>
            <a:off x="3904488" y="1746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aprobadas</a:t>
            </a:r>
            <a:endParaRPr lang="en-US" sz="1000" dirty="0"/>
          </a:p>
        </p:txBody>
      </p:sp>
      <p:sp>
        <p:nvSpPr>
          <p:cNvPr id="16" name="box88"/>
          <p:cNvSpPr/>
          <p:nvPr/>
        </p:nvSpPr>
        <p:spPr>
          <a:xfrm>
            <a:off x="5463540" y="1051560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xt89"/>
          <p:cNvSpPr txBox="1"/>
          <p:nvPr/>
        </p:nvSpPr>
        <p:spPr>
          <a:xfrm>
            <a:off x="5573268" y="112471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900" dirty="0"/>
          </a:p>
        </p:txBody>
      </p:sp>
      <p:sp>
        <p:nvSpPr>
          <p:cNvPr id="18" name="txt90"/>
          <p:cNvSpPr txBox="1"/>
          <p:nvPr/>
        </p:nvSpPr>
        <p:spPr>
          <a:xfrm>
            <a:off x="5573268" y="13258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5/KLOC</a:t>
            </a:r>
            <a:endParaRPr lang="en-US" sz="2200" dirty="0"/>
          </a:p>
        </p:txBody>
      </p:sp>
      <p:sp>
        <p:nvSpPr>
          <p:cNvPr id="19" name="txt91"/>
          <p:cNvSpPr txBox="1"/>
          <p:nvPr/>
        </p:nvSpPr>
        <p:spPr>
          <a:xfrm>
            <a:off x="5573268" y="1746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defectos</a:t>
            </a:r>
            <a:endParaRPr lang="en-US" sz="1000" dirty="0"/>
          </a:p>
        </p:txBody>
      </p:sp>
      <p:sp>
        <p:nvSpPr>
          <p:cNvPr id="20" name="box92"/>
          <p:cNvSpPr/>
          <p:nvPr/>
        </p:nvSpPr>
        <p:spPr>
          <a:xfrm>
            <a:off x="7132320" y="1051560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xt93"/>
          <p:cNvSpPr txBox="1"/>
          <p:nvPr/>
        </p:nvSpPr>
        <p:spPr>
          <a:xfrm>
            <a:off x="7242048" y="112471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900" dirty="0"/>
          </a:p>
        </p:txBody>
      </p:sp>
      <p:sp>
        <p:nvSpPr>
          <p:cNvPr id="22" name="txt94"/>
          <p:cNvSpPr txBox="1"/>
          <p:nvPr/>
        </p:nvSpPr>
        <p:spPr>
          <a:xfrm>
            <a:off x="7242048" y="13258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xt95"/>
          <p:cNvSpPr txBox="1"/>
          <p:nvPr/>
        </p:nvSpPr>
        <p:spPr>
          <a:xfrm>
            <a:off x="7242048" y="1746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críticos abiertos</a:t>
            </a:r>
            <a:endParaRPr lang="en-US" sz="1000" dirty="0"/>
          </a:p>
        </p:txBody>
      </p:sp>
      <p:sp>
        <p:nvSpPr>
          <p:cNvPr id="24" name="box96"/>
          <p:cNvSpPr/>
          <p:nvPr/>
        </p:nvSpPr>
        <p:spPr>
          <a:xfrm>
            <a:off x="457200" y="2212848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xt97"/>
          <p:cNvSpPr txBox="1"/>
          <p:nvPr/>
        </p:nvSpPr>
        <p:spPr>
          <a:xfrm>
            <a:off x="566928" y="2286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900" dirty="0"/>
          </a:p>
        </p:txBody>
      </p:sp>
      <p:sp>
        <p:nvSpPr>
          <p:cNvPr id="26" name="txt98"/>
          <p:cNvSpPr txBox="1"/>
          <p:nvPr/>
        </p:nvSpPr>
        <p:spPr>
          <a:xfrm>
            <a:off x="566928" y="248716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2200" dirty="0"/>
          </a:p>
        </p:txBody>
      </p:sp>
      <p:sp>
        <p:nvSpPr>
          <p:cNvPr id="27" name="txt99"/>
          <p:cNvSpPr txBox="1"/>
          <p:nvPr/>
        </p:nvSpPr>
        <p:spPr>
          <a:xfrm>
            <a:off x="566928" y="290779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carga (RNF06)</a:t>
            </a:r>
            <a:endParaRPr lang="en-US" sz="1000" dirty="0"/>
          </a:p>
        </p:txBody>
      </p:sp>
      <p:sp>
        <p:nvSpPr>
          <p:cNvPr id="28" name="box100"/>
          <p:cNvSpPr/>
          <p:nvPr/>
        </p:nvSpPr>
        <p:spPr>
          <a:xfrm>
            <a:off x="2125980" y="2212848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xt101"/>
          <p:cNvSpPr txBox="1"/>
          <p:nvPr/>
        </p:nvSpPr>
        <p:spPr>
          <a:xfrm>
            <a:off x="2235708" y="2286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900" dirty="0"/>
          </a:p>
        </p:txBody>
      </p:sp>
      <p:sp>
        <p:nvSpPr>
          <p:cNvPr id="30" name="txt102"/>
          <p:cNvSpPr txBox="1"/>
          <p:nvPr/>
        </p:nvSpPr>
        <p:spPr>
          <a:xfrm>
            <a:off x="2235708" y="248716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3</a:t>
            </a:r>
            <a:endParaRPr lang="en-US" sz="2200" dirty="0"/>
          </a:p>
        </p:txBody>
      </p:sp>
      <p:sp>
        <p:nvSpPr>
          <p:cNvPr id="31" name="txt103"/>
          <p:cNvSpPr txBox="1"/>
          <p:nvPr/>
        </p:nvSpPr>
        <p:spPr>
          <a:xfrm>
            <a:off x="2235708" y="290779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</a:t>
            </a:r>
            <a:endParaRPr lang="en-US" sz="1000" dirty="0"/>
          </a:p>
        </p:txBody>
      </p:sp>
      <p:sp>
        <p:nvSpPr>
          <p:cNvPr id="32" name="box104"/>
          <p:cNvSpPr/>
          <p:nvPr/>
        </p:nvSpPr>
        <p:spPr>
          <a:xfrm>
            <a:off x="3794760" y="2212848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xt105"/>
          <p:cNvSpPr txBox="1"/>
          <p:nvPr/>
        </p:nvSpPr>
        <p:spPr>
          <a:xfrm>
            <a:off x="3904488" y="2286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900" dirty="0"/>
          </a:p>
        </p:txBody>
      </p:sp>
      <p:sp>
        <p:nvSpPr>
          <p:cNvPr id="34" name="txt106"/>
          <p:cNvSpPr txBox="1"/>
          <p:nvPr/>
        </p:nvSpPr>
        <p:spPr>
          <a:xfrm>
            <a:off x="3904488" y="248716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2200" dirty="0"/>
          </a:p>
        </p:txBody>
      </p:sp>
      <p:sp>
        <p:nvSpPr>
          <p:cNvPr id="35" name="txt107"/>
          <p:cNvSpPr txBox="1"/>
          <p:nvPr/>
        </p:nvSpPr>
        <p:spPr>
          <a:xfrm>
            <a:off x="3904488" y="290779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con la herramienta propia</a:t>
            </a:r>
            <a:endParaRPr lang="en-US" sz="1000" dirty="0"/>
          </a:p>
        </p:txBody>
      </p:sp>
      <p:sp>
        <p:nvSpPr>
          <p:cNvPr id="36" name="box108"/>
          <p:cNvSpPr/>
          <p:nvPr/>
        </p:nvSpPr>
        <p:spPr>
          <a:xfrm>
            <a:off x="5463540" y="2212848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xt109"/>
          <p:cNvSpPr txBox="1"/>
          <p:nvPr/>
        </p:nvSpPr>
        <p:spPr>
          <a:xfrm>
            <a:off x="5573268" y="2286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900" dirty="0"/>
          </a:p>
        </p:txBody>
      </p:sp>
      <p:sp>
        <p:nvSpPr>
          <p:cNvPr id="38" name="txt110"/>
          <p:cNvSpPr txBox="1"/>
          <p:nvPr/>
        </p:nvSpPr>
        <p:spPr>
          <a:xfrm>
            <a:off x="5573268" y="248716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68</a:t>
            </a:r>
            <a:endParaRPr lang="en-US" sz="2200" dirty="0"/>
          </a:p>
        </p:txBody>
      </p:sp>
      <p:sp>
        <p:nvSpPr>
          <p:cNvPr id="39" name="txt111"/>
          <p:cNvSpPr txBox="1"/>
          <p:nvPr/>
        </p:nvSpPr>
        <p:spPr>
          <a:xfrm>
            <a:off x="5573268" y="290779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SUS</a:t>
            </a:r>
            <a:endParaRPr lang="en-US" sz="1000" dirty="0"/>
          </a:p>
        </p:txBody>
      </p:sp>
      <p:sp>
        <p:nvSpPr>
          <p:cNvPr id="40" name="box112"/>
          <p:cNvSpPr/>
          <p:nvPr/>
        </p:nvSpPr>
        <p:spPr>
          <a:xfrm>
            <a:off x="7132320" y="2212848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1" name="txt113"/>
          <p:cNvSpPr txBox="1"/>
          <p:nvPr/>
        </p:nvSpPr>
        <p:spPr>
          <a:xfrm>
            <a:off x="7242048" y="2286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900" dirty="0"/>
          </a:p>
        </p:txBody>
      </p:sp>
      <p:sp>
        <p:nvSpPr>
          <p:cNvPr id="42" name="txt114"/>
          <p:cNvSpPr txBox="1"/>
          <p:nvPr/>
        </p:nvSpPr>
        <p:spPr>
          <a:xfrm>
            <a:off x="7242048" y="2487168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2200" dirty="0"/>
          </a:p>
        </p:txBody>
      </p:sp>
      <p:sp>
        <p:nvSpPr>
          <p:cNvPr id="43" name="txt115"/>
          <p:cNvSpPr txBox="1"/>
          <p:nvPr/>
        </p:nvSpPr>
        <p:spPr>
          <a:xfrm>
            <a:off x="7242048" y="290779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(RNF03)</a:t>
            </a:r>
            <a:endParaRPr lang="en-US" sz="1000" dirty="0"/>
          </a:p>
        </p:txBody>
      </p:sp>
      <p:sp>
        <p:nvSpPr>
          <p:cNvPr id="44" name="box116"/>
          <p:cNvSpPr/>
          <p:nvPr/>
        </p:nvSpPr>
        <p:spPr>
          <a:xfrm>
            <a:off x="457200" y="3374136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5" name="txt117"/>
          <p:cNvSpPr txBox="1"/>
          <p:nvPr/>
        </p:nvSpPr>
        <p:spPr>
          <a:xfrm>
            <a:off x="566928" y="34472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00" dirty="0"/>
          </a:p>
        </p:txBody>
      </p:sp>
      <p:sp>
        <p:nvSpPr>
          <p:cNvPr id="46" name="txt118"/>
          <p:cNvSpPr txBox="1"/>
          <p:nvPr/>
        </p:nvSpPr>
        <p:spPr>
          <a:xfrm>
            <a:off x="566928" y="3648456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47" name="txt119"/>
          <p:cNvSpPr txBox="1"/>
          <p:nvPr/>
        </p:nvSpPr>
        <p:spPr>
          <a:xfrm>
            <a:off x="566928" y="406908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que cumplen</a:t>
            </a:r>
            <a:endParaRPr lang="en-US" sz="1000" dirty="0"/>
          </a:p>
        </p:txBody>
      </p:sp>
      <p:sp>
        <p:nvSpPr>
          <p:cNvPr id="48" name="box120"/>
          <p:cNvSpPr/>
          <p:nvPr/>
        </p:nvSpPr>
        <p:spPr>
          <a:xfrm>
            <a:off x="2125980" y="3374136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xt121"/>
          <p:cNvSpPr txBox="1"/>
          <p:nvPr/>
        </p:nvSpPr>
        <p:spPr>
          <a:xfrm>
            <a:off x="2235708" y="34472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900" dirty="0"/>
          </a:p>
        </p:txBody>
      </p:sp>
      <p:sp>
        <p:nvSpPr>
          <p:cNvPr id="50" name="txt122"/>
          <p:cNvSpPr txBox="1"/>
          <p:nvPr/>
        </p:nvSpPr>
        <p:spPr>
          <a:xfrm>
            <a:off x="2235708" y="3648456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4</a:t>
            </a:r>
            <a:endParaRPr lang="en-US" sz="2200" dirty="0"/>
          </a:p>
        </p:txBody>
      </p:sp>
      <p:sp>
        <p:nvSpPr>
          <p:cNvPr id="51" name="txt123"/>
          <p:cNvSpPr txBox="1"/>
          <p:nvPr/>
        </p:nvSpPr>
        <p:spPr>
          <a:xfrm>
            <a:off x="2235708" y="406908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con pruebas</a:t>
            </a:r>
            <a:endParaRPr lang="en-US" sz="1000" dirty="0"/>
          </a:p>
        </p:txBody>
      </p:sp>
      <p:sp>
        <p:nvSpPr>
          <p:cNvPr id="52" name="box124"/>
          <p:cNvSpPr/>
          <p:nvPr/>
        </p:nvSpPr>
        <p:spPr>
          <a:xfrm>
            <a:off x="3794760" y="3374136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3" name="txt125"/>
          <p:cNvSpPr txBox="1"/>
          <p:nvPr/>
        </p:nvSpPr>
        <p:spPr>
          <a:xfrm>
            <a:off x="3904488" y="34472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900" dirty="0"/>
          </a:p>
        </p:txBody>
      </p:sp>
      <p:sp>
        <p:nvSpPr>
          <p:cNvPr id="54" name="txt126"/>
          <p:cNvSpPr txBox="1"/>
          <p:nvPr/>
        </p:nvSpPr>
        <p:spPr>
          <a:xfrm>
            <a:off x="3904488" y="3648456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55" name="txt127"/>
          <p:cNvSpPr txBox="1"/>
          <p:nvPr/>
        </p:nvSpPr>
        <p:spPr>
          <a:xfrm>
            <a:off x="3904488" y="406908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OK a 375 px</a:t>
            </a:r>
            <a:endParaRPr lang="en-US" sz="1000" dirty="0"/>
          </a:p>
        </p:txBody>
      </p:sp>
      <p:sp>
        <p:nvSpPr>
          <p:cNvPr id="56" name="box128"/>
          <p:cNvSpPr/>
          <p:nvPr/>
        </p:nvSpPr>
        <p:spPr>
          <a:xfrm>
            <a:off x="5463540" y="3374136"/>
            <a:ext cx="1554480" cy="1069848"/>
          </a:xfrm>
          <a:prstGeom prst="roundRect">
            <a:avLst>
              <a:gd name="adj" fmla="val 683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7" name="txt129"/>
          <p:cNvSpPr txBox="1"/>
          <p:nvPr/>
        </p:nvSpPr>
        <p:spPr>
          <a:xfrm>
            <a:off x="5573268" y="3447288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58" name="txt130"/>
          <p:cNvSpPr txBox="1"/>
          <p:nvPr/>
        </p:nvSpPr>
        <p:spPr>
          <a:xfrm>
            <a:off x="5573268" y="3648456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días</a:t>
            </a:r>
            <a:endParaRPr lang="en-US" sz="2200" dirty="0"/>
          </a:p>
        </p:txBody>
      </p:sp>
      <p:sp>
        <p:nvSpPr>
          <p:cNvPr id="59" name="txt131"/>
          <p:cNvSpPr txBox="1"/>
          <p:nvPr/>
        </p:nvSpPr>
        <p:spPr>
          <a:xfrm>
            <a:off x="5573268" y="4069080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de corrección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asegura y revisa la calidad</a:t>
            </a:r>
            <a:endParaRPr lang="en-US" sz="2800" dirty="0"/>
          </a:p>
        </p:txBody>
      </p:sp>
      <p:sp>
        <p:nvSpPr>
          <p:cNvPr id="4" name="circ13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133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xt134"/>
          <p:cNvSpPr txBox="1"/>
          <p:nvPr/>
        </p:nvSpPr>
        <p:spPr>
          <a:xfrm>
            <a:off x="105156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técnicas</a:t>
            </a:r>
            <a:endParaRPr lang="en-US" sz="1500" dirty="0"/>
          </a:p>
        </p:txBody>
      </p:sp>
      <p:sp>
        <p:nvSpPr>
          <p:cNvPr id="7" name="txt135"/>
          <p:cNvSpPr txBox="1"/>
          <p:nvPr/>
        </p:nvSpPr>
        <p:spPr>
          <a:xfrm>
            <a:off x="1051560" y="1444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y criterios antes de codificar; código antes de integrar</a:t>
            </a:r>
            <a:endParaRPr lang="en-US" sz="1300" dirty="0"/>
          </a:p>
        </p:txBody>
      </p:sp>
      <p:sp>
        <p:nvSpPr>
          <p:cNvPr id="8" name="circ13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xt137"/>
          <p:cNvSpPr txBox="1"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xt138"/>
          <p:cNvSpPr txBox="1"/>
          <p:nvPr/>
        </p:nvSpPr>
        <p:spPr>
          <a:xfrm>
            <a:off x="105156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planificadas</a:t>
            </a:r>
            <a:endParaRPr lang="en-US" sz="1500" dirty="0"/>
          </a:p>
        </p:txBody>
      </p:sp>
      <p:sp>
        <p:nvSpPr>
          <p:cNvPr id="11" name="txt139"/>
          <p:cNvSpPr txBox="1"/>
          <p:nvPr/>
        </p:nvSpPr>
        <p:spPr>
          <a:xfrm>
            <a:off x="1051560" y="2267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integración, sistema, aceptación, usabilidad y conformidad</a:t>
            </a:r>
            <a:endParaRPr lang="en-US" sz="1300" dirty="0"/>
          </a:p>
        </p:txBody>
      </p:sp>
      <p:sp>
        <p:nvSpPr>
          <p:cNvPr id="12" name="circ140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xt141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xt142"/>
          <p:cNvSpPr txBox="1"/>
          <p:nvPr/>
        </p:nvSpPr>
        <p:spPr>
          <a:xfrm>
            <a:off x="1051560" y="2788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cambios</a:t>
            </a:r>
            <a:endParaRPr lang="en-US" sz="1500" dirty="0"/>
          </a:p>
        </p:txBody>
      </p:sp>
      <p:sp>
        <p:nvSpPr>
          <p:cNvPr id="15" name="txt143"/>
          <p:cNvSpPr txBox="1"/>
          <p:nvPr/>
        </p:nvSpPr>
        <p:spPr>
          <a:xfrm>
            <a:off x="1051560" y="3090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Git/GitHub; cada cambio en js/ con sus pruebas</a:t>
            </a:r>
            <a:endParaRPr lang="en-US" sz="1300" dirty="0"/>
          </a:p>
        </p:txBody>
      </p:sp>
      <p:sp>
        <p:nvSpPr>
          <p:cNvPr id="16" name="circ144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xt145"/>
          <p:cNvSpPr txBox="1"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xt146"/>
          <p:cNvSpPr txBox="1"/>
          <p:nvPr/>
        </p:nvSpPr>
        <p:spPr>
          <a:xfrm>
            <a:off x="1051560" y="3611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auditoría</a:t>
            </a:r>
            <a:endParaRPr lang="en-US" sz="1500" dirty="0"/>
          </a:p>
        </p:txBody>
      </p:sp>
      <p:sp>
        <p:nvSpPr>
          <p:cNvPr id="19" name="txt147"/>
          <p:cNvSpPr txBox="1"/>
          <p:nvPr/>
        </p:nvSpPr>
        <p:spPr>
          <a:xfrm>
            <a:off x="1051560" y="3913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entrega semanal, auditoría por fase, informe final</a:t>
            </a:r>
            <a:endParaRPr lang="en-US" sz="1300" dirty="0"/>
          </a:p>
        </p:txBody>
      </p:sp>
      <p:sp>
        <p:nvSpPr>
          <p:cNvPr id="20" name="box148"/>
          <p:cNvSpPr/>
          <p:nvPr/>
        </p:nvSpPr>
        <p:spPr>
          <a:xfrm>
            <a:off x="5394960" y="11430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xt149"/>
          <p:cNvSpPr txBox="1"/>
          <p:nvPr/>
        </p:nvSpPr>
        <p:spPr>
          <a:xfrm>
            <a:off x="562356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800" dirty="0"/>
          </a:p>
        </p:txBody>
      </p:sp>
      <p:sp>
        <p:nvSpPr>
          <p:cNvPr id="22" name="txt150"/>
          <p:cNvSpPr txBox="1"/>
          <p:nvPr/>
        </p:nvSpPr>
        <p:spPr>
          <a:xfrm>
            <a:off x="5623560" y="173736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tests.html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accesibilidad: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+ Lighthouse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propia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y despliegue: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Pages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Defectos: </a:t>
            </a: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del producto</a:t>
            </a:r>
            <a:endParaRPr lang="en-US" sz="2800" dirty="0"/>
          </a:p>
        </p:txBody>
      </p:sp>
      <p:sp>
        <p:nvSpPr>
          <p:cNvPr id="4" name="box151"/>
          <p:cNvSpPr/>
          <p:nvPr/>
        </p:nvSpPr>
        <p:spPr>
          <a:xfrm>
            <a:off x="457200" y="1463040"/>
            <a:ext cx="1524000" cy="2377440"/>
          </a:xfrm>
          <a:prstGeom prst="roundRect">
            <a:avLst>
              <a:gd name="adj" fmla="val 381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152"/>
          <p:cNvSpPr txBox="1"/>
          <p:nvPr/>
        </p:nvSpPr>
        <p:spPr>
          <a:xfrm>
            <a:off x="5334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3600" dirty="0"/>
          </a:p>
        </p:txBody>
      </p:sp>
      <p:sp>
        <p:nvSpPr>
          <p:cNvPr id="6" name="txt153"/>
          <p:cNvSpPr txBox="1"/>
          <p:nvPr/>
        </p:nvSpPr>
        <p:spPr>
          <a:xfrm>
            <a:off x="5334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requisitos funcionales validados</a:t>
            </a:r>
            <a:endParaRPr lang="en-US" sz="1400" dirty="0"/>
          </a:p>
        </p:txBody>
      </p:sp>
      <p:sp>
        <p:nvSpPr>
          <p:cNvPr id="7" name="box154"/>
          <p:cNvSpPr/>
          <p:nvPr/>
        </p:nvSpPr>
        <p:spPr>
          <a:xfrm>
            <a:off x="2133600" y="1463040"/>
            <a:ext cx="15240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155"/>
          <p:cNvSpPr txBox="1"/>
          <p:nvPr/>
        </p:nvSpPr>
        <p:spPr>
          <a:xfrm>
            <a:off x="22098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3600" dirty="0"/>
          </a:p>
        </p:txBody>
      </p:sp>
      <p:sp>
        <p:nvSpPr>
          <p:cNvPr id="9" name="txt156"/>
          <p:cNvSpPr txBox="1"/>
          <p:nvPr/>
        </p:nvSpPr>
        <p:spPr>
          <a:xfrm>
            <a:off x="22098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dentro de su meta</a:t>
            </a:r>
            <a:endParaRPr lang="en-US" sz="1400" dirty="0"/>
          </a:p>
        </p:txBody>
      </p:sp>
      <p:sp>
        <p:nvSpPr>
          <p:cNvPr id="10" name="box157"/>
          <p:cNvSpPr/>
          <p:nvPr/>
        </p:nvSpPr>
        <p:spPr>
          <a:xfrm>
            <a:off x="3810000" y="1463040"/>
            <a:ext cx="15240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158"/>
          <p:cNvSpPr txBox="1"/>
          <p:nvPr/>
        </p:nvSpPr>
        <p:spPr>
          <a:xfrm>
            <a:off x="38862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xt159"/>
          <p:cNvSpPr txBox="1"/>
          <p:nvPr/>
        </p:nvSpPr>
        <p:spPr>
          <a:xfrm>
            <a:off x="38862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críticos abiertos</a:t>
            </a:r>
            <a:endParaRPr lang="en-US" sz="1400" dirty="0"/>
          </a:p>
        </p:txBody>
      </p:sp>
      <p:sp>
        <p:nvSpPr>
          <p:cNvPr id="13" name="box160"/>
          <p:cNvSpPr/>
          <p:nvPr/>
        </p:nvSpPr>
        <p:spPr>
          <a:xfrm>
            <a:off x="5486400" y="1463040"/>
            <a:ext cx="15240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xt161"/>
          <p:cNvSpPr txBox="1"/>
          <p:nvPr/>
        </p:nvSpPr>
        <p:spPr>
          <a:xfrm>
            <a:off x="55626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3600" dirty="0"/>
          </a:p>
        </p:txBody>
      </p:sp>
      <p:sp>
        <p:nvSpPr>
          <p:cNvPr id="15" name="txt162"/>
          <p:cNvSpPr txBox="1"/>
          <p:nvPr/>
        </p:nvSpPr>
        <p:spPr>
          <a:xfrm>
            <a:off x="55626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conformidad aprobados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" name="box163">
            <a:extLst>
              <a:ext uri="{FF2B5EF4-FFF2-40B4-BE49-F238E27FC236}">
                <a16:creationId xmlns:a16="http://schemas.microsoft.com/office/drawing/2014/main" id="{FED9637A-F005-8524-06F5-751794117F49}"/>
              </a:ext>
            </a:extLst>
          </p:cNvPr>
          <p:cNvSpPr/>
          <p:nvPr/>
        </p:nvSpPr>
        <p:spPr>
          <a:xfrm>
            <a:off x="7162800" y="1463040"/>
            <a:ext cx="15240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xt164">
            <a:extLst>
              <a:ext uri="{FF2B5EF4-FFF2-40B4-BE49-F238E27FC236}">
                <a16:creationId xmlns:a16="http://schemas.microsoft.com/office/drawing/2014/main" id="{7A6A2A6E-B580-A351-FB74-DC2DC722390A}"/>
              </a:ext>
            </a:extLst>
          </p:cNvPr>
          <p:cNvSpPr txBox="1"/>
          <p:nvPr/>
        </p:nvSpPr>
        <p:spPr>
          <a:xfrm>
            <a:off x="7239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3600" dirty="0"/>
          </a:p>
        </p:txBody>
      </p:sp>
      <p:sp>
        <p:nvSpPr>
          <p:cNvPr id="17" name="txt165">
            <a:extLst>
              <a:ext uri="{FF2B5EF4-FFF2-40B4-BE49-F238E27FC236}">
                <a16:creationId xmlns:a16="http://schemas.microsoft.com/office/drawing/2014/main" id="{A18EED25-9394-B154-14B7-F6E8537B8BAD}"/>
              </a:ext>
            </a:extLst>
          </p:cNvPr>
          <p:cNvSpPr txBox="1"/>
          <p:nvPr/>
        </p:nvSpPr>
        <p:spPr>
          <a:xfrm>
            <a:off x="7239000" y="2697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éxito en UAT (herramienta propia) y SUS ≥ 68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163"/>
          <p:cNvSpPr/>
          <p:nvPr/>
        </p:nvSpPr>
        <p:spPr>
          <a:xfrm>
            <a:off x="731520" y="960120"/>
            <a:ext cx="640080" cy="6400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xt164"/>
          <p:cNvSpPr txBox="1"/>
          <p:nvPr/>
        </p:nvSpPr>
        <p:spPr>
          <a:xfrm>
            <a:off x="7315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4000" dirty="0"/>
          </a:p>
        </p:txBody>
      </p:sp>
      <p:sp>
        <p:nvSpPr>
          <p:cNvPr id="5" name="txt165"/>
          <p:cNvSpPr txBox="1"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pruebas y criterios de aceptación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estrategia por niveles</a:t>
            </a:r>
            <a:endParaRPr lang="en-US" sz="2800" dirty="0"/>
          </a:p>
        </p:txBody>
      </p:sp>
      <p:sp>
        <p:nvSpPr>
          <p:cNvPr id="4" name="box166"/>
          <p:cNvSpPr/>
          <p:nvPr/>
        </p:nvSpPr>
        <p:spPr>
          <a:xfrm>
            <a:off x="45720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circ167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168"/>
          <p:cNvSpPr txBox="1"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xt169"/>
          <p:cNvSpPr txBox="1"/>
          <p:nvPr/>
        </p:nvSpPr>
        <p:spPr>
          <a:xfrm>
            <a:off x="59436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500" dirty="0"/>
          </a:p>
        </p:txBody>
      </p:sp>
      <p:sp>
        <p:nvSpPr>
          <p:cNvPr id="8" name="txt170"/>
          <p:cNvSpPr txBox="1"/>
          <p:nvPr/>
        </p:nvSpPr>
        <p:spPr>
          <a:xfrm>
            <a:off x="59436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auth, cart, catalog, checkout</a:t>
            </a:r>
            <a:endParaRPr lang="en-US" sz="1200" dirty="0"/>
          </a:p>
        </p:txBody>
      </p:sp>
      <p:sp>
        <p:nvSpPr>
          <p:cNvPr id="9" name="txt171"/>
          <p:cNvSpPr txBox="1"/>
          <p:nvPr/>
        </p:nvSpPr>
        <p:spPr>
          <a:xfrm>
            <a:off x="59436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tests.html · Desarrollador</a:t>
            </a:r>
            <a:endParaRPr lang="en-US" sz="1000" dirty="0"/>
          </a:p>
        </p:txBody>
      </p:sp>
      <p:sp>
        <p:nvSpPr>
          <p:cNvPr id="10" name="flecha172"/>
          <p:cNvSpPr/>
          <p:nvPr/>
        </p:nvSpPr>
        <p:spPr>
          <a:xfrm rot="5400000">
            <a:off x="2377440" y="2029968"/>
            <a:ext cx="182880" cy="146304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box173"/>
          <p:cNvSpPr/>
          <p:nvPr/>
        </p:nvSpPr>
        <p:spPr>
          <a:xfrm>
            <a:off x="256032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circ174"/>
          <p:cNvSpPr/>
          <p:nvPr/>
        </p:nvSpPr>
        <p:spPr>
          <a:xfrm>
            <a:off x="2697480" y="12344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xt175"/>
          <p:cNvSpPr txBox="1"/>
          <p:nvPr/>
        </p:nvSpPr>
        <p:spPr>
          <a:xfrm>
            <a:off x="2697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xt176"/>
          <p:cNvSpPr txBox="1"/>
          <p:nvPr/>
        </p:nvSpPr>
        <p:spPr>
          <a:xfrm>
            <a:off x="269748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500" dirty="0"/>
          </a:p>
        </p:txBody>
      </p:sp>
      <p:sp>
        <p:nvSpPr>
          <p:cNvPr id="15" name="txt177"/>
          <p:cNvSpPr txBox="1"/>
          <p:nvPr/>
        </p:nvSpPr>
        <p:spPr>
          <a:xfrm>
            <a:off x="269748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+ cupones + envío + checkout + Store</a:t>
            </a:r>
            <a:endParaRPr lang="en-US" sz="1200" dirty="0"/>
          </a:p>
        </p:txBody>
      </p:sp>
      <p:sp>
        <p:nvSpPr>
          <p:cNvPr id="16" name="txt178"/>
          <p:cNvSpPr txBox="1"/>
          <p:nvPr/>
        </p:nvSpPr>
        <p:spPr>
          <a:xfrm>
            <a:off x="269748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tests.html y manual · Dev + QA</a:t>
            </a:r>
            <a:endParaRPr lang="en-US" sz="1000" dirty="0"/>
          </a:p>
        </p:txBody>
      </p:sp>
      <p:sp>
        <p:nvSpPr>
          <p:cNvPr id="17" name="flecha179"/>
          <p:cNvSpPr/>
          <p:nvPr/>
        </p:nvSpPr>
        <p:spPr>
          <a:xfrm rot="5400000">
            <a:off x="4480560" y="2029968"/>
            <a:ext cx="182880" cy="146304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box180"/>
          <p:cNvSpPr/>
          <p:nvPr/>
        </p:nvSpPr>
        <p:spPr>
          <a:xfrm>
            <a:off x="466344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circ181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xt182"/>
          <p:cNvSpPr txBox="1"/>
          <p:nvPr/>
        </p:nvSpPr>
        <p:spPr>
          <a:xfrm>
            <a:off x="48006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xt183"/>
          <p:cNvSpPr txBox="1"/>
          <p:nvPr/>
        </p:nvSpPr>
        <p:spPr>
          <a:xfrm>
            <a:off x="480060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500" dirty="0"/>
          </a:p>
        </p:txBody>
      </p:sp>
      <p:sp>
        <p:nvSpPr>
          <p:cNvPr id="22" name="txt184"/>
          <p:cNvSpPr txBox="1"/>
          <p:nvPr/>
        </p:nvSpPr>
        <p:spPr>
          <a:xfrm>
            <a:off x="480060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buscar → agregar → pagar → pedido</a:t>
            </a:r>
            <a:endParaRPr lang="en-US" sz="1200" dirty="0"/>
          </a:p>
        </p:txBody>
      </p:sp>
      <p:sp>
        <p:nvSpPr>
          <p:cNvPr id="23" name="txt185"/>
          <p:cNvSpPr txBox="1"/>
          <p:nvPr/>
        </p:nvSpPr>
        <p:spPr>
          <a:xfrm>
            <a:off x="480060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· QA</a:t>
            </a:r>
            <a:endParaRPr lang="en-US" sz="1000" dirty="0"/>
          </a:p>
        </p:txBody>
      </p:sp>
      <p:sp>
        <p:nvSpPr>
          <p:cNvPr id="24" name="flecha186"/>
          <p:cNvSpPr/>
          <p:nvPr/>
        </p:nvSpPr>
        <p:spPr>
          <a:xfrm rot="5400000">
            <a:off x="6583680" y="2029968"/>
            <a:ext cx="182880" cy="146304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box187"/>
          <p:cNvSpPr/>
          <p:nvPr/>
        </p:nvSpPr>
        <p:spPr>
          <a:xfrm>
            <a:off x="676656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circ188"/>
          <p:cNvSpPr/>
          <p:nvPr/>
        </p:nvSpPr>
        <p:spPr>
          <a:xfrm>
            <a:off x="6903720" y="123444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xt189"/>
          <p:cNvSpPr txBox="1"/>
          <p:nvPr/>
        </p:nvSpPr>
        <p:spPr>
          <a:xfrm>
            <a:off x="6903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xt190"/>
          <p:cNvSpPr txBox="1"/>
          <p:nvPr/>
        </p:nvSpPr>
        <p:spPr>
          <a:xfrm>
            <a:off x="690372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(UAT)</a:t>
            </a:r>
            <a:endParaRPr lang="en-US" sz="1500" dirty="0"/>
          </a:p>
        </p:txBody>
      </p:sp>
      <p:sp>
        <p:nvSpPr>
          <p:cNvPr id="29" name="txt191"/>
          <p:cNvSpPr txBox="1"/>
          <p:nvPr/>
        </p:nvSpPr>
        <p:spPr>
          <a:xfrm>
            <a:off x="690372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las HU con usuarios reales</a:t>
            </a:r>
            <a:endParaRPr lang="en-US" sz="1200" dirty="0"/>
          </a:p>
        </p:txBody>
      </p:sp>
      <p:sp>
        <p:nvSpPr>
          <p:cNvPr id="30" name="txt192"/>
          <p:cNvSpPr txBox="1"/>
          <p:nvPr/>
        </p:nvSpPr>
        <p:spPr>
          <a:xfrm>
            <a:off x="6903720" y="2697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propia + checklist · Usuarios clave</a:t>
            </a:r>
            <a:endParaRPr lang="en-US" sz="1000" dirty="0"/>
          </a:p>
        </p:txBody>
      </p:sp>
      <p:sp>
        <p:nvSpPr>
          <p:cNvPr id="31" name="box193"/>
          <p:cNvSpPr/>
          <p:nvPr/>
        </p:nvSpPr>
        <p:spPr>
          <a:xfrm>
            <a:off x="457200" y="3337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xt194"/>
          <p:cNvSpPr txBox="1"/>
          <p:nvPr/>
        </p:nvSpPr>
        <p:spPr>
          <a:xfrm>
            <a:off x="640080" y="34290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30 RF (catálogo, carrito, cupones, cuenta, checkout, pedidos, favoritos) y RNF01–RNF09</a:t>
            </a:r>
            <a:endParaRPr lang="en-US" sz="1300" dirty="0"/>
          </a:p>
        </p:txBody>
      </p:sp>
      <p:sp>
        <p:nvSpPr>
          <p:cNvPr id="33" name="box195"/>
          <p:cNvSpPr/>
          <p:nvPr/>
        </p:nvSpPr>
        <p:spPr>
          <a:xfrm>
            <a:off x="4663440" y="3337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xt196"/>
          <p:cNvSpPr txBox="1"/>
          <p:nvPr/>
        </p:nvSpPr>
        <p:spPr>
          <a:xfrm>
            <a:off x="4846320" y="34290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 real, servidor/base de datos, carga con muchos usuarios simultáneos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pruebas a aplicar</a:t>
            </a:r>
            <a:endParaRPr lang="en-US" sz="2800" dirty="0"/>
          </a:p>
        </p:txBody>
      </p:sp>
      <p:graphicFrame>
        <p:nvGraphicFramePr>
          <p:cNvPr id="13" name="tabla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función hace lo especificado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Partición de equivalencia y valores 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HU01–HU30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Unitaria automatizada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 aisladas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blanca · 53 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cambio no rompe lo existente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Re-ejecutar tests.html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 de uso y satisfacción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propia: tareas + SUS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Etiquetas, foco, contraste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+ teclado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/ compatibilidad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375–1920 px y 3 navegadores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DevTools modo dispositivo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RNF02, RNF07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Contraseñas, bloqueo, sesión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negativos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RNF04, HU18–HU22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y respuesta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/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Fallos no previstos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de 30 min por épica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EP01–EP05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entrada, salida y suspensión</a:t>
            </a:r>
            <a:endParaRPr lang="en-US" sz="2800" dirty="0"/>
          </a:p>
        </p:txBody>
      </p:sp>
      <p:sp>
        <p:nvSpPr>
          <p:cNvPr id="4" name="box198"/>
          <p:cNvSpPr/>
          <p:nvPr/>
        </p:nvSpPr>
        <p:spPr>
          <a:xfrm>
            <a:off x="45720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circ199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200"/>
          <p:cNvSpPr txBox="1"/>
          <p:nvPr/>
        </p:nvSpPr>
        <p:spPr>
          <a:xfrm>
            <a:off x="6858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txt201"/>
          <p:cNvSpPr txBox="1"/>
          <p:nvPr/>
        </p:nvSpPr>
        <p:spPr>
          <a:xfrm>
            <a:off x="13258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2000" dirty="0"/>
          </a:p>
        </p:txBody>
      </p:sp>
      <p:sp>
        <p:nvSpPr>
          <p:cNvPr id="8" name="txt202"/>
          <p:cNvSpPr txBox="1"/>
          <p:nvPr/>
        </p:nvSpPr>
        <p:spPr>
          <a:xfrm>
            <a:off x="68580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con criterios aprobados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diseñados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publicada en GitHub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demo restablecidos</a:t>
            </a:r>
            <a:endParaRPr lang="en-US" sz="1400" dirty="0"/>
          </a:p>
        </p:txBody>
      </p:sp>
      <p:sp>
        <p:nvSpPr>
          <p:cNvPr id="9" name="box203"/>
          <p:cNvSpPr/>
          <p:nvPr/>
        </p:nvSpPr>
        <p:spPr>
          <a:xfrm>
            <a:off x="324612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circ204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205"/>
          <p:cNvSpPr txBox="1"/>
          <p:nvPr/>
        </p:nvSpPr>
        <p:spPr>
          <a:xfrm>
            <a:off x="34747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xt206"/>
          <p:cNvSpPr txBox="1"/>
          <p:nvPr/>
        </p:nvSpPr>
        <p:spPr>
          <a:xfrm>
            <a:off x="41148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2000" dirty="0"/>
          </a:p>
        </p:txBody>
      </p:sp>
      <p:sp>
        <p:nvSpPr>
          <p:cNvPr id="13" name="txt207"/>
          <p:cNvSpPr txBox="1"/>
          <p:nvPr/>
        </p:nvSpPr>
        <p:spPr>
          <a:xfrm>
            <a:off x="347472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 de casos ejecutados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de pruebas unitarias aprobadas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defectos críticos y altos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revisado</a:t>
            </a:r>
            <a:endParaRPr lang="en-US" sz="1400" dirty="0"/>
          </a:p>
        </p:txBody>
      </p:sp>
      <p:sp>
        <p:nvSpPr>
          <p:cNvPr id="14" name="box208"/>
          <p:cNvSpPr/>
          <p:nvPr/>
        </p:nvSpPr>
        <p:spPr>
          <a:xfrm>
            <a:off x="603504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circ209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xt210"/>
          <p:cNvSpPr txBox="1"/>
          <p:nvPr/>
        </p:nvSpPr>
        <p:spPr>
          <a:xfrm>
            <a:off x="6263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❚❚</a:t>
            </a:r>
            <a:endParaRPr lang="en-US" sz="1400" dirty="0"/>
          </a:p>
        </p:txBody>
      </p:sp>
      <p:sp>
        <p:nvSpPr>
          <p:cNvPr id="17" name="txt211"/>
          <p:cNvSpPr txBox="1"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Suspensión</a:t>
            </a:r>
            <a:endParaRPr lang="en-US" sz="2000" dirty="0"/>
          </a:p>
        </p:txBody>
      </p:sp>
      <p:sp>
        <p:nvSpPr>
          <p:cNvPr id="18" name="txt212"/>
          <p:cNvSpPr txBox="1"/>
          <p:nvPr/>
        </p:nvSpPr>
        <p:spPr>
          <a:xfrm>
            <a:off x="626364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 bloqueante en el flujo de compra o en el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reanuda al corregirlo y pasar la regresión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CP01–CP06: catálogo y carrito</a:t>
            </a:r>
            <a:endParaRPr lang="en-US" sz="2800" dirty="0"/>
          </a:p>
        </p:txBody>
      </p:sp>
      <p:graphicFrame>
        <p:nvGraphicFramePr>
          <p:cNvPr id="15" name="tabla2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/ 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un término sin coincidencias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«sin resultados»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11 unidades de un producto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«Solo puedes llevar hasta 10 unidad(es)…»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0 en el carrito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«La cantidad mínima es 1…»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Carrito con total S/ 1 180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IGV = S/ 180,00 (total − total/1,18)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TECH50 con subtotal &lt; S/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«El cupón TECH50 requiere una compra mínima de S/ 500.00.»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estándar con compra ≥ S/ 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gratis; si es menor, S/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xt214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prueba: demo@techstore.pe / Demo@1234 · tarjeta 4111 1111 1111 1111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CP07–CP12: cuenta, checkout y postventa</a:t>
            </a:r>
            <a:endParaRPr lang="en-US" sz="2800" dirty="0"/>
          </a:p>
        </p:txBody>
      </p:sp>
      <p:graphicFrame>
        <p:nvGraphicFramePr>
          <p:cNvPr id="16" name="tabla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/ 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 «Abcd1234»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«Debe incluir al menos un carácter especial…»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sin consentimiento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«Debes aceptar la Política de Privacidad…»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intentos de login fallidos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«Has superado 5 intentos. Cuenta bloqueada por 5 minutos.»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 4111 1111 1111 1112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«Número de tarjeta inválido.» (Luhn)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válida con tarjeta de prueba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pedido, stock baja, carrito vacío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historial tras comprar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«Confirmado», solo los del usuario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xt216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prueba: demo@techstore.pe / Demo@1234 · tarjeta 4111 1111 1111 1111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responsabilidades</a:t>
            </a:r>
            <a:endParaRPr lang="en-US" sz="2800" dirty="0"/>
          </a:p>
        </p:txBody>
      </p:sp>
      <p:sp>
        <p:nvSpPr>
          <p:cNvPr id="4" name="box198"/>
          <p:cNvSpPr/>
          <p:nvPr/>
        </p:nvSpPr>
        <p:spPr>
          <a:xfrm>
            <a:off x="45720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circ199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200"/>
          <p:cNvSpPr txBox="1"/>
          <p:nvPr/>
        </p:nvSpPr>
        <p:spPr>
          <a:xfrm>
            <a:off x="6858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xt201"/>
          <p:cNvSpPr txBox="1"/>
          <p:nvPr/>
        </p:nvSpPr>
        <p:spPr>
          <a:xfrm>
            <a:off x="13258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2000" dirty="0"/>
          </a:p>
        </p:txBody>
      </p:sp>
      <p:sp>
        <p:nvSpPr>
          <p:cNvPr id="8" name="txt202"/>
          <p:cNvSpPr txBox="1"/>
          <p:nvPr/>
        </p:nvSpPr>
        <p:spPr>
          <a:xfrm>
            <a:off x="68580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QA: coordina y aprueba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Desarrollador: unitarias y correcciones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QA: diseña y ejecuta casos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clave: UAT con la herramienta propia</a:t>
            </a:r>
            <a:endParaRPr lang="en-US" sz="1400" dirty="0"/>
          </a:p>
        </p:txBody>
      </p:sp>
      <p:sp>
        <p:nvSpPr>
          <p:cNvPr id="9" name="box203"/>
          <p:cNvSpPr/>
          <p:nvPr/>
        </p:nvSpPr>
        <p:spPr>
          <a:xfrm>
            <a:off x="324612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circ204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205"/>
          <p:cNvSpPr txBox="1"/>
          <p:nvPr/>
        </p:nvSpPr>
        <p:spPr>
          <a:xfrm>
            <a:off x="34747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2" name="txt206"/>
          <p:cNvSpPr txBox="1"/>
          <p:nvPr/>
        </p:nvSpPr>
        <p:spPr>
          <a:xfrm>
            <a:off x="41148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2000" dirty="0"/>
          </a:p>
        </p:txBody>
      </p:sp>
      <p:sp>
        <p:nvSpPr>
          <p:cNvPr id="13" name="txt207"/>
          <p:cNvSpPr txBox="1"/>
          <p:nvPr/>
        </p:nvSpPr>
        <p:spPr>
          <a:xfrm>
            <a:off x="347472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y Firefox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móvil de 375 px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tests.html, DevTools, Lighthouse, usabilidad.html, GitHub Issues</a:t>
            </a:r>
            <a:endParaRPr lang="en-US" sz="1400" dirty="0"/>
          </a:p>
        </p:txBody>
      </p:sp>
      <p:sp>
        <p:nvSpPr>
          <p:cNvPr id="14" name="box208"/>
          <p:cNvSpPr/>
          <p:nvPr/>
        </p:nvSpPr>
        <p:spPr>
          <a:xfrm>
            <a:off x="6035040" y="1143000"/>
            <a:ext cx="2606040" cy="333756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circ209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xt210"/>
          <p:cNvSpPr txBox="1"/>
          <p:nvPr/>
        </p:nvSpPr>
        <p:spPr>
          <a:xfrm>
            <a:off x="6263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400" dirty="0"/>
          </a:p>
        </p:txBody>
      </p:sp>
      <p:sp>
        <p:nvSpPr>
          <p:cNvPr id="17" name="txt211"/>
          <p:cNvSpPr txBox="1"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demo</a:t>
            </a:r>
            <a:endParaRPr lang="en-US" sz="2000" dirty="0"/>
          </a:p>
        </p:txBody>
      </p:sp>
      <p:sp>
        <p:nvSpPr>
          <p:cNvPr id="18" name="txt212"/>
          <p:cNvSpPr txBox="1"/>
          <p:nvPr/>
        </p:nvSpPr>
        <p:spPr>
          <a:xfrm>
            <a:off x="6263640" y="20574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demo@techstore.pe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Demo@1234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Tarjeta:</a:t>
            </a:r>
            <a:b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4111 1111 1111 1111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Restablecer datos de demo antes de cada ciclo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68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métricas de prueba</a:t>
            </a:r>
            <a:endParaRPr lang="en-US" sz="2800" dirty="0"/>
          </a:p>
        </p:txBody>
      </p:sp>
      <p:sp>
        <p:nvSpPr>
          <p:cNvPr id="4" name="linea217"/>
          <p:cNvSpPr/>
          <p:nvPr/>
        </p:nvSpPr>
        <p:spPr>
          <a:xfrm>
            <a:off x="731520" y="1481328"/>
            <a:ext cx="7680960" cy="0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circ218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219"/>
          <p:cNvSpPr txBox="1"/>
          <p:nvPr/>
        </p:nvSpPr>
        <p:spPr>
          <a:xfrm>
            <a:off x="960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7" name="txt220"/>
          <p:cNvSpPr txBox="1"/>
          <p:nvPr/>
        </p:nvSpPr>
        <p:spPr>
          <a:xfrm>
            <a:off x="45720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casos</a:t>
            </a:r>
            <a:endParaRPr lang="en-US" sz="1300" dirty="0"/>
          </a:p>
        </p:txBody>
      </p:sp>
      <p:sp>
        <p:nvSpPr>
          <p:cNvPr id="8" name="txt221"/>
          <p:cNvSpPr txBox="1"/>
          <p:nvPr/>
        </p:nvSpPr>
        <p:spPr>
          <a:xfrm>
            <a:off x="45720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9" name="circ222"/>
          <p:cNvSpPr/>
          <p:nvPr/>
        </p:nvSpPr>
        <p:spPr>
          <a:xfrm>
            <a:off x="2651760" y="12344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xt223"/>
          <p:cNvSpPr txBox="1"/>
          <p:nvPr/>
        </p:nvSpPr>
        <p:spPr>
          <a:xfrm>
            <a:off x="2651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xt224"/>
          <p:cNvSpPr txBox="1"/>
          <p:nvPr/>
        </p:nvSpPr>
        <p:spPr>
          <a:xfrm>
            <a:off x="214884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 e integración</a:t>
            </a:r>
            <a:endParaRPr lang="en-US" sz="1300" dirty="0"/>
          </a:p>
        </p:txBody>
      </p:sp>
      <p:sp>
        <p:nvSpPr>
          <p:cNvPr id="12" name="txt225"/>
          <p:cNvSpPr txBox="1"/>
          <p:nvPr/>
        </p:nvSpPr>
        <p:spPr>
          <a:xfrm>
            <a:off x="214884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100" dirty="0"/>
          </a:p>
        </p:txBody>
      </p:sp>
      <p:sp>
        <p:nvSpPr>
          <p:cNvPr id="13" name="circ226"/>
          <p:cNvSpPr/>
          <p:nvPr/>
        </p:nvSpPr>
        <p:spPr>
          <a:xfrm>
            <a:off x="4343400" y="12344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xt227"/>
          <p:cNvSpPr txBox="1"/>
          <p:nvPr/>
        </p:nvSpPr>
        <p:spPr>
          <a:xfrm>
            <a:off x="4343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5" name="txt228"/>
          <p:cNvSpPr txBox="1"/>
          <p:nvPr/>
        </p:nvSpPr>
        <p:spPr>
          <a:xfrm>
            <a:off x="384048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sistema</a:t>
            </a:r>
            <a:endParaRPr lang="en-US" sz="1300" dirty="0"/>
          </a:p>
        </p:txBody>
      </p:sp>
      <p:sp>
        <p:nvSpPr>
          <p:cNvPr id="16" name="txt229"/>
          <p:cNvSpPr txBox="1"/>
          <p:nvPr/>
        </p:nvSpPr>
        <p:spPr>
          <a:xfrm>
            <a:off x="384048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17" name="circ230"/>
          <p:cNvSpPr/>
          <p:nvPr/>
        </p:nvSpPr>
        <p:spPr>
          <a:xfrm>
            <a:off x="6035040" y="12344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xt231"/>
          <p:cNvSpPr txBox="1"/>
          <p:nvPr/>
        </p:nvSpPr>
        <p:spPr>
          <a:xfrm>
            <a:off x="6035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19" name="txt232"/>
          <p:cNvSpPr txBox="1"/>
          <p:nvPr/>
        </p:nvSpPr>
        <p:spPr>
          <a:xfrm>
            <a:off x="553212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 propia (UAT)</a:t>
            </a:r>
            <a:endParaRPr lang="en-US" sz="1300" dirty="0"/>
          </a:p>
        </p:txBody>
      </p:sp>
      <p:sp>
        <p:nvSpPr>
          <p:cNvPr id="20" name="txt233"/>
          <p:cNvSpPr txBox="1"/>
          <p:nvPr/>
        </p:nvSpPr>
        <p:spPr>
          <a:xfrm>
            <a:off x="553212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clave</a:t>
            </a:r>
            <a:endParaRPr lang="en-US" sz="1100" dirty="0"/>
          </a:p>
        </p:txBody>
      </p:sp>
      <p:sp>
        <p:nvSpPr>
          <p:cNvPr id="21" name="circ234"/>
          <p:cNvSpPr/>
          <p:nvPr/>
        </p:nvSpPr>
        <p:spPr>
          <a:xfrm>
            <a:off x="7726680" y="1234440"/>
            <a:ext cx="502920" cy="50292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xt235"/>
          <p:cNvSpPr txBox="1"/>
          <p:nvPr/>
        </p:nvSpPr>
        <p:spPr>
          <a:xfrm>
            <a:off x="77266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23" name="txt236"/>
          <p:cNvSpPr txBox="1"/>
          <p:nvPr/>
        </p:nvSpPr>
        <p:spPr>
          <a:xfrm>
            <a:off x="722376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 e informe</a:t>
            </a:r>
            <a:endParaRPr lang="en-US" sz="1300" dirty="0"/>
          </a:p>
        </p:txBody>
      </p:sp>
      <p:sp>
        <p:nvSpPr>
          <p:cNvPr id="24" name="txt237"/>
          <p:cNvSpPr txBox="1"/>
          <p:nvPr/>
        </p:nvSpPr>
        <p:spPr>
          <a:xfrm>
            <a:off x="7223760" y="23317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</p:txBody>
      </p:sp>
      <p:sp>
        <p:nvSpPr>
          <p:cNvPr id="25" name="box238"/>
          <p:cNvSpPr/>
          <p:nvPr/>
        </p:nvSpPr>
        <p:spPr>
          <a:xfrm>
            <a:off x="457200" y="29718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xt239"/>
          <p:cNvSpPr txBox="1"/>
          <p:nvPr/>
        </p:nvSpPr>
        <p:spPr>
          <a:xfrm>
            <a:off x="59436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3000" dirty="0"/>
          </a:p>
        </p:txBody>
      </p:sp>
      <p:sp>
        <p:nvSpPr>
          <p:cNvPr id="27" name="txt240"/>
          <p:cNvSpPr txBox="1"/>
          <p:nvPr/>
        </p:nvSpPr>
        <p:spPr>
          <a:xfrm>
            <a:off x="59436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ejecutados ÷ diseñados</a:t>
            </a:r>
            <a:endParaRPr lang="en-US" sz="1200" dirty="0"/>
          </a:p>
        </p:txBody>
      </p:sp>
      <p:sp>
        <p:nvSpPr>
          <p:cNvPr id="28" name="box241"/>
          <p:cNvSpPr/>
          <p:nvPr/>
        </p:nvSpPr>
        <p:spPr>
          <a:xfrm>
            <a:off x="2560320" y="29718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xt242"/>
          <p:cNvSpPr txBox="1"/>
          <p:nvPr/>
        </p:nvSpPr>
        <p:spPr>
          <a:xfrm>
            <a:off x="269748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90 %</a:t>
            </a:r>
            <a:endParaRPr lang="en-US" sz="3000" dirty="0"/>
          </a:p>
        </p:txBody>
      </p:sp>
      <p:sp>
        <p:nvSpPr>
          <p:cNvPr id="30" name="txt243"/>
          <p:cNvSpPr txBox="1"/>
          <p:nvPr/>
        </p:nvSpPr>
        <p:spPr>
          <a:xfrm>
            <a:off x="269748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aprobados ÷ ejecutados</a:t>
            </a:r>
            <a:endParaRPr lang="en-US" sz="1200" dirty="0"/>
          </a:p>
        </p:txBody>
      </p:sp>
      <p:sp>
        <p:nvSpPr>
          <p:cNvPr id="31" name="box244"/>
          <p:cNvSpPr/>
          <p:nvPr/>
        </p:nvSpPr>
        <p:spPr>
          <a:xfrm>
            <a:off x="4663440" y="29718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xt245"/>
          <p:cNvSpPr txBox="1"/>
          <p:nvPr/>
        </p:nvSpPr>
        <p:spPr>
          <a:xfrm>
            <a:off x="480060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3000" dirty="0"/>
          </a:p>
        </p:txBody>
      </p:sp>
      <p:sp>
        <p:nvSpPr>
          <p:cNvPr id="33" name="txt246"/>
          <p:cNvSpPr txBox="1"/>
          <p:nvPr/>
        </p:nvSpPr>
        <p:spPr>
          <a:xfrm>
            <a:off x="480060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HU con al menos un caso</a:t>
            </a:r>
            <a:endParaRPr lang="en-US" sz="1200" dirty="0"/>
          </a:p>
        </p:txBody>
      </p:sp>
      <p:sp>
        <p:nvSpPr>
          <p:cNvPr id="34" name="box247"/>
          <p:cNvSpPr/>
          <p:nvPr/>
        </p:nvSpPr>
        <p:spPr>
          <a:xfrm>
            <a:off x="6766560" y="297180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xt248"/>
          <p:cNvSpPr txBox="1"/>
          <p:nvPr/>
        </p:nvSpPr>
        <p:spPr>
          <a:xfrm>
            <a:off x="690372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</a:t>
            </a:r>
            <a:endParaRPr lang="en-US" sz="3000" dirty="0"/>
          </a:p>
        </p:txBody>
      </p:sp>
      <p:sp>
        <p:nvSpPr>
          <p:cNvPr id="36" name="txt249"/>
          <p:cNvSpPr txBox="1"/>
          <p:nvPr/>
        </p:nvSpPr>
        <p:spPr>
          <a:xfrm>
            <a:off x="6903720" y="3749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 crítico por épica (0 al cierre)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2800" dirty="0"/>
          </a:p>
        </p:txBody>
      </p:sp>
      <p:sp>
        <p:nvSpPr>
          <p:cNvPr id="4" name="box250"/>
          <p:cNvSpPr/>
          <p:nvPr/>
        </p:nvSpPr>
        <p:spPr>
          <a:xfrm>
            <a:off x="457200" y="109728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251"/>
          <p:cNvSpPr txBox="1"/>
          <p:nvPr/>
        </p:nvSpPr>
        <p:spPr>
          <a:xfrm>
            <a:off x="640080" y="1097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localStorage alterados entre pruebas</a:t>
            </a:r>
            <a:endParaRPr lang="en-US" sz="1400" dirty="0"/>
          </a:p>
        </p:txBody>
      </p:sp>
      <p:sp>
        <p:nvSpPr>
          <p:cNvPr id="6" name="flecha252"/>
          <p:cNvSpPr/>
          <p:nvPr/>
        </p:nvSpPr>
        <p:spPr>
          <a:xfrm rot="5400000">
            <a:off x="4206240" y="1362456"/>
            <a:ext cx="237744" cy="201168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box253"/>
          <p:cNvSpPr/>
          <p:nvPr/>
        </p:nvSpPr>
        <p:spPr>
          <a:xfrm>
            <a:off x="4526280" y="109728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254"/>
          <p:cNvSpPr txBox="1"/>
          <p:nvPr/>
        </p:nvSpPr>
        <p:spPr>
          <a:xfrm>
            <a:off x="4709160" y="10972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Restablecer los datos de demo antes de cada ciclo; las pruebas unitarias usan memoria</a:t>
            </a:r>
            <a:endParaRPr lang="en-US" sz="1300" dirty="0"/>
          </a:p>
        </p:txBody>
      </p:sp>
      <p:sp>
        <p:nvSpPr>
          <p:cNvPr id="9" name="box255"/>
          <p:cNvSpPr/>
          <p:nvPr/>
        </p:nvSpPr>
        <p:spPr>
          <a:xfrm>
            <a:off x="457200" y="19659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xt256"/>
          <p:cNvSpPr txBox="1"/>
          <p:nvPr/>
        </p:nvSpPr>
        <p:spPr>
          <a:xfrm>
            <a:off x="64008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participantes para la prueba de usabilidad</a:t>
            </a:r>
            <a:endParaRPr lang="en-US" sz="1400" dirty="0"/>
          </a:p>
        </p:txBody>
      </p:sp>
      <p:sp>
        <p:nvSpPr>
          <p:cNvPr id="11" name="flecha257"/>
          <p:cNvSpPr/>
          <p:nvPr/>
        </p:nvSpPr>
        <p:spPr>
          <a:xfrm rot="5400000">
            <a:off x="4206240" y="2231136"/>
            <a:ext cx="237744" cy="201168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box258"/>
          <p:cNvSpPr/>
          <p:nvPr/>
        </p:nvSpPr>
        <p:spPr>
          <a:xfrm>
            <a:off x="4526280" y="196596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xt259"/>
          <p:cNvSpPr txBox="1"/>
          <p:nvPr/>
        </p:nvSpPr>
        <p:spPr>
          <a:xfrm>
            <a:off x="4709160" y="19659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Invitar con anticipación a compañeros del curso; mínimo 5 participantes</a:t>
            </a:r>
            <a:endParaRPr lang="en-US" sz="1300" dirty="0"/>
          </a:p>
        </p:txBody>
      </p:sp>
      <p:sp>
        <p:nvSpPr>
          <p:cNvPr id="14" name="box260"/>
          <p:cNvSpPr/>
          <p:nvPr/>
        </p:nvSpPr>
        <p:spPr>
          <a:xfrm>
            <a:off x="457200" y="28346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xt261"/>
          <p:cNvSpPr txBox="1"/>
          <p:nvPr/>
        </p:nvSpPr>
        <p:spPr>
          <a:xfrm>
            <a:off x="640080" y="2834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timeout de 15 min consume tiempo</a:t>
            </a:r>
            <a:endParaRPr lang="en-US" sz="1400" dirty="0"/>
          </a:p>
        </p:txBody>
      </p:sp>
      <p:sp>
        <p:nvSpPr>
          <p:cNvPr id="16" name="flecha262"/>
          <p:cNvSpPr/>
          <p:nvPr/>
        </p:nvSpPr>
        <p:spPr>
          <a:xfrm rot="5400000">
            <a:off x="4206240" y="3099816"/>
            <a:ext cx="237744" cy="201168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box263"/>
          <p:cNvSpPr/>
          <p:nvPr/>
        </p:nvSpPr>
        <p:spPr>
          <a:xfrm>
            <a:off x="4526280" y="283464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xt264"/>
          <p:cNvSpPr txBox="1"/>
          <p:nvPr/>
        </p:nvSpPr>
        <p:spPr>
          <a:xfrm>
            <a:off x="4709160" y="2834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desde la consola, solo durante las pruebas</a:t>
            </a:r>
            <a:endParaRPr lang="en-US" sz="1300" dirty="0"/>
          </a:p>
        </p:txBody>
      </p:sp>
      <p:sp>
        <p:nvSpPr>
          <p:cNvPr id="19" name="box265"/>
          <p:cNvSpPr/>
          <p:nvPr/>
        </p:nvSpPr>
        <p:spPr>
          <a:xfrm>
            <a:off x="457200" y="37033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xt266"/>
          <p:cNvSpPr txBox="1"/>
          <p:nvPr/>
        </p:nvSpPr>
        <p:spPr>
          <a:xfrm>
            <a:off x="640080" y="3703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entre navegadores</a:t>
            </a:r>
            <a:endParaRPr lang="en-US" sz="1400" dirty="0"/>
          </a:p>
        </p:txBody>
      </p:sp>
      <p:sp>
        <p:nvSpPr>
          <p:cNvPr id="21" name="flecha267"/>
          <p:cNvSpPr/>
          <p:nvPr/>
        </p:nvSpPr>
        <p:spPr>
          <a:xfrm rot="5400000">
            <a:off x="4206240" y="3968496"/>
            <a:ext cx="237744" cy="201168"/>
          </a:xfrm>
          <a:prstGeom prst="triangl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box268"/>
          <p:cNvSpPr/>
          <p:nvPr/>
        </p:nvSpPr>
        <p:spPr>
          <a:xfrm>
            <a:off x="4526280" y="3703320"/>
            <a:ext cx="416052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xt269"/>
          <p:cNvSpPr txBox="1"/>
          <p:nvPr/>
        </p:nvSpPr>
        <p:spPr>
          <a:xfrm>
            <a:off x="4709160" y="37033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flujo principal en Chrome, Edge y Firefox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del software</a:t>
            </a:r>
            <a:endParaRPr lang="en-US" sz="2800" dirty="0"/>
          </a:p>
        </p:txBody>
      </p:sp>
      <p:sp>
        <p:nvSpPr>
          <p:cNvPr id="4" name="box151"/>
          <p:cNvSpPr/>
          <p:nvPr/>
        </p:nvSpPr>
        <p:spPr>
          <a:xfrm>
            <a:off x="457200" y="1463040"/>
            <a:ext cx="1917700" cy="2377440"/>
          </a:xfrm>
          <a:prstGeom prst="roundRect">
            <a:avLst>
              <a:gd name="adj" fmla="val 381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152"/>
          <p:cNvSpPr txBox="1"/>
          <p:nvPr/>
        </p:nvSpPr>
        <p:spPr>
          <a:xfrm>
            <a:off x="596900" y="1737360"/>
            <a:ext cx="1638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3600" dirty="0"/>
          </a:p>
        </p:txBody>
      </p:sp>
      <p:sp>
        <p:nvSpPr>
          <p:cNvPr id="6" name="txt153"/>
          <p:cNvSpPr txBox="1"/>
          <p:nvPr/>
        </p:nvSpPr>
        <p:spPr>
          <a:xfrm>
            <a:off x="596900" y="2697480"/>
            <a:ext cx="163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criterios de salida cumplidos</a:t>
            </a:r>
            <a:endParaRPr lang="en-US" sz="1400" dirty="0"/>
          </a:p>
        </p:txBody>
      </p:sp>
      <p:sp>
        <p:nvSpPr>
          <p:cNvPr id="7" name="box154"/>
          <p:cNvSpPr/>
          <p:nvPr/>
        </p:nvSpPr>
        <p:spPr>
          <a:xfrm>
            <a:off x="2560320" y="1463040"/>
            <a:ext cx="19177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155"/>
          <p:cNvSpPr txBox="1"/>
          <p:nvPr/>
        </p:nvSpPr>
        <p:spPr>
          <a:xfrm>
            <a:off x="2700020" y="1737360"/>
            <a:ext cx="1638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xt156"/>
          <p:cNvSpPr txBox="1"/>
          <p:nvPr/>
        </p:nvSpPr>
        <p:spPr>
          <a:xfrm>
            <a:off x="2700020" y="2697480"/>
            <a:ext cx="163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críticos o altos sin corregir</a:t>
            </a:r>
            <a:endParaRPr lang="en-US" sz="1400" dirty="0"/>
          </a:p>
        </p:txBody>
      </p:sp>
      <p:sp>
        <p:nvSpPr>
          <p:cNvPr id="10" name="box157"/>
          <p:cNvSpPr/>
          <p:nvPr/>
        </p:nvSpPr>
        <p:spPr>
          <a:xfrm>
            <a:off x="4663440" y="1463040"/>
            <a:ext cx="19177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xt158"/>
          <p:cNvSpPr txBox="1"/>
          <p:nvPr/>
        </p:nvSpPr>
        <p:spPr>
          <a:xfrm>
            <a:off x="4803140" y="1737360"/>
            <a:ext cx="1638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3600" dirty="0"/>
          </a:p>
        </p:txBody>
      </p:sp>
      <p:sp>
        <p:nvSpPr>
          <p:cNvPr id="12" name="txt159"/>
          <p:cNvSpPr txBox="1"/>
          <p:nvPr/>
        </p:nvSpPr>
        <p:spPr>
          <a:xfrm>
            <a:off x="4803140" y="2697480"/>
            <a:ext cx="163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éxito en UAT (herramienta propia) y SUS ≥ 68</a:t>
            </a:r>
            <a:endParaRPr lang="en-US" sz="1400" dirty="0"/>
          </a:p>
        </p:txBody>
      </p:sp>
      <p:sp>
        <p:nvSpPr>
          <p:cNvPr id="13" name="box160"/>
          <p:cNvSpPr/>
          <p:nvPr/>
        </p:nvSpPr>
        <p:spPr>
          <a:xfrm>
            <a:off x="6766560" y="1463040"/>
            <a:ext cx="1917700" cy="2377440"/>
          </a:xfrm>
          <a:prstGeom prst="roundRect">
            <a:avLst>
              <a:gd name="adj" fmla="val 381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xt161"/>
          <p:cNvSpPr txBox="1"/>
          <p:nvPr/>
        </p:nvSpPr>
        <p:spPr>
          <a:xfrm>
            <a:off x="6906260" y="1737360"/>
            <a:ext cx="1638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xt162"/>
          <p:cNvSpPr txBox="1"/>
          <p:nvPr/>
        </p:nvSpPr>
        <p:spPr>
          <a:xfrm>
            <a:off x="6906260" y="2697480"/>
            <a:ext cx="163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firmas: Líder de QA y docente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69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270"/>
          <p:cNvSpPr/>
          <p:nvPr/>
        </p:nvSpPr>
        <p:spPr>
          <a:xfrm>
            <a:off x="731520" y="960120"/>
            <a:ext cx="640080" cy="64008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xt271"/>
          <p:cNvSpPr txBox="1"/>
          <p:nvPr/>
        </p:nvSpPr>
        <p:spPr>
          <a:xfrm>
            <a:off x="7315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Conformidad</a:t>
            </a:r>
            <a:endParaRPr lang="en-US" sz="4000" dirty="0"/>
          </a:p>
        </p:txBody>
      </p:sp>
      <p:sp>
        <p:nvSpPr>
          <p:cNvPr id="5" name="txt272"/>
          <p:cNvSpPr txBox="1"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o regulaciones que deben cumplirse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regulaciones que debe cumplir TechStore</a:t>
            </a:r>
            <a:endParaRPr lang="en-US" sz="2800" dirty="0"/>
          </a:p>
        </p:txBody>
      </p:sp>
      <p:graphicFrame>
        <p:nvGraphicFramePr>
          <p:cNvPr id="20" name="tabla2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/ regulación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exige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lo cumple TechStore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 / 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 – Seguridad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robusta y control de sesión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contraseñas, bloqueo tras 5 intentos, cierre a los 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RNF04, HU18, HU20–22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N.° 29733 (Perú)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Consentimiento previo, expreso e informado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Casilla obligatoria y página de Política de Privacidad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RNF05, HU19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 (buenas prácticas)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guardar número completo ni CVV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marca y 4 últimos dígitos; validación de Luhn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2.1 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Operable con teclado y perceptible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Etiquetas asociadas, foco visible, errores junto al 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IGV 18 % y Ley N.° 29571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finales transparentes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con IGV incluido y desglosado en el carrito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 – Portabilidad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 dispositivos y navegadores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375–1920 px; Chrome, Edge, Firefox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RNF02, RNF07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conformidad CC01–CC07</a:t>
            </a:r>
            <a:endParaRPr lang="en-US" sz="2800" dirty="0"/>
          </a:p>
        </p:txBody>
      </p:sp>
      <p:sp>
        <p:nvSpPr>
          <p:cNvPr id="4" name="box274"/>
          <p:cNvSpPr/>
          <p:nvPr/>
        </p:nvSpPr>
        <p:spPr>
          <a:xfrm>
            <a:off x="457200" y="10515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xt275"/>
          <p:cNvSpPr txBox="1"/>
          <p:nvPr/>
        </p:nvSpPr>
        <p:spPr>
          <a:xfrm>
            <a:off x="594360" y="1161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CC01</a:t>
            </a:r>
            <a:endParaRPr lang="en-US" sz="1300" dirty="0"/>
          </a:p>
        </p:txBody>
      </p:sp>
      <p:sp>
        <p:nvSpPr>
          <p:cNvPr id="6" name="txt276"/>
          <p:cNvSpPr txBox="1"/>
          <p:nvPr/>
        </p:nvSpPr>
        <p:spPr>
          <a:xfrm>
            <a:off x="1234440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7" name="txt277"/>
          <p:cNvSpPr txBox="1"/>
          <p:nvPr/>
        </p:nvSpPr>
        <p:spPr>
          <a:xfrm>
            <a:off x="594360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500" dirty="0"/>
          </a:p>
        </p:txBody>
      </p:sp>
      <p:sp>
        <p:nvSpPr>
          <p:cNvPr id="8" name="txt278"/>
          <p:cNvSpPr txBox="1"/>
          <p:nvPr/>
        </p:nvSpPr>
        <p:spPr>
          <a:xfrm>
            <a:off x="594360" y="18288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claves inseguras y acepta la válida</a:t>
            </a:r>
            <a:endParaRPr lang="en-US" sz="1200" dirty="0"/>
          </a:p>
        </p:txBody>
      </p:sp>
      <p:sp>
        <p:nvSpPr>
          <p:cNvPr id="9" name="box279"/>
          <p:cNvSpPr/>
          <p:nvPr/>
        </p:nvSpPr>
        <p:spPr>
          <a:xfrm>
            <a:off x="2542032" y="10515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xt280"/>
          <p:cNvSpPr txBox="1"/>
          <p:nvPr/>
        </p:nvSpPr>
        <p:spPr>
          <a:xfrm>
            <a:off x="2679192" y="1161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CC02</a:t>
            </a:r>
            <a:endParaRPr lang="en-US" sz="1300" dirty="0"/>
          </a:p>
        </p:txBody>
      </p:sp>
      <p:sp>
        <p:nvSpPr>
          <p:cNvPr id="11" name="txt281"/>
          <p:cNvSpPr txBox="1"/>
          <p:nvPr/>
        </p:nvSpPr>
        <p:spPr>
          <a:xfrm>
            <a:off x="3319272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12" name="txt282"/>
          <p:cNvSpPr txBox="1"/>
          <p:nvPr/>
        </p:nvSpPr>
        <p:spPr>
          <a:xfrm>
            <a:off x="2679192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por intentos</a:t>
            </a:r>
            <a:endParaRPr lang="en-US" sz="1500" dirty="0"/>
          </a:p>
        </p:txBody>
      </p:sp>
      <p:sp>
        <p:nvSpPr>
          <p:cNvPr id="13" name="txt283"/>
          <p:cNvSpPr txBox="1"/>
          <p:nvPr/>
        </p:nvSpPr>
        <p:spPr>
          <a:xfrm>
            <a:off x="2679192" y="18288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5 min tras 5 intentos fallidos</a:t>
            </a:r>
            <a:endParaRPr lang="en-US" sz="1200" dirty="0"/>
          </a:p>
        </p:txBody>
      </p:sp>
      <p:sp>
        <p:nvSpPr>
          <p:cNvPr id="14" name="box284"/>
          <p:cNvSpPr/>
          <p:nvPr/>
        </p:nvSpPr>
        <p:spPr>
          <a:xfrm>
            <a:off x="4626864" y="10515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xt285"/>
          <p:cNvSpPr txBox="1"/>
          <p:nvPr/>
        </p:nvSpPr>
        <p:spPr>
          <a:xfrm>
            <a:off x="4764024" y="1161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CC03</a:t>
            </a:r>
            <a:endParaRPr lang="en-US" sz="1300" dirty="0"/>
          </a:p>
        </p:txBody>
      </p:sp>
      <p:sp>
        <p:nvSpPr>
          <p:cNvPr id="16" name="txt286"/>
          <p:cNvSpPr txBox="1"/>
          <p:nvPr/>
        </p:nvSpPr>
        <p:spPr>
          <a:xfrm>
            <a:off x="5404104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900" dirty="0"/>
          </a:p>
        </p:txBody>
      </p:sp>
      <p:sp>
        <p:nvSpPr>
          <p:cNvPr id="17" name="txt287"/>
          <p:cNvSpPr txBox="1"/>
          <p:nvPr/>
        </p:nvSpPr>
        <p:spPr>
          <a:xfrm>
            <a:off x="4764024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segura</a:t>
            </a:r>
            <a:endParaRPr lang="en-US" sz="1500" dirty="0"/>
          </a:p>
        </p:txBody>
      </p:sp>
      <p:sp>
        <p:nvSpPr>
          <p:cNvPr id="18" name="txt288"/>
          <p:cNvSpPr txBox="1"/>
          <p:nvPr/>
        </p:nvSpPr>
        <p:spPr>
          <a:xfrm>
            <a:off x="4764024" y="18288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expira a los 15 min y exige reingreso</a:t>
            </a:r>
            <a:endParaRPr lang="en-US" sz="1200" dirty="0"/>
          </a:p>
        </p:txBody>
      </p:sp>
      <p:sp>
        <p:nvSpPr>
          <p:cNvPr id="19" name="box289"/>
          <p:cNvSpPr/>
          <p:nvPr/>
        </p:nvSpPr>
        <p:spPr>
          <a:xfrm>
            <a:off x="6711696" y="10515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xt290"/>
          <p:cNvSpPr txBox="1"/>
          <p:nvPr/>
        </p:nvSpPr>
        <p:spPr>
          <a:xfrm>
            <a:off x="6848856" y="1161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CC04</a:t>
            </a:r>
            <a:endParaRPr lang="en-US" sz="1300" dirty="0"/>
          </a:p>
        </p:txBody>
      </p:sp>
      <p:sp>
        <p:nvSpPr>
          <p:cNvPr id="21" name="txt291"/>
          <p:cNvSpPr txBox="1"/>
          <p:nvPr/>
        </p:nvSpPr>
        <p:spPr>
          <a:xfrm>
            <a:off x="7488936" y="1161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N.° 29733</a:t>
            </a:r>
            <a:endParaRPr lang="en-US" sz="900" dirty="0"/>
          </a:p>
        </p:txBody>
      </p:sp>
      <p:sp>
        <p:nvSpPr>
          <p:cNvPr id="22" name="txt292"/>
          <p:cNvSpPr txBox="1"/>
          <p:nvPr/>
        </p:nvSpPr>
        <p:spPr>
          <a:xfrm>
            <a:off x="6848856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</a:t>
            </a:r>
            <a:endParaRPr lang="en-US" sz="1500" dirty="0"/>
          </a:p>
        </p:txBody>
      </p:sp>
      <p:sp>
        <p:nvSpPr>
          <p:cNvPr id="23" name="txt293"/>
          <p:cNvSpPr txBox="1"/>
          <p:nvPr/>
        </p:nvSpPr>
        <p:spPr>
          <a:xfrm>
            <a:off x="6848856" y="18288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permite registrarse sin consentimiento</a:t>
            </a:r>
            <a:endParaRPr lang="en-US" sz="1200" dirty="0"/>
          </a:p>
        </p:txBody>
      </p:sp>
      <p:sp>
        <p:nvSpPr>
          <p:cNvPr id="24" name="box294"/>
          <p:cNvSpPr/>
          <p:nvPr/>
        </p:nvSpPr>
        <p:spPr>
          <a:xfrm>
            <a:off x="1499616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xt295"/>
          <p:cNvSpPr txBox="1"/>
          <p:nvPr/>
        </p:nvSpPr>
        <p:spPr>
          <a:xfrm>
            <a:off x="1636776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CC05</a:t>
            </a:r>
            <a:endParaRPr lang="en-US" sz="1300" dirty="0"/>
          </a:p>
        </p:txBody>
      </p:sp>
      <p:sp>
        <p:nvSpPr>
          <p:cNvPr id="26" name="txt296"/>
          <p:cNvSpPr txBox="1"/>
          <p:nvPr/>
        </p:nvSpPr>
        <p:spPr>
          <a:xfrm>
            <a:off x="2276856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900" dirty="0"/>
          </a:p>
        </p:txBody>
      </p:sp>
      <p:sp>
        <p:nvSpPr>
          <p:cNvPr id="27" name="txt297"/>
          <p:cNvSpPr txBox="1"/>
          <p:nvPr/>
        </p:nvSpPr>
        <p:spPr>
          <a:xfrm>
            <a:off x="1636776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tarjeta</a:t>
            </a:r>
            <a:endParaRPr lang="en-US" sz="1500" dirty="0"/>
          </a:p>
        </p:txBody>
      </p:sp>
      <p:sp>
        <p:nvSpPr>
          <p:cNvPr id="28" name="txt298"/>
          <p:cNvSpPr txBox="1"/>
          <p:nvPr/>
        </p:nvSpPr>
        <p:spPr>
          <a:xfrm>
            <a:off x="1636776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 número completo ni CVV</a:t>
            </a:r>
            <a:endParaRPr lang="en-US" sz="1200" dirty="0"/>
          </a:p>
        </p:txBody>
      </p:sp>
      <p:sp>
        <p:nvSpPr>
          <p:cNvPr id="29" name="box299"/>
          <p:cNvSpPr/>
          <p:nvPr/>
        </p:nvSpPr>
        <p:spPr>
          <a:xfrm>
            <a:off x="3584448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xt300"/>
          <p:cNvSpPr txBox="1"/>
          <p:nvPr/>
        </p:nvSpPr>
        <p:spPr>
          <a:xfrm>
            <a:off x="3721608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CC06</a:t>
            </a:r>
            <a:endParaRPr lang="en-US" sz="1300" dirty="0"/>
          </a:p>
        </p:txBody>
      </p:sp>
      <p:sp>
        <p:nvSpPr>
          <p:cNvPr id="31" name="txt301"/>
          <p:cNvSpPr txBox="1"/>
          <p:nvPr/>
        </p:nvSpPr>
        <p:spPr>
          <a:xfrm>
            <a:off x="4361688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900" dirty="0"/>
          </a:p>
        </p:txBody>
      </p:sp>
      <p:sp>
        <p:nvSpPr>
          <p:cNvPr id="32" name="txt302"/>
          <p:cNvSpPr txBox="1"/>
          <p:nvPr/>
        </p:nvSpPr>
        <p:spPr>
          <a:xfrm>
            <a:off x="3721608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500" dirty="0"/>
          </a:p>
        </p:txBody>
      </p:sp>
      <p:sp>
        <p:nvSpPr>
          <p:cNvPr id="33" name="txt303"/>
          <p:cNvSpPr txBox="1"/>
          <p:nvPr/>
        </p:nvSpPr>
        <p:spPr>
          <a:xfrm>
            <a:off x="3721608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completa solo con teclado; Lighthouse ≥ 90</a:t>
            </a:r>
            <a:endParaRPr lang="en-US" sz="1200" dirty="0"/>
          </a:p>
        </p:txBody>
      </p:sp>
      <p:sp>
        <p:nvSpPr>
          <p:cNvPr id="34" name="box304"/>
          <p:cNvSpPr/>
          <p:nvPr/>
        </p:nvSpPr>
        <p:spPr>
          <a:xfrm>
            <a:off x="5669280" y="27889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E4EAF2"/>
          </a:solidFill>
          <a:ln w="12700">
            <a:solidFill>
              <a:srgbClr val="E4EAF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xt305"/>
          <p:cNvSpPr txBox="1"/>
          <p:nvPr/>
        </p:nvSpPr>
        <p:spPr>
          <a:xfrm>
            <a:off x="5806440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CC07</a:t>
            </a:r>
            <a:endParaRPr lang="en-US" sz="1300" dirty="0"/>
          </a:p>
        </p:txBody>
      </p:sp>
      <p:sp>
        <p:nvSpPr>
          <p:cNvPr id="36" name="txt306"/>
          <p:cNvSpPr txBox="1"/>
          <p:nvPr/>
        </p:nvSpPr>
        <p:spPr>
          <a:xfrm>
            <a:off x="644652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/ Ley 29571</a:t>
            </a:r>
            <a:endParaRPr lang="en-US" sz="900" dirty="0"/>
          </a:p>
        </p:txBody>
      </p:sp>
      <p:sp>
        <p:nvSpPr>
          <p:cNvPr id="37" name="txt307"/>
          <p:cNvSpPr txBox="1"/>
          <p:nvPr/>
        </p:nvSpPr>
        <p:spPr>
          <a:xfrm>
            <a:off x="5806440" y="3200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con IGV</a:t>
            </a:r>
            <a:endParaRPr lang="en-US" sz="1500" dirty="0"/>
          </a:p>
        </p:txBody>
      </p:sp>
      <p:sp>
        <p:nvSpPr>
          <p:cNvPr id="38" name="txt308"/>
          <p:cNvSpPr txBox="1"/>
          <p:nvPr/>
        </p:nvSpPr>
        <p:spPr>
          <a:xfrm>
            <a:off x="5806440" y="3566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precio mostrado + envío elegido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caso: CC01 política de contraseñas</a:t>
            </a:r>
            <a:endParaRPr lang="en-US" sz="2800" dirty="0"/>
          </a:p>
        </p:txBody>
      </p:sp>
      <p:graphicFrame>
        <p:nvGraphicFramePr>
          <p:cNvPr id="22" name="tabla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035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8 caracteres con mayúscula, minúscula, número y carácter especial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Precondiciones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usuario está en la pantalla de registro (registro.html)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Completar el formulario con datos válidos   2. Ingresar cada contraseña y pulsar «Crear cuenta»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Inválidas → mensaje junto al campo · Válida → cuenta creada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 si rechaza todas las contraseñas inseguras y acepta la válida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box310"/>
          <p:cNvSpPr/>
          <p:nvPr/>
        </p:nvSpPr>
        <p:spPr>
          <a:xfrm>
            <a:off x="5989320" y="105156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311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600" dirty="0"/>
          </a:p>
        </p:txBody>
      </p:sp>
      <p:sp>
        <p:nvSpPr>
          <p:cNvPr id="7" name="circ312"/>
          <p:cNvSpPr/>
          <p:nvPr/>
        </p:nvSpPr>
        <p:spPr>
          <a:xfrm>
            <a:off x="6172200" y="1691640"/>
            <a:ext cx="411480" cy="4114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xt313"/>
          <p:cNvSpPr txBox="1"/>
          <p:nvPr/>
        </p:nvSpPr>
        <p:spPr>
          <a:xfrm>
            <a:off x="61722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xt314"/>
          <p:cNvSpPr txBox="1"/>
          <p:nvPr/>
        </p:nvSpPr>
        <p:spPr>
          <a:xfrm>
            <a:off x="67208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abcd123</a:t>
            </a:r>
            <a:endParaRPr lang="en-US" sz="1500" dirty="0"/>
          </a:p>
        </p:txBody>
      </p:sp>
      <p:sp>
        <p:nvSpPr>
          <p:cNvPr id="10" name="txt315"/>
          <p:cNvSpPr txBox="1"/>
          <p:nvPr/>
        </p:nvSpPr>
        <p:spPr>
          <a:xfrm>
            <a:off x="67208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corta, sin mayúscula ni especial</a:t>
            </a:r>
            <a:endParaRPr lang="en-US" sz="1100" dirty="0"/>
          </a:p>
        </p:txBody>
      </p:sp>
      <p:sp>
        <p:nvSpPr>
          <p:cNvPr id="11" name="circ316"/>
          <p:cNvSpPr/>
          <p:nvPr/>
        </p:nvSpPr>
        <p:spPr>
          <a:xfrm>
            <a:off x="6172200" y="2560320"/>
            <a:ext cx="411480" cy="4114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xt317"/>
          <p:cNvSpPr txBox="1"/>
          <p:nvPr/>
        </p:nvSpPr>
        <p:spPr>
          <a:xfrm>
            <a:off x="61722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xt318"/>
          <p:cNvSpPr txBox="1"/>
          <p:nvPr/>
        </p:nvSpPr>
        <p:spPr>
          <a:xfrm>
            <a:off x="67208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Abcd1234</a:t>
            </a:r>
            <a:endParaRPr lang="en-US" sz="1500" dirty="0"/>
          </a:p>
        </p:txBody>
      </p:sp>
      <p:sp>
        <p:nvSpPr>
          <p:cNvPr id="14" name="txt319"/>
          <p:cNvSpPr txBox="1"/>
          <p:nvPr/>
        </p:nvSpPr>
        <p:spPr>
          <a:xfrm>
            <a:off x="67208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carácter especial</a:t>
            </a:r>
            <a:endParaRPr lang="en-US" sz="1100" dirty="0"/>
          </a:p>
        </p:txBody>
      </p:sp>
      <p:sp>
        <p:nvSpPr>
          <p:cNvPr id="15" name="circ320"/>
          <p:cNvSpPr/>
          <p:nvPr/>
        </p:nvSpPr>
        <p:spPr>
          <a:xfrm>
            <a:off x="6172200" y="3429000"/>
            <a:ext cx="411480" cy="41148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xt321"/>
          <p:cNvSpPr txBox="1"/>
          <p:nvPr/>
        </p:nvSpPr>
        <p:spPr>
          <a:xfrm>
            <a:off x="6172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xt322"/>
          <p:cNvSpPr txBox="1"/>
          <p:nvPr/>
        </p:nvSpPr>
        <p:spPr>
          <a:xfrm>
            <a:off x="67208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Abcd@1234</a:t>
            </a:r>
            <a:endParaRPr lang="en-US" sz="1500" dirty="0"/>
          </a:p>
        </p:txBody>
      </p:sp>
      <p:sp>
        <p:nvSpPr>
          <p:cNvPr id="18" name="txt323"/>
          <p:cNvSpPr txBox="1"/>
          <p:nvPr/>
        </p:nvSpPr>
        <p:spPr>
          <a:xfrm>
            <a:off x="67208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la política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resultados de conformidad</a:t>
            </a:r>
            <a:endParaRPr lang="en-US" sz="2800" dirty="0"/>
          </a:p>
        </p:txBody>
      </p:sp>
      <p:graphicFrame>
        <p:nvGraphicFramePr>
          <p:cNvPr id="23" name="tabla3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de contraseñas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por intentos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Expiración de sesión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N.° 29733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Consentimiento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tarjeta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WCAG 2.1 AA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Accesibilidad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IGV / Ley N.° 29571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transparentes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ejecutar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box325"/>
          <p:cNvSpPr/>
          <p:nvPr/>
        </p:nvSpPr>
        <p:spPr>
          <a:xfrm>
            <a:off x="7086600" y="1051560"/>
            <a:ext cx="1600200" cy="3429000"/>
          </a:xfrm>
          <a:prstGeom prst="roundRect">
            <a:avLst>
              <a:gd name="adj" fmla="val 4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xt326"/>
          <p:cNvSpPr txBox="1"/>
          <p:nvPr/>
        </p:nvSpPr>
        <p:spPr>
          <a:xfrm>
            <a:off x="713232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7</a:t>
            </a:r>
            <a:endParaRPr lang="en-US" sz="4000" dirty="0"/>
          </a:p>
        </p:txBody>
      </p:sp>
      <p:sp>
        <p:nvSpPr>
          <p:cNvPr id="7" name="txt327"/>
          <p:cNvSpPr txBox="1"/>
          <p:nvPr/>
        </p:nvSpPr>
        <p:spPr>
          <a:xfrm>
            <a:off x="7178040" y="26060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MX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ejecutados (se ejecutan en la Prueba de Conformidad)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328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600" dirty="0"/>
          </a:p>
        </p:txBody>
      </p:sp>
      <p:sp>
        <p:nvSpPr>
          <p:cNvPr id="3" name="circ329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xt330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xt331"/>
          <p:cNvSpPr txBox="1"/>
          <p:nvPr/>
        </p:nvSpPr>
        <p:spPr>
          <a:xfrm>
            <a:off x="1371600" y="1508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los casos de prueba CP01–CP12 y de conformidad CC01–CC07</a:t>
            </a:r>
            <a:endParaRPr lang="en-US" sz="1700" dirty="0"/>
          </a:p>
        </p:txBody>
      </p:sp>
      <p:sp>
        <p:nvSpPr>
          <p:cNvPr id="6" name="circ332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xt333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xt334"/>
          <p:cNvSpPr txBox="1"/>
          <p:nvPr/>
        </p:nvSpPr>
        <p:spPr>
          <a:xfrm>
            <a:off x="1371600" y="2194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resultados y evidencias (capturas)</a:t>
            </a:r>
            <a:endParaRPr lang="en-US" sz="1700" dirty="0"/>
          </a:p>
        </p:txBody>
      </p:sp>
      <p:sp>
        <p:nvSpPr>
          <p:cNvPr id="9" name="circ335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xt336"/>
          <p:cNvSpPr txBox="1"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xt337"/>
          <p:cNvSpPr txBox="1"/>
          <p:nvPr/>
        </p:nvSpPr>
        <p:spPr>
          <a:xfrm>
            <a:off x="1371600" y="28803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prueba de usabilidad con la herramienta propia</a:t>
            </a:r>
            <a:endParaRPr lang="en-US" sz="1700" dirty="0"/>
          </a:p>
        </p:txBody>
      </p:sp>
      <p:sp>
        <p:nvSpPr>
          <p:cNvPr id="12" name="circ338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xt339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xt340"/>
          <p:cNvSpPr txBox="1"/>
          <p:nvPr/>
        </p:nvSpPr>
        <p:spPr>
          <a:xfrm>
            <a:off x="1371600" y="35661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las métricas en el informe final</a:t>
            </a:r>
            <a:endParaRPr lang="en-US" sz="1700" dirty="0"/>
          </a:p>
        </p:txBody>
      </p:sp>
      <p:sp>
        <p:nvSpPr>
          <p:cNvPr id="15" name="txt341"/>
          <p:cNvSpPr txBox="1"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¿Preguntas?</a:t>
            </a:r>
            <a:endParaRPr lang="en-US" sz="1800" dirty="0"/>
          </a:p>
        </p:txBody>
      </p:sp>
      <p:sp>
        <p:nvSpPr>
          <p:cNvPr id="17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2782</Words>
  <Application>Microsoft Office PowerPoint</Application>
  <PresentationFormat>Presentación en pantalla (16:9)</PresentationFormat>
  <Paragraphs>544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Presentación de PowerPoint</vt:lpstr>
      <vt:lpstr>TechStore: el sistema bajo evaluación</vt:lpstr>
      <vt:lpstr>Lo que pide la actividad y cómo se responde</vt:lpstr>
      <vt:lpstr>Plan de Calidad</vt:lpstr>
      <vt:lpstr>Objetivos y alcance de calidad</vt:lpstr>
      <vt:lpstr>Normas y estándares aplicables</vt:lpstr>
      <vt:lpstr>Métricas de calidad (ISO/IEC 25010)</vt:lpstr>
      <vt:lpstr>Cómo se asegura y revisa la calidad</vt:lpstr>
      <vt:lpstr>Criterios de aceptación del producto</vt:lpstr>
      <vt:lpstr>Plan de Pruebas</vt:lpstr>
      <vt:lpstr>Alcance y estrategia por niveles</vt:lpstr>
      <vt:lpstr>Tipos de pruebas a aplicar</vt:lpstr>
      <vt:lpstr>Criterios de entrada, salida y suspensión</vt:lpstr>
      <vt:lpstr>Casos CP01–CP06: catálogo y carrito</vt:lpstr>
      <vt:lpstr>Casos CP07–CP12: cuenta, checkout y postventa</vt:lpstr>
      <vt:lpstr>Recursos y responsabilidades</vt:lpstr>
      <vt:lpstr>Cronograma y métricas de prueba</vt:lpstr>
      <vt:lpstr>Riesgos y mitigación</vt:lpstr>
      <vt:lpstr>Aprobación del software</vt:lpstr>
      <vt:lpstr>Pruebas de Conformidad</vt:lpstr>
      <vt:lpstr>Normas y regulaciones que debe cumplir TechStore</vt:lpstr>
      <vt:lpstr>Casos de conformidad CC01–CC07</vt:lpstr>
      <vt:lpstr>Ejemplo de caso: CC01 política de contraseñas</vt:lpstr>
      <vt:lpstr>Matriz de resultados de conformidad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Esquema de Plan de Calidad, Plan de Pruebas y Pruebas de Conformidad – TechStore</dc:title>
  <dc:subject>PptxGenJS Presentation</dc:subject>
  <dc:creator>Diego Aarón Damián Valdivia</dc:creator>
  <cp:lastModifiedBy>ALUMNO - Diego Aaron DAMIAN VALDIVIA</cp:lastModifiedBy>
  <cp:revision>9</cp:revision>
  <dcterms:created xsi:type="dcterms:W3CDTF">2026-10-03T22:47:17Z</dcterms:created>
  <dcterms:modified xsi:type="dcterms:W3CDTF">2026-10-09T23:11:35Z</dcterms:modified>
</cp:coreProperties>
</file>