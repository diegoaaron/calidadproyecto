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9" r:id="rId17"/>
    <p:sldId id="271" r:id="rId18"/>
    <p:sldId id="272" r:id="rId19"/>
    <p:sldId id="280" r:id="rId20"/>
    <p:sldId id="273" r:id="rId21"/>
    <p:sldId id="274" r:id="rId22"/>
    <p:sldId id="275" r:id="rId23"/>
    <p:sldId id="276" r:id="rId24"/>
    <p:sldId id="277" r:id="rId25"/>
    <p:sldId id="278" r:id="rId2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8233C501-9607-6FD7-5F88-22059824C7CC}">
          <p14:sldIdLst>
            <p14:sldId id="256"/>
            <p14:sldId id="257"/>
            <p14:sldId id="258"/>
          </p14:sldIdLst>
        </p14:section>
        <p14:section name="Plan de Calidad" id="{36765C67-2527-D50D-39B7-23EF1704755F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Plan de Pruebas" id="{3E639C74-9169-1901-F8CB-8D3F3DC61DE1}">
          <p14:sldIdLst>
            <p14:sldId id="265"/>
            <p14:sldId id="266"/>
            <p14:sldId id="267"/>
            <p14:sldId id="268"/>
            <p14:sldId id="269"/>
            <p14:sldId id="270"/>
            <p14:sldId id="279"/>
            <p14:sldId id="271"/>
            <p14:sldId id="272"/>
            <p14:sldId id="280"/>
          </p14:sldIdLst>
        </p14:section>
        <p14:section name="Conformidad" id="{4729A5D9-E5C0-64AC-639A-6694611E0BE3}">
          <p14:sldIdLst>
            <p14:sldId id="273"/>
            <p14:sldId id="274"/>
            <p14:sldId id="275"/>
            <p14:sldId id="276"/>
            <p14:sldId id="277"/>
          </p14:sldIdLst>
        </p14:section>
        <p14:section name="Cierre" id="{1B505F7F-177D-B518-8104-D97D46496D50}">
          <p14:sldIdLst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173837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Presento el avance de los tres instrumentos de aseguramiento de calidad para TechStore: plan de calidad, plan de pruebas y pruebas de conformidad.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TechStore es una tienda web solo frontend. Todo el esquema mantiene trazabilidad con el informe de historias de usuario: HU01–HU30, RF01–RF30, RNF01–RNF09 y épicas EP01–EP05.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actividad pide tres esquemas. Cada uno se presenta como una parte del documento.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Primera parte: qué normas seguimos y cómo medimos la calidad.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objetivos que guían el plan. El alcance cubre todo el ciclo, desde las historias de usuario hasta la publicación en GitHub Pages.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ISO/IEC 25010 es el eje: de ahí salen las características que medimos. IEEE 730 y 29119 dan la estructura de los planes. WCAG y la Ley 29733 cubren accesibilidad y datos personales.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tarjeta es una métrica con su meta mínima. Por ejemplo, la fiabilidad se mide con las 53 pruebas unitarias, que deben pasar al 100 %, y la usabilidad con la tasa de éxito en Maze y la escala SUS.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estrategias se apoyan en herramientas gratuitas y sin backend: el mini-framework de pruebas en el navegador, DevTools y Lighthouse, Maze y GitHub.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producto se acepta solo si se cumplen los cuatro criterios a la vez.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Segunda parte: cómo vamos a probar TechStore y cuándo damos una prueba por aprobada.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niveles, de lo más pequeño (funciones) a lo más grande (usuarios reales). Queda fuera lo que el sistema no tiene: pasarela de pago real, servidor y carga concurrente.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tipo de prueba tiene una técnica concreta y está ligado a HU o RNF. La regresión consiste en volver a correr tests.html después de cada cambio.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empezar a probar se necesitan requisitos aprobados y el entorno listo. Para terminar, al menos el 95 % de los casos ejecutados y ningún defecto crítico abierto.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resultado esperado de cada caso es el mensaje real que muestra la aplicación. Datos de prueba: demo@techstore.pe / Demo@1234 y la tarjeta 4111 1111 1111 1111.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resultado esperado de cada caso es el mensaje real que muestra la aplicación. Datos de prueba: demo@techstore.pe / Demo@1234 y la tarjeta 4111 1111 1111 1111.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empezar a probar se necesitan requisitos aprobados y el entorno listo. Para terminar, al menos el 95 % de los casos ejecutados y ningún defecto crítico abierto.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semanas de pruebas. Las métricas de prueba indican si el plan se cumplió: casos ejecutados, casos aprobados y cobertura de requisitos.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cuatro riesgos principales y lo que haremos para reducirlos.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producto se acepta solo si se cumplen los cuatro criterios a la vez.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Tercera parte: qué normas y leyes debe cumplir TechStore y cómo lo comprobamos.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Seis normas o regulaciones. Para cada una se indica qué exige y cómo lo cumple la aplicación hoy. Por ejemplo, para PCI DSS el pedido guarda solo la marca y los 4 últimos dígitos de la tarjeta.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Siete casos, cada uno con su requisito y su criterio de conformidad. Tres corresponden a la característica de seguridad de ISO/IEC 25010, que es el atributo del modelo del docente.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formato completo de cada caso, igual al del modelo del docente: requisito, precondiciones, entradas, pasos, resultado esperado y criterio de conformidad.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un avance: los casos ya están diseñados y la próxima semana se ejecutan y se registran sus resultados con evidencias.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Cierro con los próximos pasos y abro espacio para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TechStore · Calidad de Software</a:t>
            </a:r>
            <a:endParaRPr lang="en-US" sz="10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"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737360"/>
            <a:ext cx="768096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1"/>
          <p:cNvSpPr txBox="1"/>
          <p:nvPr/>
        </p:nvSpPr>
        <p:spPr>
          <a:xfrm>
            <a:off x="731520" y="731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MX" sz="1400" b="1" kern="0" spc="20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FACULTAD DE INGENIERÍA · INGENIERÍA DE SOFTWARE</a:t>
            </a:r>
            <a:endParaRPr lang="en-US" sz="1400" dirty="0"/>
          </a:p>
        </p:txBody>
      </p:sp>
      <p:sp>
        <p:nvSpPr>
          <p:cNvPr id="3" name="txt2"/>
          <p:cNvSpPr txBox="1"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de Plan de Calidad, Plan de Pruebas y Pruebas de Conformidad</a:t>
            </a:r>
            <a:endParaRPr lang="en-US" sz="3400" dirty="0"/>
          </a:p>
        </p:txBody>
      </p:sp>
      <p:sp>
        <p:nvSpPr>
          <p:cNvPr id="5" name="txt4"/>
          <p:cNvSpPr txBox="1"/>
          <p:nvPr/>
        </p:nvSpPr>
        <p:spPr>
          <a:xfrm>
            <a:off x="731520" y="34290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 </a:t>
            </a:r>
            <a:r>
              <a:rPr lang="en-US" sz="140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de Software – Sección 37648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US" sz="1400" b="1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Profesor: </a:t>
            </a:r>
            <a:r>
              <a:rPr lang="en-US" sz="140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Ing. Jorge Luis Blanco Reyna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US" sz="1400" b="1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 </a:t>
            </a:r>
            <a:r>
              <a:rPr lang="en-US" sz="140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DAMIÁN VALDIVIA, Diego Aarón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US" sz="140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Lima – Perú, 2026 · Versión 1.0</a:t>
            </a:r>
            <a:endParaRPr lang="en-US" sz="1400" dirty="0">
              <a:solidFill>
                <a:srgbClr val="C9D3E3"/>
              </a:solidFill>
            </a:endParaRPr>
          </a:p>
        </p:txBody>
      </p:sp>
      <p:sp>
        <p:nvSpPr>
          <p:cNvPr id="4" name="logoCard">
            <a:extLst>
              <a:ext uri="{FF2B5EF4-FFF2-40B4-BE49-F238E27FC236}">
                <a16:creationId xmlns:a16="http://schemas.microsoft.com/office/drawing/2014/main" id="{C0158DFF-2233-748E-6FB7-4A16D6664521}"/>
              </a:ext>
            </a:extLst>
          </p:cNvPr>
          <p:cNvSpPr/>
          <p:nvPr/>
        </p:nvSpPr>
        <p:spPr>
          <a:xfrm>
            <a:off x="6604000" y="508000"/>
            <a:ext cx="1905000" cy="635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pic>
        <p:nvPicPr>
          <p:cNvPr id="7" name="logoUTP" descr="Logo de la Universidad Tecnológica del Perú">
            <a:extLst>
              <a:ext uri="{FF2B5EF4-FFF2-40B4-BE49-F238E27FC236}">
                <a16:creationId xmlns:a16="http://schemas.microsoft.com/office/drawing/2014/main" id="{585C0159-974E-7851-B736-BB0F8F2956DA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731000" y="590550"/>
            <a:ext cx="1651000" cy="4394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TechStore: el sistema bajo evaluación</a:t>
            </a:r>
            <a:endParaRPr lang="en-US" sz="2800" dirty="0"/>
          </a:p>
        </p:txBody>
      </p:sp>
      <p:sp>
        <p:nvSpPr>
          <p:cNvPr id="4" name="txt5"/>
          <p:cNvSpPr txBox="1"/>
          <p:nvPr/>
        </p:nvSpPr>
        <p:spPr>
          <a:xfrm>
            <a:off x="457200" y="118872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Tienda web de tecnología: catálogo, carrito, cupones, registro e inicio de sesión, checkout con pago simulado e historial de pedidos.</a:t>
            </a:r>
            <a:endParaRPr lang="en-US" sz="1500" dirty="0"/>
          </a:p>
          <a:p>
            <a:pPr marL="0" indent="0">
              <a:buNone/>
            </a:pPr>
            <a:r>
              <a:rPr lang="en-US" sz="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Tecnología: </a:t>
            </a: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HTML, CSS y JavaScript puro, sin backend; datos en localStorage.</a:t>
            </a:r>
            <a:endParaRPr lang="en-US" sz="1500" dirty="0"/>
          </a:p>
          <a:p>
            <a:pPr marL="0" indent="0">
              <a:buNone/>
            </a:pPr>
            <a:r>
              <a:rPr lang="en-US" sz="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Publicación</a:t>
            </a:r>
            <a:r>
              <a:rPr lang="en-US" sz="1500" b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5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Pages (diegoaaron.github.io/calidadProyecto/).</a:t>
            </a:r>
            <a:endParaRPr lang="en-US" sz="1500" dirty="0"/>
          </a:p>
          <a:p>
            <a:pPr marL="0" indent="0">
              <a:buNone/>
            </a:pPr>
            <a:r>
              <a:rPr lang="en-US" sz="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Trazabilidad: </a:t>
            </a: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métrica, caso de prueba y caso de conformidad apunta a una HU/RF o RNF.</a:t>
            </a:r>
            <a:endParaRPr lang="en-US" sz="1500" dirty="0"/>
          </a:p>
        </p:txBody>
      </p:sp>
      <p:sp>
        <p:nvSpPr>
          <p:cNvPr id="5" name="box6"/>
          <p:cNvSpPr/>
          <p:nvPr/>
        </p:nvSpPr>
        <p:spPr>
          <a:xfrm>
            <a:off x="4663440" y="1188720"/>
            <a:ext cx="1874520" cy="1463040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xt7"/>
          <p:cNvSpPr txBox="1"/>
          <p:nvPr/>
        </p:nvSpPr>
        <p:spPr>
          <a:xfrm>
            <a:off x="4846320" y="132588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4400" dirty="0"/>
          </a:p>
        </p:txBody>
      </p:sp>
      <p:sp>
        <p:nvSpPr>
          <p:cNvPr id="7" name="txt8"/>
          <p:cNvSpPr txBox="1"/>
          <p:nvPr/>
        </p:nvSpPr>
        <p:spPr>
          <a:xfrm>
            <a:off x="4846320" y="20574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historias de usuario (HU01–HU30)</a:t>
            </a:r>
            <a:endParaRPr lang="en-US" sz="1200" dirty="0"/>
          </a:p>
        </p:txBody>
      </p:sp>
      <p:sp>
        <p:nvSpPr>
          <p:cNvPr id="8" name="box9"/>
          <p:cNvSpPr/>
          <p:nvPr/>
        </p:nvSpPr>
        <p:spPr>
          <a:xfrm>
            <a:off x="6720840" y="1188720"/>
            <a:ext cx="1874520" cy="1463040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xt10"/>
          <p:cNvSpPr txBox="1"/>
          <p:nvPr/>
        </p:nvSpPr>
        <p:spPr>
          <a:xfrm>
            <a:off x="6903720" y="132588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4400" dirty="0"/>
          </a:p>
        </p:txBody>
      </p:sp>
      <p:sp>
        <p:nvSpPr>
          <p:cNvPr id="10" name="txt11"/>
          <p:cNvSpPr txBox="1"/>
          <p:nvPr/>
        </p:nvSpPr>
        <p:spPr>
          <a:xfrm>
            <a:off x="6903720" y="20574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épicas (EP01–EP05)</a:t>
            </a:r>
            <a:endParaRPr lang="en-US" sz="1200" dirty="0"/>
          </a:p>
        </p:txBody>
      </p:sp>
      <p:sp>
        <p:nvSpPr>
          <p:cNvPr id="11" name="box12"/>
          <p:cNvSpPr/>
          <p:nvPr/>
        </p:nvSpPr>
        <p:spPr>
          <a:xfrm>
            <a:off x="4663440" y="2880360"/>
            <a:ext cx="1874520" cy="1463040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txt13"/>
          <p:cNvSpPr txBox="1"/>
          <p:nvPr/>
        </p:nvSpPr>
        <p:spPr>
          <a:xfrm>
            <a:off x="4846320" y="30175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4400" dirty="0"/>
          </a:p>
        </p:txBody>
      </p:sp>
      <p:sp>
        <p:nvSpPr>
          <p:cNvPr id="13" name="txt14"/>
          <p:cNvSpPr txBox="1"/>
          <p:nvPr/>
        </p:nvSpPr>
        <p:spPr>
          <a:xfrm>
            <a:off x="4846320" y="37490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no funcionales</a:t>
            </a:r>
            <a:endParaRPr lang="en-US" sz="1200" dirty="0"/>
          </a:p>
        </p:txBody>
      </p:sp>
      <p:sp>
        <p:nvSpPr>
          <p:cNvPr id="14" name="box15"/>
          <p:cNvSpPr/>
          <p:nvPr/>
        </p:nvSpPr>
        <p:spPr>
          <a:xfrm>
            <a:off x="6720840" y="2880360"/>
            <a:ext cx="1874520" cy="1463040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txt16"/>
          <p:cNvSpPr txBox="1"/>
          <p:nvPr/>
        </p:nvSpPr>
        <p:spPr>
          <a:xfrm>
            <a:off x="6903720" y="30175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4400" dirty="0"/>
          </a:p>
        </p:txBody>
      </p:sp>
      <p:sp>
        <p:nvSpPr>
          <p:cNvPr id="16" name="txt17"/>
          <p:cNvSpPr txBox="1"/>
          <p:nvPr/>
        </p:nvSpPr>
        <p:spPr>
          <a:xfrm>
            <a:off x="6903720" y="37490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unitarias automatizadas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pide la actividad y cómo se responde</a:t>
            </a:r>
            <a:endParaRPr lang="en-US" sz="2800" dirty="0"/>
          </a:p>
        </p:txBody>
      </p:sp>
      <p:sp>
        <p:nvSpPr>
          <p:cNvPr id="4" name="box18"/>
          <p:cNvSpPr/>
          <p:nvPr/>
        </p:nvSpPr>
        <p:spPr>
          <a:xfrm>
            <a:off x="457200" y="118872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circ19"/>
          <p:cNvSpPr/>
          <p:nvPr/>
        </p:nvSpPr>
        <p:spPr>
          <a:xfrm>
            <a:off x="685800" y="141732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xt20"/>
          <p:cNvSpPr txBox="1"/>
          <p:nvPr/>
        </p:nvSpPr>
        <p:spPr>
          <a:xfrm>
            <a:off x="68580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800" dirty="0"/>
          </a:p>
        </p:txBody>
      </p:sp>
      <p:sp>
        <p:nvSpPr>
          <p:cNvPr id="7" name="txt21"/>
          <p:cNvSpPr txBox="1"/>
          <p:nvPr/>
        </p:nvSpPr>
        <p:spPr>
          <a:xfrm>
            <a:off x="685800" y="21945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Calidad</a:t>
            </a:r>
            <a:endParaRPr lang="en-US" sz="2000" dirty="0"/>
          </a:p>
        </p:txBody>
      </p:sp>
      <p:sp>
        <p:nvSpPr>
          <p:cNvPr id="8" name="txt22"/>
          <p:cNvSpPr txBox="1"/>
          <p:nvPr/>
        </p:nvSpPr>
        <p:spPr>
          <a:xfrm>
            <a:off x="685800" y="29260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Estándares y métricas</a:t>
            </a:r>
            <a:endParaRPr lang="en-US" sz="1400" dirty="0"/>
          </a:p>
        </p:txBody>
      </p:sp>
      <p:sp>
        <p:nvSpPr>
          <p:cNvPr id="9" name="txt23"/>
          <p:cNvSpPr txBox="1"/>
          <p:nvPr/>
        </p:nvSpPr>
        <p:spPr>
          <a:xfrm>
            <a:off x="685800" y="3566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25010, IEEE 730, ISO 29119, WCAG, Ley 29733 · 14 métricas con meta</a:t>
            </a:r>
            <a:endParaRPr lang="en-US" sz="1200" dirty="0"/>
          </a:p>
        </p:txBody>
      </p:sp>
      <p:sp>
        <p:nvSpPr>
          <p:cNvPr id="10" name="box24"/>
          <p:cNvSpPr/>
          <p:nvPr/>
        </p:nvSpPr>
        <p:spPr>
          <a:xfrm>
            <a:off x="3246120" y="118872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circ25"/>
          <p:cNvSpPr/>
          <p:nvPr/>
        </p:nvSpPr>
        <p:spPr>
          <a:xfrm>
            <a:off x="3474720" y="141732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txt26"/>
          <p:cNvSpPr txBox="1"/>
          <p:nvPr/>
        </p:nvSpPr>
        <p:spPr>
          <a:xfrm>
            <a:off x="347472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</a:t>
            </a:r>
            <a:endParaRPr lang="en-US" sz="1800" dirty="0"/>
          </a:p>
        </p:txBody>
      </p:sp>
      <p:sp>
        <p:nvSpPr>
          <p:cNvPr id="13" name="txt27"/>
          <p:cNvSpPr txBox="1"/>
          <p:nvPr/>
        </p:nvSpPr>
        <p:spPr>
          <a:xfrm>
            <a:off x="3474720" y="21945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Pruebas</a:t>
            </a:r>
            <a:endParaRPr lang="en-US" sz="2000" dirty="0"/>
          </a:p>
        </p:txBody>
      </p:sp>
      <p:sp>
        <p:nvSpPr>
          <p:cNvPr id="14" name="txt28"/>
          <p:cNvSpPr txBox="1"/>
          <p:nvPr/>
        </p:nvSpPr>
        <p:spPr>
          <a:xfrm>
            <a:off x="3474720" y="29260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pruebas y criterios de aceptación</a:t>
            </a:r>
            <a:endParaRPr lang="en-US" sz="1400" dirty="0"/>
          </a:p>
        </p:txBody>
      </p:sp>
      <p:sp>
        <p:nvSpPr>
          <p:cNvPr id="15" name="txt29"/>
          <p:cNvSpPr txBox="1"/>
          <p:nvPr/>
        </p:nvSpPr>
        <p:spPr>
          <a:xfrm>
            <a:off x="3474720" y="3566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niveles · 9 tipos de prueba · 12 casos CP01–CP12</a:t>
            </a:r>
            <a:endParaRPr lang="en-US" sz="1200" dirty="0"/>
          </a:p>
        </p:txBody>
      </p:sp>
      <p:sp>
        <p:nvSpPr>
          <p:cNvPr id="16" name="box30"/>
          <p:cNvSpPr/>
          <p:nvPr/>
        </p:nvSpPr>
        <p:spPr>
          <a:xfrm>
            <a:off x="6035040" y="118872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circ31"/>
          <p:cNvSpPr/>
          <p:nvPr/>
        </p:nvSpPr>
        <p:spPr>
          <a:xfrm>
            <a:off x="6263640" y="141732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8" name="txt32"/>
          <p:cNvSpPr txBox="1"/>
          <p:nvPr/>
        </p:nvSpPr>
        <p:spPr>
          <a:xfrm>
            <a:off x="626364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</a:t>
            </a:r>
            <a:endParaRPr lang="en-US" sz="1800" dirty="0"/>
          </a:p>
        </p:txBody>
      </p:sp>
      <p:sp>
        <p:nvSpPr>
          <p:cNvPr id="19" name="txt33"/>
          <p:cNvSpPr txBox="1"/>
          <p:nvPr/>
        </p:nvSpPr>
        <p:spPr>
          <a:xfrm>
            <a:off x="6263640" y="21945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Conformidad</a:t>
            </a:r>
            <a:endParaRPr lang="en-US" sz="2000" dirty="0"/>
          </a:p>
        </p:txBody>
      </p:sp>
      <p:sp>
        <p:nvSpPr>
          <p:cNvPr id="20" name="txt34"/>
          <p:cNvSpPr txBox="1"/>
          <p:nvPr/>
        </p:nvSpPr>
        <p:spPr>
          <a:xfrm>
            <a:off x="6263640" y="29260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Normas o regulaciones a cumplir</a:t>
            </a:r>
            <a:endParaRPr lang="en-US" sz="1400" dirty="0"/>
          </a:p>
        </p:txBody>
      </p:sp>
      <p:sp>
        <p:nvSpPr>
          <p:cNvPr id="21" name="txt35"/>
          <p:cNvSpPr txBox="1"/>
          <p:nvPr/>
        </p:nvSpPr>
        <p:spPr>
          <a:xfrm>
            <a:off x="6263640" y="3566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normas · 7 casos CC01–CC07 · matriz de resultados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rc36"/>
          <p:cNvSpPr/>
          <p:nvPr/>
        </p:nvSpPr>
        <p:spPr>
          <a:xfrm>
            <a:off x="731520" y="960120"/>
            <a:ext cx="640080" cy="64008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txt37"/>
          <p:cNvSpPr txBox="1"/>
          <p:nvPr/>
        </p:nvSpPr>
        <p:spPr>
          <a:xfrm>
            <a:off x="731520" y="960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0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73736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Calidad</a:t>
            </a:r>
            <a:endParaRPr lang="en-US" sz="4000" dirty="0"/>
          </a:p>
        </p:txBody>
      </p:sp>
      <p:sp>
        <p:nvSpPr>
          <p:cNvPr id="5" name="txt38"/>
          <p:cNvSpPr txBox="1"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Estándares y métricas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y alcance de calidad</a:t>
            </a:r>
            <a:endParaRPr lang="en-US" sz="2800" dirty="0"/>
          </a:p>
        </p:txBody>
      </p:sp>
      <p:sp>
        <p:nvSpPr>
          <p:cNvPr id="4" name="circ39"/>
          <p:cNvSpPr/>
          <p:nvPr/>
        </p:nvSpPr>
        <p:spPr>
          <a:xfrm>
            <a:off x="457200" y="1143000"/>
            <a:ext cx="411480" cy="41148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xt40"/>
          <p:cNvSpPr txBox="1"/>
          <p:nvPr/>
        </p:nvSpPr>
        <p:spPr>
          <a:xfrm>
            <a:off x="457200" y="1143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xt41"/>
          <p:cNvSpPr txBox="1"/>
          <p:nvPr/>
        </p:nvSpPr>
        <p:spPr>
          <a:xfrm>
            <a:off x="1005840" y="11430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Cumplir los 30 requisitos funcionales y los 9 no funcionales</a:t>
            </a:r>
            <a:endParaRPr lang="en-US" sz="1400" dirty="0"/>
          </a:p>
        </p:txBody>
      </p:sp>
      <p:sp>
        <p:nvSpPr>
          <p:cNvPr id="7" name="circ42"/>
          <p:cNvSpPr/>
          <p:nvPr/>
        </p:nvSpPr>
        <p:spPr>
          <a:xfrm>
            <a:off x="457200" y="1746504"/>
            <a:ext cx="411480" cy="41148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xt43"/>
          <p:cNvSpPr txBox="1"/>
          <p:nvPr/>
        </p:nvSpPr>
        <p:spPr>
          <a:xfrm>
            <a:off x="457200" y="17465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xt44"/>
          <p:cNvSpPr txBox="1"/>
          <p:nvPr/>
        </p:nvSpPr>
        <p:spPr>
          <a:xfrm>
            <a:off x="1005840" y="174650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Cálculos exactos (IGV, cupones, envío, stock) con pruebas automatizadas</a:t>
            </a:r>
            <a:endParaRPr lang="en-US" sz="1400" dirty="0"/>
          </a:p>
        </p:txBody>
      </p:sp>
      <p:sp>
        <p:nvSpPr>
          <p:cNvPr id="10" name="circ45"/>
          <p:cNvSpPr/>
          <p:nvPr/>
        </p:nvSpPr>
        <p:spPr>
          <a:xfrm>
            <a:off x="457200" y="2350008"/>
            <a:ext cx="411480" cy="41148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xt46"/>
          <p:cNvSpPr txBox="1"/>
          <p:nvPr/>
        </p:nvSpPr>
        <p:spPr>
          <a:xfrm>
            <a:off x="457200" y="23500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xt47"/>
          <p:cNvSpPr txBox="1"/>
          <p:nvPr/>
        </p:nvSpPr>
        <p:spPr>
          <a:xfrm>
            <a:off x="1005840" y="23500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Proteger al usuario: contraseñas seguras, sesión con expiración, consentimiento</a:t>
            </a:r>
            <a:endParaRPr lang="en-US" sz="1400" dirty="0"/>
          </a:p>
        </p:txBody>
      </p:sp>
      <p:sp>
        <p:nvSpPr>
          <p:cNvPr id="13" name="circ48"/>
          <p:cNvSpPr/>
          <p:nvPr/>
        </p:nvSpPr>
        <p:spPr>
          <a:xfrm>
            <a:off x="457200" y="2953512"/>
            <a:ext cx="411480" cy="41148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xt49"/>
          <p:cNvSpPr txBox="1"/>
          <p:nvPr/>
        </p:nvSpPr>
        <p:spPr>
          <a:xfrm>
            <a:off x="457200" y="29535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xt50"/>
          <p:cNvSpPr txBox="1"/>
          <p:nvPr/>
        </p:nvSpPr>
        <p:spPr>
          <a:xfrm>
            <a:off x="1005840" y="295351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Experiencia usable, accesible y adaptable a móvil y escritorio</a:t>
            </a:r>
            <a:endParaRPr lang="en-US" sz="1400" dirty="0"/>
          </a:p>
        </p:txBody>
      </p:sp>
      <p:sp>
        <p:nvSpPr>
          <p:cNvPr id="16" name="circ51"/>
          <p:cNvSpPr/>
          <p:nvPr/>
        </p:nvSpPr>
        <p:spPr>
          <a:xfrm>
            <a:off x="457200" y="3557016"/>
            <a:ext cx="411480" cy="41148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xt52"/>
          <p:cNvSpPr txBox="1"/>
          <p:nvPr/>
        </p:nvSpPr>
        <p:spPr>
          <a:xfrm>
            <a:off x="457200" y="355701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xt53"/>
          <p:cNvSpPr txBox="1"/>
          <p:nvPr/>
        </p:nvSpPr>
        <p:spPr>
          <a:xfrm>
            <a:off x="1005840" y="355701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y validación en cada entrega semanal</a:t>
            </a:r>
            <a:endParaRPr lang="en-US" sz="1400" dirty="0"/>
          </a:p>
        </p:txBody>
      </p:sp>
      <p:sp>
        <p:nvSpPr>
          <p:cNvPr id="19" name="box54"/>
          <p:cNvSpPr/>
          <p:nvPr/>
        </p:nvSpPr>
        <p:spPr>
          <a:xfrm>
            <a:off x="5577840" y="1143000"/>
            <a:ext cx="3108960" cy="3291840"/>
          </a:xfrm>
          <a:prstGeom prst="roundRect">
            <a:avLst>
              <a:gd name="adj" fmla="val 2353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xt55"/>
          <p:cNvSpPr txBox="1"/>
          <p:nvPr/>
        </p:nvSpPr>
        <p:spPr>
          <a:xfrm>
            <a:off x="5806440" y="12801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</a:t>
            </a:r>
            <a:endParaRPr lang="en-US" sz="1800" dirty="0"/>
          </a:p>
        </p:txBody>
      </p:sp>
      <p:sp>
        <p:nvSpPr>
          <p:cNvPr id="21" name="txt56"/>
          <p:cNvSpPr txBox="1"/>
          <p:nvPr/>
        </p:nvSpPr>
        <p:spPr>
          <a:xfrm>
            <a:off x="5806440" y="1737360"/>
            <a:ext cx="2743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requisitos (HU)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de pantallas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Codificación de módulos JS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Pruebas: unitarias, integración, sistema, aceptación, usabilidad y conformidad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Publicación en GitHub Pages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Normas y estándares aplicables</a:t>
            </a:r>
            <a:endParaRPr lang="en-US" sz="2800" dirty="0"/>
          </a:p>
        </p:txBody>
      </p:sp>
      <p:sp>
        <p:nvSpPr>
          <p:cNvPr id="4" name="box57"/>
          <p:cNvSpPr/>
          <p:nvPr/>
        </p:nvSpPr>
        <p:spPr>
          <a:xfrm>
            <a:off x="457200" y="114300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xt58"/>
          <p:cNvSpPr txBox="1"/>
          <p:nvPr/>
        </p:nvSpPr>
        <p:spPr>
          <a:xfrm>
            <a:off x="640080" y="130759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25010</a:t>
            </a:r>
            <a:endParaRPr lang="en-US" sz="1700" dirty="0"/>
          </a:p>
        </p:txBody>
      </p:sp>
      <p:sp>
        <p:nvSpPr>
          <p:cNvPr id="6" name="txt59"/>
          <p:cNvSpPr txBox="1"/>
          <p:nvPr/>
        </p:nvSpPr>
        <p:spPr>
          <a:xfrm>
            <a:off x="640080" y="178308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calidad del producto: características que se miden</a:t>
            </a:r>
            <a:endParaRPr lang="en-US" sz="1300" dirty="0"/>
          </a:p>
        </p:txBody>
      </p:sp>
      <p:sp>
        <p:nvSpPr>
          <p:cNvPr id="7" name="box60"/>
          <p:cNvSpPr/>
          <p:nvPr/>
        </p:nvSpPr>
        <p:spPr>
          <a:xfrm>
            <a:off x="3246120" y="114300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xt61"/>
          <p:cNvSpPr txBox="1"/>
          <p:nvPr/>
        </p:nvSpPr>
        <p:spPr>
          <a:xfrm>
            <a:off x="3429000" y="130759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730</a:t>
            </a:r>
            <a:endParaRPr lang="en-US" sz="1700" dirty="0"/>
          </a:p>
        </p:txBody>
      </p:sp>
      <p:sp>
        <p:nvSpPr>
          <p:cNvPr id="9" name="txt62"/>
          <p:cNvSpPr txBox="1"/>
          <p:nvPr/>
        </p:nvSpPr>
        <p:spPr>
          <a:xfrm>
            <a:off x="3429000" y="178308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del plan de aseguramiento de la calidad</a:t>
            </a:r>
            <a:endParaRPr lang="en-US" sz="1300" dirty="0"/>
          </a:p>
        </p:txBody>
      </p:sp>
      <p:sp>
        <p:nvSpPr>
          <p:cNvPr id="10" name="box63"/>
          <p:cNvSpPr/>
          <p:nvPr/>
        </p:nvSpPr>
        <p:spPr>
          <a:xfrm>
            <a:off x="6035040" y="114300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xt64"/>
          <p:cNvSpPr txBox="1"/>
          <p:nvPr/>
        </p:nvSpPr>
        <p:spPr>
          <a:xfrm>
            <a:off x="6217920" y="130759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ISO/IEC/IEEE 29119</a:t>
            </a:r>
            <a:endParaRPr lang="en-US" sz="1700" dirty="0"/>
          </a:p>
        </p:txBody>
      </p:sp>
      <p:sp>
        <p:nvSpPr>
          <p:cNvPr id="12" name="txt65"/>
          <p:cNvSpPr txBox="1"/>
          <p:nvPr/>
        </p:nvSpPr>
        <p:spPr>
          <a:xfrm>
            <a:off x="6217920" y="178308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pruebas y documentación de casos (antes IEEE 829)</a:t>
            </a:r>
            <a:endParaRPr lang="en-US" sz="1300" dirty="0"/>
          </a:p>
        </p:txBody>
      </p:sp>
      <p:sp>
        <p:nvSpPr>
          <p:cNvPr id="13" name="box66"/>
          <p:cNvSpPr/>
          <p:nvPr/>
        </p:nvSpPr>
        <p:spPr>
          <a:xfrm>
            <a:off x="457200" y="283464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xt67"/>
          <p:cNvSpPr txBox="1"/>
          <p:nvPr/>
        </p:nvSpPr>
        <p:spPr>
          <a:xfrm>
            <a:off x="640080" y="299923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700" dirty="0"/>
          </a:p>
        </p:txBody>
      </p:sp>
      <p:sp>
        <p:nvSpPr>
          <p:cNvPr id="15" name="txt68"/>
          <p:cNvSpPr txBox="1"/>
          <p:nvPr/>
        </p:nvSpPr>
        <p:spPr>
          <a:xfrm>
            <a:off x="640080" y="3474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planificar–hacer–verificar–actuar en cada entrega</a:t>
            </a:r>
            <a:endParaRPr lang="en-US" sz="1300" dirty="0"/>
          </a:p>
        </p:txBody>
      </p:sp>
      <p:sp>
        <p:nvSpPr>
          <p:cNvPr id="16" name="box69"/>
          <p:cNvSpPr/>
          <p:nvPr/>
        </p:nvSpPr>
        <p:spPr>
          <a:xfrm>
            <a:off x="3246120" y="283464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xt70"/>
          <p:cNvSpPr txBox="1"/>
          <p:nvPr/>
        </p:nvSpPr>
        <p:spPr>
          <a:xfrm>
            <a:off x="3429000" y="299923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WCAG 2.1 AA</a:t>
            </a:r>
            <a:endParaRPr lang="en-US" sz="1700" dirty="0"/>
          </a:p>
        </p:txBody>
      </p:sp>
      <p:sp>
        <p:nvSpPr>
          <p:cNvPr id="18" name="txt71"/>
          <p:cNvSpPr txBox="1"/>
          <p:nvPr/>
        </p:nvSpPr>
        <p:spPr>
          <a:xfrm>
            <a:off x="3429000" y="3474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de accesibilidad web (RNF03)</a:t>
            </a:r>
            <a:endParaRPr lang="en-US" sz="1300" dirty="0"/>
          </a:p>
        </p:txBody>
      </p:sp>
      <p:sp>
        <p:nvSpPr>
          <p:cNvPr id="19" name="box72"/>
          <p:cNvSpPr/>
          <p:nvPr/>
        </p:nvSpPr>
        <p:spPr>
          <a:xfrm>
            <a:off x="6035040" y="283464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xt73"/>
          <p:cNvSpPr txBox="1"/>
          <p:nvPr/>
        </p:nvSpPr>
        <p:spPr>
          <a:xfrm>
            <a:off x="6217920" y="299923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 N.° 29733</a:t>
            </a:r>
            <a:endParaRPr lang="en-US" sz="1700" dirty="0"/>
          </a:p>
        </p:txBody>
      </p:sp>
      <p:sp>
        <p:nvSpPr>
          <p:cNvPr id="21" name="txt74"/>
          <p:cNvSpPr txBox="1"/>
          <p:nvPr/>
        </p:nvSpPr>
        <p:spPr>
          <a:xfrm>
            <a:off x="6217920" y="3474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Protección de datos personales: consentimiento (RNF05, HU19)</a:t>
            </a:r>
            <a:endParaRPr lang="en-US" sz="1300" dirty="0"/>
          </a:p>
        </p:txBody>
      </p:sp>
      <p:sp>
        <p:nvSpPr>
          <p:cNvPr id="22" name="txt75"/>
          <p:cNvSpPr txBox="1"/>
          <p:nvPr/>
        </p:nvSpPr>
        <p:spPr>
          <a:xfrm>
            <a:off x="457200" y="45262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Además: convenciones internas de código (lógica sin DOM, respuestas { ok, error }, escape con UI.esc, data-testid) – RNF08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de calidad (ISO/IEC 25010)</a:t>
            </a:r>
            <a:endParaRPr lang="en-US" sz="2800" dirty="0"/>
          </a:p>
        </p:txBody>
      </p:sp>
      <p:sp>
        <p:nvSpPr>
          <p:cNvPr id="4" name="box76"/>
          <p:cNvSpPr/>
          <p:nvPr/>
        </p:nvSpPr>
        <p:spPr>
          <a:xfrm>
            <a:off x="457200" y="1051560"/>
            <a:ext cx="1554480" cy="1069848"/>
          </a:xfrm>
          <a:prstGeom prst="roundRect">
            <a:avLst>
              <a:gd name="adj" fmla="val 6838"/>
            </a:avLst>
          </a:prstGeom>
          <a:solidFill>
            <a:srgbClr val="E4EAF2"/>
          </a:solidFill>
          <a:ln w="12700">
            <a:solidFill>
              <a:srgbClr val="E4EAF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xt77"/>
          <p:cNvSpPr txBox="1"/>
          <p:nvPr/>
        </p:nvSpPr>
        <p:spPr>
          <a:xfrm>
            <a:off x="566928" y="1124712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ADECUACIÓN FUNCIONAL</a:t>
            </a:r>
            <a:endParaRPr lang="en-US" sz="900" dirty="0"/>
          </a:p>
        </p:txBody>
      </p:sp>
      <p:sp>
        <p:nvSpPr>
          <p:cNvPr id="6" name="txt78"/>
          <p:cNvSpPr txBox="1"/>
          <p:nvPr/>
        </p:nvSpPr>
        <p:spPr>
          <a:xfrm>
            <a:off x="566928" y="132588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95 %</a:t>
            </a:r>
            <a:endParaRPr lang="en-US" sz="2200" dirty="0"/>
          </a:p>
        </p:txBody>
      </p:sp>
      <p:sp>
        <p:nvSpPr>
          <p:cNvPr id="7" name="txt79"/>
          <p:cNvSpPr txBox="1"/>
          <p:nvPr/>
        </p:nvSpPr>
        <p:spPr>
          <a:xfrm>
            <a:off x="566928" y="1746504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verificados ÷ 30</a:t>
            </a:r>
            <a:endParaRPr lang="en-US" sz="1000" dirty="0"/>
          </a:p>
        </p:txBody>
      </p:sp>
      <p:sp>
        <p:nvSpPr>
          <p:cNvPr id="8" name="box80"/>
          <p:cNvSpPr/>
          <p:nvPr/>
        </p:nvSpPr>
        <p:spPr>
          <a:xfrm>
            <a:off x="2125980" y="1051560"/>
            <a:ext cx="1554480" cy="1069848"/>
          </a:xfrm>
          <a:prstGeom prst="roundRect">
            <a:avLst>
              <a:gd name="adj" fmla="val 683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xt81"/>
          <p:cNvSpPr txBox="1"/>
          <p:nvPr/>
        </p:nvSpPr>
        <p:spPr>
          <a:xfrm>
            <a:off x="2235708" y="1124712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ADECUACIÓN FUNCIONAL</a:t>
            </a:r>
            <a:endParaRPr lang="en-US" sz="900" dirty="0"/>
          </a:p>
        </p:txBody>
      </p:sp>
      <p:sp>
        <p:nvSpPr>
          <p:cNvPr id="10" name="txt82"/>
          <p:cNvSpPr txBox="1"/>
          <p:nvPr/>
        </p:nvSpPr>
        <p:spPr>
          <a:xfrm>
            <a:off x="2235708" y="132588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</a:t>
            </a:r>
            <a:endParaRPr lang="en-US" sz="2200" dirty="0"/>
          </a:p>
        </p:txBody>
      </p:sp>
      <p:sp>
        <p:nvSpPr>
          <p:cNvPr id="11" name="txt83"/>
          <p:cNvSpPr txBox="1"/>
          <p:nvPr/>
        </p:nvSpPr>
        <p:spPr>
          <a:xfrm>
            <a:off x="2235708" y="1746504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Exactitud de cálculos</a:t>
            </a:r>
            <a:endParaRPr lang="en-US" sz="1000" dirty="0"/>
          </a:p>
        </p:txBody>
      </p:sp>
      <p:sp>
        <p:nvSpPr>
          <p:cNvPr id="12" name="box84"/>
          <p:cNvSpPr/>
          <p:nvPr/>
        </p:nvSpPr>
        <p:spPr>
          <a:xfrm>
            <a:off x="3794760" y="1051560"/>
            <a:ext cx="1554480" cy="1069848"/>
          </a:xfrm>
          <a:prstGeom prst="roundRect">
            <a:avLst>
              <a:gd name="adj" fmla="val 6838"/>
            </a:avLst>
          </a:prstGeom>
          <a:solidFill>
            <a:srgbClr val="E4EAF2"/>
          </a:solidFill>
          <a:ln w="12700">
            <a:solidFill>
              <a:srgbClr val="E4EAF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xt85"/>
          <p:cNvSpPr txBox="1"/>
          <p:nvPr/>
        </p:nvSpPr>
        <p:spPr>
          <a:xfrm>
            <a:off x="3904488" y="1124712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FIABILIDAD</a:t>
            </a:r>
            <a:endParaRPr lang="en-US" sz="900" dirty="0"/>
          </a:p>
        </p:txBody>
      </p:sp>
      <p:sp>
        <p:nvSpPr>
          <p:cNvPr id="14" name="txt86"/>
          <p:cNvSpPr txBox="1"/>
          <p:nvPr/>
        </p:nvSpPr>
        <p:spPr>
          <a:xfrm>
            <a:off x="3904488" y="132588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</a:t>
            </a:r>
            <a:endParaRPr lang="en-US" sz="2200" dirty="0"/>
          </a:p>
        </p:txBody>
      </p:sp>
      <p:sp>
        <p:nvSpPr>
          <p:cNvPr id="15" name="txt87"/>
          <p:cNvSpPr txBox="1"/>
          <p:nvPr/>
        </p:nvSpPr>
        <p:spPr>
          <a:xfrm>
            <a:off x="3904488" y="1746504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unitarias aprobadas</a:t>
            </a:r>
            <a:endParaRPr lang="en-US" sz="1000" dirty="0"/>
          </a:p>
        </p:txBody>
      </p:sp>
      <p:sp>
        <p:nvSpPr>
          <p:cNvPr id="16" name="box88"/>
          <p:cNvSpPr/>
          <p:nvPr/>
        </p:nvSpPr>
        <p:spPr>
          <a:xfrm>
            <a:off x="5463540" y="1051560"/>
            <a:ext cx="1554480" cy="1069848"/>
          </a:xfrm>
          <a:prstGeom prst="roundRect">
            <a:avLst>
              <a:gd name="adj" fmla="val 683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xt89"/>
          <p:cNvSpPr txBox="1"/>
          <p:nvPr/>
        </p:nvSpPr>
        <p:spPr>
          <a:xfrm>
            <a:off x="5573268" y="1124712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FIABILIDAD</a:t>
            </a:r>
            <a:endParaRPr lang="en-US" sz="900" dirty="0"/>
          </a:p>
        </p:txBody>
      </p:sp>
      <p:sp>
        <p:nvSpPr>
          <p:cNvPr id="18" name="txt90"/>
          <p:cNvSpPr txBox="1"/>
          <p:nvPr/>
        </p:nvSpPr>
        <p:spPr>
          <a:xfrm>
            <a:off x="5573268" y="132588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5/KLOC</a:t>
            </a:r>
            <a:endParaRPr lang="en-US" sz="2200" dirty="0"/>
          </a:p>
        </p:txBody>
      </p:sp>
      <p:sp>
        <p:nvSpPr>
          <p:cNvPr id="19" name="txt91"/>
          <p:cNvSpPr txBox="1"/>
          <p:nvPr/>
        </p:nvSpPr>
        <p:spPr>
          <a:xfrm>
            <a:off x="5573268" y="1746504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Densidad de defectos</a:t>
            </a:r>
            <a:endParaRPr lang="en-US" sz="1000" dirty="0"/>
          </a:p>
        </p:txBody>
      </p:sp>
      <p:sp>
        <p:nvSpPr>
          <p:cNvPr id="20" name="box92"/>
          <p:cNvSpPr/>
          <p:nvPr/>
        </p:nvSpPr>
        <p:spPr>
          <a:xfrm>
            <a:off x="7132320" y="1051560"/>
            <a:ext cx="1554480" cy="1069848"/>
          </a:xfrm>
          <a:prstGeom prst="roundRect">
            <a:avLst>
              <a:gd name="adj" fmla="val 6838"/>
            </a:avLst>
          </a:prstGeom>
          <a:solidFill>
            <a:srgbClr val="E4EAF2"/>
          </a:solidFill>
          <a:ln w="12700">
            <a:solidFill>
              <a:srgbClr val="E4EAF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xt93"/>
          <p:cNvSpPr txBox="1"/>
          <p:nvPr/>
        </p:nvSpPr>
        <p:spPr>
          <a:xfrm>
            <a:off x="7242048" y="1124712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FIABILIDAD</a:t>
            </a:r>
            <a:endParaRPr lang="en-US" sz="900" dirty="0"/>
          </a:p>
        </p:txBody>
      </p:sp>
      <p:sp>
        <p:nvSpPr>
          <p:cNvPr id="22" name="txt94"/>
          <p:cNvSpPr txBox="1"/>
          <p:nvPr/>
        </p:nvSpPr>
        <p:spPr>
          <a:xfrm>
            <a:off x="7242048" y="132588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23" name="txt95"/>
          <p:cNvSpPr txBox="1"/>
          <p:nvPr/>
        </p:nvSpPr>
        <p:spPr>
          <a:xfrm>
            <a:off x="7242048" y="1746504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Defectos críticos abiertos</a:t>
            </a:r>
            <a:endParaRPr lang="en-US" sz="1000" dirty="0"/>
          </a:p>
        </p:txBody>
      </p:sp>
      <p:sp>
        <p:nvSpPr>
          <p:cNvPr id="24" name="box96"/>
          <p:cNvSpPr/>
          <p:nvPr/>
        </p:nvSpPr>
        <p:spPr>
          <a:xfrm>
            <a:off x="457200" y="2212848"/>
            <a:ext cx="1554480" cy="1069848"/>
          </a:xfrm>
          <a:prstGeom prst="roundRect">
            <a:avLst>
              <a:gd name="adj" fmla="val 683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xt97"/>
          <p:cNvSpPr txBox="1"/>
          <p:nvPr/>
        </p:nvSpPr>
        <p:spPr>
          <a:xfrm>
            <a:off x="566928" y="2286000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EFICIENCIA</a:t>
            </a:r>
            <a:endParaRPr lang="en-US" sz="900" dirty="0"/>
          </a:p>
        </p:txBody>
      </p:sp>
      <p:sp>
        <p:nvSpPr>
          <p:cNvPr id="26" name="txt98"/>
          <p:cNvSpPr txBox="1"/>
          <p:nvPr/>
        </p:nvSpPr>
        <p:spPr>
          <a:xfrm>
            <a:off x="566928" y="2487168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 s</a:t>
            </a:r>
            <a:endParaRPr lang="en-US" sz="2200" dirty="0"/>
          </a:p>
        </p:txBody>
      </p:sp>
      <p:sp>
        <p:nvSpPr>
          <p:cNvPr id="27" name="txt99"/>
          <p:cNvSpPr txBox="1"/>
          <p:nvPr/>
        </p:nvSpPr>
        <p:spPr>
          <a:xfrm>
            <a:off x="566928" y="2907792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de carga (RNF06)</a:t>
            </a:r>
            <a:endParaRPr lang="en-US" sz="1000" dirty="0"/>
          </a:p>
        </p:txBody>
      </p:sp>
      <p:sp>
        <p:nvSpPr>
          <p:cNvPr id="28" name="box100"/>
          <p:cNvSpPr/>
          <p:nvPr/>
        </p:nvSpPr>
        <p:spPr>
          <a:xfrm>
            <a:off x="2125980" y="2212848"/>
            <a:ext cx="1554480" cy="1069848"/>
          </a:xfrm>
          <a:prstGeom prst="roundRect">
            <a:avLst>
              <a:gd name="adj" fmla="val 6838"/>
            </a:avLst>
          </a:prstGeom>
          <a:solidFill>
            <a:srgbClr val="E4EAF2"/>
          </a:solidFill>
          <a:ln w="12700">
            <a:solidFill>
              <a:srgbClr val="E4EAF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xt101"/>
          <p:cNvSpPr txBox="1"/>
          <p:nvPr/>
        </p:nvSpPr>
        <p:spPr>
          <a:xfrm>
            <a:off x="2235708" y="2286000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COMPATIBILIDAD</a:t>
            </a:r>
            <a:endParaRPr lang="en-US" sz="900" dirty="0"/>
          </a:p>
        </p:txBody>
      </p:sp>
      <p:sp>
        <p:nvSpPr>
          <p:cNvPr id="30" name="txt102"/>
          <p:cNvSpPr txBox="1"/>
          <p:nvPr/>
        </p:nvSpPr>
        <p:spPr>
          <a:xfrm>
            <a:off x="2235708" y="2487168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de 3</a:t>
            </a:r>
            <a:endParaRPr lang="en-US" sz="2200" dirty="0"/>
          </a:p>
        </p:txBody>
      </p:sp>
      <p:sp>
        <p:nvSpPr>
          <p:cNvPr id="31" name="txt103"/>
          <p:cNvSpPr txBox="1"/>
          <p:nvPr/>
        </p:nvSpPr>
        <p:spPr>
          <a:xfrm>
            <a:off x="2235708" y="2907792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Chrome, Edge, Firefox</a:t>
            </a:r>
            <a:endParaRPr lang="en-US" sz="1000" dirty="0"/>
          </a:p>
        </p:txBody>
      </p:sp>
      <p:sp>
        <p:nvSpPr>
          <p:cNvPr id="32" name="box104"/>
          <p:cNvSpPr/>
          <p:nvPr/>
        </p:nvSpPr>
        <p:spPr>
          <a:xfrm>
            <a:off x="3794760" y="2212848"/>
            <a:ext cx="1554480" cy="1069848"/>
          </a:xfrm>
          <a:prstGeom prst="roundRect">
            <a:avLst>
              <a:gd name="adj" fmla="val 683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xt105"/>
          <p:cNvSpPr txBox="1"/>
          <p:nvPr/>
        </p:nvSpPr>
        <p:spPr>
          <a:xfrm>
            <a:off x="3904488" y="2286000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USABILIDAD</a:t>
            </a:r>
            <a:endParaRPr lang="en-US" sz="900" dirty="0"/>
          </a:p>
        </p:txBody>
      </p:sp>
      <p:sp>
        <p:nvSpPr>
          <p:cNvPr id="34" name="txt106"/>
          <p:cNvSpPr txBox="1"/>
          <p:nvPr/>
        </p:nvSpPr>
        <p:spPr>
          <a:xfrm>
            <a:off x="3904488" y="2487168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80 %</a:t>
            </a:r>
            <a:endParaRPr lang="en-US" sz="2200" dirty="0"/>
          </a:p>
        </p:txBody>
      </p:sp>
      <p:sp>
        <p:nvSpPr>
          <p:cNvPr id="35" name="txt107"/>
          <p:cNvSpPr txBox="1"/>
          <p:nvPr/>
        </p:nvSpPr>
        <p:spPr>
          <a:xfrm>
            <a:off x="3904488" y="2907792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éxito en Maze</a:t>
            </a:r>
            <a:endParaRPr lang="en-US" sz="1000" dirty="0"/>
          </a:p>
        </p:txBody>
      </p:sp>
      <p:sp>
        <p:nvSpPr>
          <p:cNvPr id="36" name="box108"/>
          <p:cNvSpPr/>
          <p:nvPr/>
        </p:nvSpPr>
        <p:spPr>
          <a:xfrm>
            <a:off x="5463540" y="2212848"/>
            <a:ext cx="1554480" cy="1069848"/>
          </a:xfrm>
          <a:prstGeom prst="roundRect">
            <a:avLst>
              <a:gd name="adj" fmla="val 6838"/>
            </a:avLst>
          </a:prstGeom>
          <a:solidFill>
            <a:srgbClr val="E4EAF2"/>
          </a:solidFill>
          <a:ln w="12700">
            <a:solidFill>
              <a:srgbClr val="E4EAF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7" name="txt109"/>
          <p:cNvSpPr txBox="1"/>
          <p:nvPr/>
        </p:nvSpPr>
        <p:spPr>
          <a:xfrm>
            <a:off x="5573268" y="2286000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USABILIDAD</a:t>
            </a:r>
            <a:endParaRPr lang="en-US" sz="900" dirty="0"/>
          </a:p>
        </p:txBody>
      </p:sp>
      <p:sp>
        <p:nvSpPr>
          <p:cNvPr id="38" name="txt110"/>
          <p:cNvSpPr txBox="1"/>
          <p:nvPr/>
        </p:nvSpPr>
        <p:spPr>
          <a:xfrm>
            <a:off x="5573268" y="2487168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68</a:t>
            </a:r>
            <a:endParaRPr lang="en-US" sz="2200" dirty="0"/>
          </a:p>
        </p:txBody>
      </p:sp>
      <p:sp>
        <p:nvSpPr>
          <p:cNvPr id="39" name="txt111"/>
          <p:cNvSpPr txBox="1"/>
          <p:nvPr/>
        </p:nvSpPr>
        <p:spPr>
          <a:xfrm>
            <a:off x="5573268" y="2907792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Satisfacción SUS</a:t>
            </a:r>
            <a:endParaRPr lang="en-US" sz="1000" dirty="0"/>
          </a:p>
        </p:txBody>
      </p:sp>
      <p:sp>
        <p:nvSpPr>
          <p:cNvPr id="40" name="box112"/>
          <p:cNvSpPr/>
          <p:nvPr/>
        </p:nvSpPr>
        <p:spPr>
          <a:xfrm>
            <a:off x="7132320" y="2212848"/>
            <a:ext cx="1554480" cy="1069848"/>
          </a:xfrm>
          <a:prstGeom prst="roundRect">
            <a:avLst>
              <a:gd name="adj" fmla="val 683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1" name="txt113"/>
          <p:cNvSpPr txBox="1"/>
          <p:nvPr/>
        </p:nvSpPr>
        <p:spPr>
          <a:xfrm>
            <a:off x="7242048" y="2286000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ACCESIBILIDAD</a:t>
            </a:r>
            <a:endParaRPr lang="en-US" sz="900" dirty="0"/>
          </a:p>
        </p:txBody>
      </p:sp>
      <p:sp>
        <p:nvSpPr>
          <p:cNvPr id="42" name="txt114"/>
          <p:cNvSpPr txBox="1"/>
          <p:nvPr/>
        </p:nvSpPr>
        <p:spPr>
          <a:xfrm>
            <a:off x="7242048" y="2487168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90</a:t>
            </a:r>
            <a:endParaRPr lang="en-US" sz="2200" dirty="0"/>
          </a:p>
        </p:txBody>
      </p:sp>
      <p:sp>
        <p:nvSpPr>
          <p:cNvPr id="43" name="txt115"/>
          <p:cNvSpPr txBox="1"/>
          <p:nvPr/>
        </p:nvSpPr>
        <p:spPr>
          <a:xfrm>
            <a:off x="7242048" y="2907792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Lighthouse (RNF03)</a:t>
            </a:r>
            <a:endParaRPr lang="en-US" sz="1000" dirty="0"/>
          </a:p>
        </p:txBody>
      </p:sp>
      <p:sp>
        <p:nvSpPr>
          <p:cNvPr id="44" name="box116"/>
          <p:cNvSpPr/>
          <p:nvPr/>
        </p:nvSpPr>
        <p:spPr>
          <a:xfrm>
            <a:off x="457200" y="3374136"/>
            <a:ext cx="1554480" cy="1069848"/>
          </a:xfrm>
          <a:prstGeom prst="roundRect">
            <a:avLst>
              <a:gd name="adj" fmla="val 6838"/>
            </a:avLst>
          </a:prstGeom>
          <a:solidFill>
            <a:srgbClr val="E4EAF2"/>
          </a:solidFill>
          <a:ln w="12700">
            <a:solidFill>
              <a:srgbClr val="E4EAF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5" name="txt117"/>
          <p:cNvSpPr txBox="1"/>
          <p:nvPr/>
        </p:nvSpPr>
        <p:spPr>
          <a:xfrm>
            <a:off x="566928" y="3447288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  <a:endParaRPr lang="en-US" sz="900" dirty="0"/>
          </a:p>
        </p:txBody>
      </p:sp>
      <p:sp>
        <p:nvSpPr>
          <p:cNvPr id="46" name="txt118"/>
          <p:cNvSpPr txBox="1"/>
          <p:nvPr/>
        </p:nvSpPr>
        <p:spPr>
          <a:xfrm>
            <a:off x="566928" y="3648456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</a:t>
            </a:r>
            <a:endParaRPr lang="en-US" sz="2200" dirty="0"/>
          </a:p>
        </p:txBody>
      </p:sp>
      <p:sp>
        <p:nvSpPr>
          <p:cNvPr id="47" name="txt119"/>
          <p:cNvSpPr txBox="1"/>
          <p:nvPr/>
        </p:nvSpPr>
        <p:spPr>
          <a:xfrm>
            <a:off x="566928" y="4069080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Controles que cumplen</a:t>
            </a:r>
            <a:endParaRPr lang="en-US" sz="1000" dirty="0"/>
          </a:p>
        </p:txBody>
      </p:sp>
      <p:sp>
        <p:nvSpPr>
          <p:cNvPr id="48" name="box120"/>
          <p:cNvSpPr/>
          <p:nvPr/>
        </p:nvSpPr>
        <p:spPr>
          <a:xfrm>
            <a:off x="2125980" y="3374136"/>
            <a:ext cx="1554480" cy="1069848"/>
          </a:xfrm>
          <a:prstGeom prst="roundRect">
            <a:avLst>
              <a:gd name="adj" fmla="val 683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9" name="txt121"/>
          <p:cNvSpPr txBox="1"/>
          <p:nvPr/>
        </p:nvSpPr>
        <p:spPr>
          <a:xfrm>
            <a:off x="2235708" y="3447288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MANTENIBILIDAD</a:t>
            </a:r>
            <a:endParaRPr lang="en-US" sz="900" dirty="0"/>
          </a:p>
        </p:txBody>
      </p:sp>
      <p:sp>
        <p:nvSpPr>
          <p:cNvPr id="50" name="txt122"/>
          <p:cNvSpPr txBox="1"/>
          <p:nvPr/>
        </p:nvSpPr>
        <p:spPr>
          <a:xfrm>
            <a:off x="2235708" y="3648456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de 4</a:t>
            </a:r>
            <a:endParaRPr lang="en-US" sz="2200" dirty="0"/>
          </a:p>
        </p:txBody>
      </p:sp>
      <p:sp>
        <p:nvSpPr>
          <p:cNvPr id="51" name="txt123"/>
          <p:cNvSpPr txBox="1"/>
          <p:nvPr/>
        </p:nvSpPr>
        <p:spPr>
          <a:xfrm>
            <a:off x="2235708" y="4069080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con pruebas</a:t>
            </a:r>
            <a:endParaRPr lang="en-US" sz="1000" dirty="0"/>
          </a:p>
        </p:txBody>
      </p:sp>
      <p:sp>
        <p:nvSpPr>
          <p:cNvPr id="52" name="box124"/>
          <p:cNvSpPr/>
          <p:nvPr/>
        </p:nvSpPr>
        <p:spPr>
          <a:xfrm>
            <a:off x="3794760" y="3374136"/>
            <a:ext cx="1554480" cy="1069848"/>
          </a:xfrm>
          <a:prstGeom prst="roundRect">
            <a:avLst>
              <a:gd name="adj" fmla="val 6838"/>
            </a:avLst>
          </a:prstGeom>
          <a:solidFill>
            <a:srgbClr val="E4EAF2"/>
          </a:solidFill>
          <a:ln w="12700">
            <a:solidFill>
              <a:srgbClr val="E4EAF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3" name="txt125"/>
          <p:cNvSpPr txBox="1"/>
          <p:nvPr/>
        </p:nvSpPr>
        <p:spPr>
          <a:xfrm>
            <a:off x="3904488" y="3447288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PORTABILIDAD</a:t>
            </a:r>
            <a:endParaRPr lang="en-US" sz="900" dirty="0"/>
          </a:p>
        </p:txBody>
      </p:sp>
      <p:sp>
        <p:nvSpPr>
          <p:cNvPr id="54" name="txt126"/>
          <p:cNvSpPr txBox="1"/>
          <p:nvPr/>
        </p:nvSpPr>
        <p:spPr>
          <a:xfrm>
            <a:off x="3904488" y="3648456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</a:t>
            </a:r>
            <a:endParaRPr lang="en-US" sz="2200" dirty="0"/>
          </a:p>
        </p:txBody>
      </p:sp>
      <p:sp>
        <p:nvSpPr>
          <p:cNvPr id="55" name="txt127"/>
          <p:cNvSpPr txBox="1"/>
          <p:nvPr/>
        </p:nvSpPr>
        <p:spPr>
          <a:xfrm>
            <a:off x="3904488" y="4069080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Páginas OK a 375 px</a:t>
            </a:r>
            <a:endParaRPr lang="en-US" sz="1000" dirty="0"/>
          </a:p>
        </p:txBody>
      </p:sp>
      <p:sp>
        <p:nvSpPr>
          <p:cNvPr id="56" name="box128"/>
          <p:cNvSpPr/>
          <p:nvPr/>
        </p:nvSpPr>
        <p:spPr>
          <a:xfrm>
            <a:off x="5463540" y="3374136"/>
            <a:ext cx="1554480" cy="1069848"/>
          </a:xfrm>
          <a:prstGeom prst="roundRect">
            <a:avLst>
              <a:gd name="adj" fmla="val 683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7" name="txt129"/>
          <p:cNvSpPr txBox="1"/>
          <p:nvPr/>
        </p:nvSpPr>
        <p:spPr>
          <a:xfrm>
            <a:off x="5573268" y="3447288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</a:t>
            </a:r>
            <a:endParaRPr lang="en-US" sz="900" dirty="0"/>
          </a:p>
        </p:txBody>
      </p:sp>
      <p:sp>
        <p:nvSpPr>
          <p:cNvPr id="58" name="txt130"/>
          <p:cNvSpPr txBox="1"/>
          <p:nvPr/>
        </p:nvSpPr>
        <p:spPr>
          <a:xfrm>
            <a:off x="5573268" y="3648456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2 días</a:t>
            </a:r>
            <a:endParaRPr lang="en-US" sz="2200" dirty="0"/>
          </a:p>
        </p:txBody>
      </p:sp>
      <p:sp>
        <p:nvSpPr>
          <p:cNvPr id="59" name="txt131"/>
          <p:cNvSpPr txBox="1"/>
          <p:nvPr/>
        </p:nvSpPr>
        <p:spPr>
          <a:xfrm>
            <a:off x="5573268" y="4069080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medio de corrección</a:t>
            </a:r>
            <a:endParaRPr lang="en-US" sz="10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asegura y revisa la calidad</a:t>
            </a:r>
            <a:endParaRPr lang="en-US" sz="2800" dirty="0"/>
          </a:p>
        </p:txBody>
      </p:sp>
      <p:sp>
        <p:nvSpPr>
          <p:cNvPr id="4" name="circ13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xt133"/>
          <p:cNvSpPr txBox="1"/>
          <p:nvPr/>
        </p:nvSpPr>
        <p:spPr>
          <a:xfrm>
            <a:off x="45720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xt134"/>
          <p:cNvSpPr txBox="1"/>
          <p:nvPr/>
        </p:nvSpPr>
        <p:spPr>
          <a:xfrm>
            <a:off x="1051560" y="11430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Revisiones técnicas</a:t>
            </a:r>
            <a:endParaRPr lang="en-US" sz="1500" dirty="0"/>
          </a:p>
        </p:txBody>
      </p:sp>
      <p:sp>
        <p:nvSpPr>
          <p:cNvPr id="7" name="txt135"/>
          <p:cNvSpPr txBox="1"/>
          <p:nvPr/>
        </p:nvSpPr>
        <p:spPr>
          <a:xfrm>
            <a:off x="1051560" y="144475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 y criterios antes de codificar; código antes de integrar</a:t>
            </a:r>
            <a:endParaRPr lang="en-US" sz="1300" dirty="0"/>
          </a:p>
        </p:txBody>
      </p:sp>
      <p:sp>
        <p:nvSpPr>
          <p:cNvPr id="8" name="circ136"/>
          <p:cNvSpPr/>
          <p:nvPr/>
        </p:nvSpPr>
        <p:spPr>
          <a:xfrm>
            <a:off x="457200" y="2011680"/>
            <a:ext cx="457200" cy="45720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xt137"/>
          <p:cNvSpPr txBox="1"/>
          <p:nvPr/>
        </p:nvSpPr>
        <p:spPr>
          <a:xfrm>
            <a:off x="45720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xt138"/>
          <p:cNvSpPr txBox="1"/>
          <p:nvPr/>
        </p:nvSpPr>
        <p:spPr>
          <a:xfrm>
            <a:off x="1051560" y="19659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planificadas</a:t>
            </a:r>
            <a:endParaRPr lang="en-US" sz="1500" dirty="0"/>
          </a:p>
        </p:txBody>
      </p:sp>
      <p:sp>
        <p:nvSpPr>
          <p:cNvPr id="11" name="txt139"/>
          <p:cNvSpPr txBox="1"/>
          <p:nvPr/>
        </p:nvSpPr>
        <p:spPr>
          <a:xfrm>
            <a:off x="1051560" y="226771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Unitarias, integración, sistema, aceptación, usabilidad y conformidad</a:t>
            </a:r>
            <a:endParaRPr lang="en-US" sz="1300" dirty="0"/>
          </a:p>
        </p:txBody>
      </p:sp>
      <p:sp>
        <p:nvSpPr>
          <p:cNvPr id="12" name="circ140"/>
          <p:cNvSpPr/>
          <p:nvPr/>
        </p:nvSpPr>
        <p:spPr>
          <a:xfrm>
            <a:off x="457200" y="2834640"/>
            <a:ext cx="457200" cy="45720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xt141"/>
          <p:cNvSpPr txBox="1"/>
          <p:nvPr/>
        </p:nvSpPr>
        <p:spPr>
          <a:xfrm>
            <a:off x="45720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xt142"/>
          <p:cNvSpPr txBox="1"/>
          <p:nvPr/>
        </p:nvSpPr>
        <p:spPr>
          <a:xfrm>
            <a:off x="1051560" y="278892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 cambios</a:t>
            </a:r>
            <a:endParaRPr lang="en-US" sz="1500" dirty="0"/>
          </a:p>
        </p:txBody>
      </p:sp>
      <p:sp>
        <p:nvSpPr>
          <p:cNvPr id="15" name="txt143"/>
          <p:cNvSpPr txBox="1"/>
          <p:nvPr/>
        </p:nvSpPr>
        <p:spPr>
          <a:xfrm>
            <a:off x="1051560" y="309067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Git/GitHub; cada cambio en js/ con sus pruebas</a:t>
            </a:r>
            <a:endParaRPr lang="en-US" sz="1300" dirty="0"/>
          </a:p>
        </p:txBody>
      </p:sp>
      <p:sp>
        <p:nvSpPr>
          <p:cNvPr id="16" name="circ144"/>
          <p:cNvSpPr/>
          <p:nvPr/>
        </p:nvSpPr>
        <p:spPr>
          <a:xfrm>
            <a:off x="457200" y="3657600"/>
            <a:ext cx="457200" cy="45720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xt145"/>
          <p:cNvSpPr txBox="1"/>
          <p:nvPr/>
        </p:nvSpPr>
        <p:spPr>
          <a:xfrm>
            <a:off x="45720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xt146"/>
          <p:cNvSpPr txBox="1"/>
          <p:nvPr/>
        </p:nvSpPr>
        <p:spPr>
          <a:xfrm>
            <a:off x="1051560" y="36118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y auditoría</a:t>
            </a:r>
            <a:endParaRPr lang="en-US" sz="1500" dirty="0"/>
          </a:p>
        </p:txBody>
      </p:sp>
      <p:sp>
        <p:nvSpPr>
          <p:cNvPr id="19" name="txt147"/>
          <p:cNvSpPr txBox="1"/>
          <p:nvPr/>
        </p:nvSpPr>
        <p:spPr>
          <a:xfrm>
            <a:off x="1051560" y="391363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por entrega semanal, auditoría por fase, informe final</a:t>
            </a:r>
            <a:endParaRPr lang="en-US" sz="1300" dirty="0"/>
          </a:p>
        </p:txBody>
      </p:sp>
      <p:sp>
        <p:nvSpPr>
          <p:cNvPr id="20" name="box148"/>
          <p:cNvSpPr/>
          <p:nvPr/>
        </p:nvSpPr>
        <p:spPr>
          <a:xfrm>
            <a:off x="5394960" y="1143000"/>
            <a:ext cx="3291840" cy="3291840"/>
          </a:xfrm>
          <a:prstGeom prst="roundRect">
            <a:avLst>
              <a:gd name="adj" fmla="val 222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xt149"/>
          <p:cNvSpPr txBox="1"/>
          <p:nvPr/>
        </p:nvSpPr>
        <p:spPr>
          <a:xfrm>
            <a:off x="5623560" y="12801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</a:t>
            </a:r>
            <a:endParaRPr lang="en-US" sz="1800" dirty="0"/>
          </a:p>
        </p:txBody>
      </p:sp>
      <p:sp>
        <p:nvSpPr>
          <p:cNvPr id="22" name="txt150"/>
          <p:cNvSpPr txBox="1"/>
          <p:nvPr/>
        </p:nvSpPr>
        <p:spPr>
          <a:xfrm>
            <a:off x="5623560" y="1737360"/>
            <a:ext cx="28346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unitarias: </a:t>
            </a: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tests.html</a:t>
            </a:r>
            <a:endParaRPr lang="en-US" sz="13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y accesibilidad: </a:t>
            </a: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DevTools + Lighthouse</a:t>
            </a:r>
            <a:endParaRPr lang="en-US" sz="13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Usabilidad: </a:t>
            </a: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Maze</a:t>
            </a:r>
            <a:endParaRPr lang="en-US" sz="13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Versiones y despliegue: </a:t>
            </a: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Git, GitHub Pages</a:t>
            </a:r>
            <a:endParaRPr lang="en-US" sz="13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Defectos: </a:t>
            </a: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Issues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de aceptación del producto</a:t>
            </a:r>
            <a:endParaRPr lang="en-US" sz="2800" dirty="0"/>
          </a:p>
        </p:txBody>
      </p:sp>
      <p:sp>
        <p:nvSpPr>
          <p:cNvPr id="4" name="box151"/>
          <p:cNvSpPr/>
          <p:nvPr/>
        </p:nvSpPr>
        <p:spPr>
          <a:xfrm>
            <a:off x="457200" y="1463040"/>
            <a:ext cx="1524000" cy="2377440"/>
          </a:xfrm>
          <a:prstGeom prst="roundRect">
            <a:avLst>
              <a:gd name="adj" fmla="val 3810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xt152"/>
          <p:cNvSpPr txBox="1"/>
          <p:nvPr/>
        </p:nvSpPr>
        <p:spPr>
          <a:xfrm>
            <a:off x="533400" y="17373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95 %</a:t>
            </a:r>
            <a:endParaRPr lang="en-US" sz="3600" dirty="0"/>
          </a:p>
        </p:txBody>
      </p:sp>
      <p:sp>
        <p:nvSpPr>
          <p:cNvPr id="6" name="txt153"/>
          <p:cNvSpPr txBox="1"/>
          <p:nvPr/>
        </p:nvSpPr>
        <p:spPr>
          <a:xfrm>
            <a:off x="533400" y="269748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requisitos funcionales validados</a:t>
            </a:r>
            <a:endParaRPr lang="en-US" sz="1400" dirty="0"/>
          </a:p>
        </p:txBody>
      </p:sp>
      <p:sp>
        <p:nvSpPr>
          <p:cNvPr id="7" name="box154"/>
          <p:cNvSpPr/>
          <p:nvPr/>
        </p:nvSpPr>
        <p:spPr>
          <a:xfrm>
            <a:off x="2133600" y="1463040"/>
            <a:ext cx="1524000" cy="237744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xt155"/>
          <p:cNvSpPr txBox="1"/>
          <p:nvPr/>
        </p:nvSpPr>
        <p:spPr>
          <a:xfrm>
            <a:off x="2209800" y="17373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14</a:t>
            </a:r>
            <a:endParaRPr lang="en-US" sz="3600" dirty="0"/>
          </a:p>
        </p:txBody>
      </p:sp>
      <p:sp>
        <p:nvSpPr>
          <p:cNvPr id="9" name="txt156"/>
          <p:cNvSpPr txBox="1"/>
          <p:nvPr/>
        </p:nvSpPr>
        <p:spPr>
          <a:xfrm>
            <a:off x="2209800" y="269748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dentro de su meta</a:t>
            </a:r>
            <a:endParaRPr lang="en-US" sz="1400" dirty="0"/>
          </a:p>
        </p:txBody>
      </p:sp>
      <p:sp>
        <p:nvSpPr>
          <p:cNvPr id="10" name="box157"/>
          <p:cNvSpPr/>
          <p:nvPr/>
        </p:nvSpPr>
        <p:spPr>
          <a:xfrm>
            <a:off x="3810000" y="1463040"/>
            <a:ext cx="1524000" cy="237744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xt158"/>
          <p:cNvSpPr txBox="1"/>
          <p:nvPr/>
        </p:nvSpPr>
        <p:spPr>
          <a:xfrm>
            <a:off x="3886200" y="17373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600" dirty="0"/>
          </a:p>
        </p:txBody>
      </p:sp>
      <p:sp>
        <p:nvSpPr>
          <p:cNvPr id="12" name="txt159"/>
          <p:cNvSpPr txBox="1"/>
          <p:nvPr/>
        </p:nvSpPr>
        <p:spPr>
          <a:xfrm>
            <a:off x="3886200" y="269748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defectos críticos abiertos</a:t>
            </a:r>
            <a:endParaRPr lang="en-US" sz="1400" dirty="0"/>
          </a:p>
        </p:txBody>
      </p:sp>
      <p:sp>
        <p:nvSpPr>
          <p:cNvPr id="13" name="box160"/>
          <p:cNvSpPr/>
          <p:nvPr/>
        </p:nvSpPr>
        <p:spPr>
          <a:xfrm>
            <a:off x="5486400" y="1463040"/>
            <a:ext cx="1524000" cy="237744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xt161"/>
          <p:cNvSpPr txBox="1"/>
          <p:nvPr/>
        </p:nvSpPr>
        <p:spPr>
          <a:xfrm>
            <a:off x="5562600" y="17373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7</a:t>
            </a:r>
            <a:endParaRPr lang="en-US" sz="3600" dirty="0"/>
          </a:p>
        </p:txBody>
      </p:sp>
      <p:sp>
        <p:nvSpPr>
          <p:cNvPr id="15" name="txt162"/>
          <p:cNvSpPr txBox="1"/>
          <p:nvPr/>
        </p:nvSpPr>
        <p:spPr>
          <a:xfrm>
            <a:off x="5562600" y="269748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conformidad aprobados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  <p:sp>
        <p:nvSpPr>
          <p:cNvPr id="3" name="box163">
            <a:extLst>
              <a:ext uri="{FF2B5EF4-FFF2-40B4-BE49-F238E27FC236}">
                <a16:creationId xmlns:a16="http://schemas.microsoft.com/office/drawing/2014/main" id="{FED9637A-F005-8524-06F5-751794117F49}"/>
              </a:ext>
            </a:extLst>
          </p:cNvPr>
          <p:cNvSpPr/>
          <p:nvPr/>
        </p:nvSpPr>
        <p:spPr>
          <a:xfrm>
            <a:off x="7162800" y="1463040"/>
            <a:ext cx="1524000" cy="237744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txt164">
            <a:extLst>
              <a:ext uri="{FF2B5EF4-FFF2-40B4-BE49-F238E27FC236}">
                <a16:creationId xmlns:a16="http://schemas.microsoft.com/office/drawing/2014/main" id="{7A6A2A6E-B580-A351-FB74-DC2DC722390A}"/>
              </a:ext>
            </a:extLst>
          </p:cNvPr>
          <p:cNvSpPr txBox="1"/>
          <p:nvPr/>
        </p:nvSpPr>
        <p:spPr>
          <a:xfrm>
            <a:off x="7239000" y="17373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80 %</a:t>
            </a:r>
            <a:endParaRPr lang="en-US" sz="3600" dirty="0"/>
          </a:p>
        </p:txBody>
      </p:sp>
      <p:sp>
        <p:nvSpPr>
          <p:cNvPr id="17" name="txt165">
            <a:extLst>
              <a:ext uri="{FF2B5EF4-FFF2-40B4-BE49-F238E27FC236}">
                <a16:creationId xmlns:a16="http://schemas.microsoft.com/office/drawing/2014/main" id="{A18EED25-9394-B154-14B7-F6E8537B8BAD}"/>
              </a:ext>
            </a:extLst>
          </p:cNvPr>
          <p:cNvSpPr txBox="1"/>
          <p:nvPr/>
        </p:nvSpPr>
        <p:spPr>
          <a:xfrm>
            <a:off x="7239000" y="269748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MX" sz="14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éxito en UAT (Maze) y SUS ≥ 68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rc163"/>
          <p:cNvSpPr/>
          <p:nvPr/>
        </p:nvSpPr>
        <p:spPr>
          <a:xfrm>
            <a:off x="731520" y="960120"/>
            <a:ext cx="640080" cy="64008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txt164"/>
          <p:cNvSpPr txBox="1"/>
          <p:nvPr/>
        </p:nvSpPr>
        <p:spPr>
          <a:xfrm>
            <a:off x="731520" y="960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</a:t>
            </a:r>
            <a:endParaRPr lang="en-US" sz="20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73736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Pruebas</a:t>
            </a:r>
            <a:endParaRPr lang="en-US" sz="4000" dirty="0"/>
          </a:p>
        </p:txBody>
      </p:sp>
      <p:sp>
        <p:nvSpPr>
          <p:cNvPr id="5" name="txt165"/>
          <p:cNvSpPr txBox="1"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pruebas y criterios de aceptación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y estrategia por niveles</a:t>
            </a:r>
            <a:endParaRPr lang="en-US" sz="2800" dirty="0"/>
          </a:p>
        </p:txBody>
      </p:sp>
      <p:sp>
        <p:nvSpPr>
          <p:cNvPr id="4" name="box166"/>
          <p:cNvSpPr/>
          <p:nvPr/>
        </p:nvSpPr>
        <p:spPr>
          <a:xfrm>
            <a:off x="457200" y="109728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circ167"/>
          <p:cNvSpPr/>
          <p:nvPr/>
        </p:nvSpPr>
        <p:spPr>
          <a:xfrm>
            <a:off x="594360" y="1234440"/>
            <a:ext cx="457200" cy="4572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xt168"/>
          <p:cNvSpPr txBox="1"/>
          <p:nvPr/>
        </p:nvSpPr>
        <p:spPr>
          <a:xfrm>
            <a:off x="59436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xt169"/>
          <p:cNvSpPr txBox="1"/>
          <p:nvPr/>
        </p:nvSpPr>
        <p:spPr>
          <a:xfrm>
            <a:off x="594360" y="1783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Unitarias</a:t>
            </a:r>
            <a:endParaRPr lang="en-US" sz="1500" dirty="0"/>
          </a:p>
        </p:txBody>
      </p:sp>
      <p:sp>
        <p:nvSpPr>
          <p:cNvPr id="8" name="txt170"/>
          <p:cNvSpPr txBox="1"/>
          <p:nvPr/>
        </p:nvSpPr>
        <p:spPr>
          <a:xfrm>
            <a:off x="594360" y="212140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Funciones de auth, cart, catalog, checkout</a:t>
            </a:r>
            <a:endParaRPr lang="en-US" sz="1200" dirty="0"/>
          </a:p>
        </p:txBody>
      </p:sp>
      <p:sp>
        <p:nvSpPr>
          <p:cNvPr id="9" name="txt171"/>
          <p:cNvSpPr txBox="1"/>
          <p:nvPr/>
        </p:nvSpPr>
        <p:spPr>
          <a:xfrm>
            <a:off x="594360" y="26974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tests.html · Desarrollador</a:t>
            </a:r>
            <a:endParaRPr lang="en-US" sz="1000" dirty="0"/>
          </a:p>
        </p:txBody>
      </p:sp>
      <p:sp>
        <p:nvSpPr>
          <p:cNvPr id="10" name="flecha172"/>
          <p:cNvSpPr/>
          <p:nvPr/>
        </p:nvSpPr>
        <p:spPr>
          <a:xfrm rot="5400000">
            <a:off x="2377440" y="2029968"/>
            <a:ext cx="182880" cy="146304"/>
          </a:xfrm>
          <a:prstGeom prst="triangl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box173"/>
          <p:cNvSpPr/>
          <p:nvPr/>
        </p:nvSpPr>
        <p:spPr>
          <a:xfrm>
            <a:off x="2560320" y="109728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circ174"/>
          <p:cNvSpPr/>
          <p:nvPr/>
        </p:nvSpPr>
        <p:spPr>
          <a:xfrm>
            <a:off x="2697480" y="1234440"/>
            <a:ext cx="457200" cy="4572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xt175"/>
          <p:cNvSpPr txBox="1"/>
          <p:nvPr/>
        </p:nvSpPr>
        <p:spPr>
          <a:xfrm>
            <a:off x="269748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xt176"/>
          <p:cNvSpPr txBox="1"/>
          <p:nvPr/>
        </p:nvSpPr>
        <p:spPr>
          <a:xfrm>
            <a:off x="2697480" y="1783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</a:t>
            </a:r>
            <a:endParaRPr lang="en-US" sz="1500" dirty="0"/>
          </a:p>
        </p:txBody>
      </p:sp>
      <p:sp>
        <p:nvSpPr>
          <p:cNvPr id="15" name="txt177"/>
          <p:cNvSpPr txBox="1"/>
          <p:nvPr/>
        </p:nvSpPr>
        <p:spPr>
          <a:xfrm>
            <a:off x="2697480" y="212140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Carrito + cupones + envío + checkout + Store</a:t>
            </a:r>
            <a:endParaRPr lang="en-US" sz="1200" dirty="0"/>
          </a:p>
        </p:txBody>
      </p:sp>
      <p:sp>
        <p:nvSpPr>
          <p:cNvPr id="16" name="txt178"/>
          <p:cNvSpPr txBox="1"/>
          <p:nvPr/>
        </p:nvSpPr>
        <p:spPr>
          <a:xfrm>
            <a:off x="2697480" y="26974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tests.html y manual · Dev + QA</a:t>
            </a:r>
            <a:endParaRPr lang="en-US" sz="1000" dirty="0"/>
          </a:p>
        </p:txBody>
      </p:sp>
      <p:sp>
        <p:nvSpPr>
          <p:cNvPr id="17" name="flecha179"/>
          <p:cNvSpPr/>
          <p:nvPr/>
        </p:nvSpPr>
        <p:spPr>
          <a:xfrm rot="5400000">
            <a:off x="4480560" y="2029968"/>
            <a:ext cx="182880" cy="146304"/>
          </a:xfrm>
          <a:prstGeom prst="triangl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8" name="box180"/>
          <p:cNvSpPr/>
          <p:nvPr/>
        </p:nvSpPr>
        <p:spPr>
          <a:xfrm>
            <a:off x="4663440" y="109728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9" name="circ181"/>
          <p:cNvSpPr/>
          <p:nvPr/>
        </p:nvSpPr>
        <p:spPr>
          <a:xfrm>
            <a:off x="4800600" y="1234440"/>
            <a:ext cx="457200" cy="4572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xt182"/>
          <p:cNvSpPr txBox="1"/>
          <p:nvPr/>
        </p:nvSpPr>
        <p:spPr>
          <a:xfrm>
            <a:off x="480060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xt183"/>
          <p:cNvSpPr txBox="1"/>
          <p:nvPr/>
        </p:nvSpPr>
        <p:spPr>
          <a:xfrm>
            <a:off x="4800600" y="1783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</a:t>
            </a:r>
            <a:endParaRPr lang="en-US" sz="1500" dirty="0"/>
          </a:p>
        </p:txBody>
      </p:sp>
      <p:sp>
        <p:nvSpPr>
          <p:cNvPr id="22" name="txt184"/>
          <p:cNvSpPr txBox="1"/>
          <p:nvPr/>
        </p:nvSpPr>
        <p:spPr>
          <a:xfrm>
            <a:off x="4800600" y="212140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completo: buscar → agregar → pagar → pedido</a:t>
            </a:r>
            <a:endParaRPr lang="en-US" sz="1200" dirty="0"/>
          </a:p>
        </p:txBody>
      </p:sp>
      <p:sp>
        <p:nvSpPr>
          <p:cNvPr id="23" name="txt185"/>
          <p:cNvSpPr txBox="1"/>
          <p:nvPr/>
        </p:nvSpPr>
        <p:spPr>
          <a:xfrm>
            <a:off x="4800600" y="26974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Navegador · QA</a:t>
            </a:r>
            <a:endParaRPr lang="en-US" sz="1000" dirty="0"/>
          </a:p>
        </p:txBody>
      </p:sp>
      <p:sp>
        <p:nvSpPr>
          <p:cNvPr id="24" name="flecha186"/>
          <p:cNvSpPr/>
          <p:nvPr/>
        </p:nvSpPr>
        <p:spPr>
          <a:xfrm rot="5400000">
            <a:off x="6583680" y="2029968"/>
            <a:ext cx="182880" cy="146304"/>
          </a:xfrm>
          <a:prstGeom prst="triangl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box187"/>
          <p:cNvSpPr/>
          <p:nvPr/>
        </p:nvSpPr>
        <p:spPr>
          <a:xfrm>
            <a:off x="6766560" y="109728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circ188"/>
          <p:cNvSpPr/>
          <p:nvPr/>
        </p:nvSpPr>
        <p:spPr>
          <a:xfrm>
            <a:off x="6903720" y="1234440"/>
            <a:ext cx="457200" cy="4572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txt189"/>
          <p:cNvSpPr txBox="1"/>
          <p:nvPr/>
        </p:nvSpPr>
        <p:spPr>
          <a:xfrm>
            <a:off x="69037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xt190"/>
          <p:cNvSpPr txBox="1"/>
          <p:nvPr/>
        </p:nvSpPr>
        <p:spPr>
          <a:xfrm>
            <a:off x="6903720" y="1783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Aceptación (UAT)</a:t>
            </a:r>
            <a:endParaRPr lang="en-US" sz="1500" dirty="0"/>
          </a:p>
        </p:txBody>
      </p:sp>
      <p:sp>
        <p:nvSpPr>
          <p:cNvPr id="29" name="txt191"/>
          <p:cNvSpPr txBox="1"/>
          <p:nvPr/>
        </p:nvSpPr>
        <p:spPr>
          <a:xfrm>
            <a:off x="6903720" y="212140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de las HU con usuarios reales</a:t>
            </a:r>
            <a:endParaRPr lang="en-US" sz="1200" dirty="0"/>
          </a:p>
        </p:txBody>
      </p:sp>
      <p:sp>
        <p:nvSpPr>
          <p:cNvPr id="30" name="txt192"/>
          <p:cNvSpPr txBox="1"/>
          <p:nvPr/>
        </p:nvSpPr>
        <p:spPr>
          <a:xfrm>
            <a:off x="6903720" y="26974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Maze + checklist · Usuarios clave</a:t>
            </a:r>
            <a:endParaRPr lang="en-US" sz="1000" dirty="0"/>
          </a:p>
        </p:txBody>
      </p:sp>
      <p:sp>
        <p:nvSpPr>
          <p:cNvPr id="31" name="box193"/>
          <p:cNvSpPr/>
          <p:nvPr/>
        </p:nvSpPr>
        <p:spPr>
          <a:xfrm>
            <a:off x="457200" y="333756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xt194"/>
          <p:cNvSpPr txBox="1"/>
          <p:nvPr/>
        </p:nvSpPr>
        <p:spPr>
          <a:xfrm>
            <a:off x="640080" y="342900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30 RF (catálogo, carrito, cupones, cuenta, checkout, pedidos, favoritos) y RNF01–RNF09</a:t>
            </a:r>
            <a:endParaRPr lang="en-US" sz="1300" dirty="0"/>
          </a:p>
        </p:txBody>
      </p:sp>
      <p:sp>
        <p:nvSpPr>
          <p:cNvPr id="33" name="box195"/>
          <p:cNvSpPr/>
          <p:nvPr/>
        </p:nvSpPr>
        <p:spPr>
          <a:xfrm>
            <a:off x="4663440" y="333756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xt196"/>
          <p:cNvSpPr txBox="1"/>
          <p:nvPr/>
        </p:nvSpPr>
        <p:spPr>
          <a:xfrm>
            <a:off x="4846320" y="342900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incluye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Pasarela de pago real, servidor/base de datos, carga con muchos usuarios simultáneos</a:t>
            </a:r>
            <a:endParaRPr lang="en-US" sz="13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pruebas a aplicar</a:t>
            </a:r>
            <a:endParaRPr lang="en-US" sz="2800" dirty="0"/>
          </a:p>
        </p:txBody>
      </p:sp>
      <p:graphicFrame>
        <p:nvGraphicFramePr>
          <p:cNvPr id="13" name="tabla19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Objetivo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Técnica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Trazabilidad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 función hace lo especificado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Partición de equivalencia y valores límite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HU01–HU30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Unitaria automatizada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Reglas de negocio aisladas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 blanca · 53 pruebas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cambio no rompe lo existente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Re-ejecutar tests.html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Usabilidad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Facilidad de uso y satisfacción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Maze: tareas + SUS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Accesibilidad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Etiquetas, foco, contraste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Lighthouse + teclado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Responsive / compatibilidad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375–1920 px y 3 navegadores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DevTools modo dispositivo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RNF02, RNF07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Contraseñas, bloqueo, sesión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Casos negativos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RNF04, HU18–HU22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Rendimiento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Carga y respuesta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Lighthouse / Network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Exploratoria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Fallos no previstos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Sesiones de 30 min por épica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EP01–EP05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de entrada, salida y suspensión</a:t>
            </a:r>
            <a:endParaRPr lang="en-US" sz="2800" dirty="0"/>
          </a:p>
        </p:txBody>
      </p:sp>
      <p:sp>
        <p:nvSpPr>
          <p:cNvPr id="4" name="box198"/>
          <p:cNvSpPr/>
          <p:nvPr/>
        </p:nvSpPr>
        <p:spPr>
          <a:xfrm>
            <a:off x="457200" y="1143000"/>
            <a:ext cx="2606040" cy="333756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circ199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xt200"/>
          <p:cNvSpPr txBox="1"/>
          <p:nvPr/>
        </p:nvSpPr>
        <p:spPr>
          <a:xfrm>
            <a:off x="68580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7" name="txt201"/>
          <p:cNvSpPr txBox="1"/>
          <p:nvPr/>
        </p:nvSpPr>
        <p:spPr>
          <a:xfrm>
            <a:off x="1325880" y="1371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</a:t>
            </a:r>
            <a:endParaRPr lang="en-US" sz="2000" dirty="0"/>
          </a:p>
        </p:txBody>
      </p:sp>
      <p:sp>
        <p:nvSpPr>
          <p:cNvPr id="8" name="txt202"/>
          <p:cNvSpPr txBox="1"/>
          <p:nvPr/>
        </p:nvSpPr>
        <p:spPr>
          <a:xfrm>
            <a:off x="685800" y="2057400"/>
            <a:ext cx="2194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 con criterios aprobados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prueba diseñados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publicada en GitHub Pages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 demo restablecidos</a:t>
            </a:r>
            <a:endParaRPr lang="en-US" sz="1400" dirty="0"/>
          </a:p>
        </p:txBody>
      </p:sp>
      <p:sp>
        <p:nvSpPr>
          <p:cNvPr id="9" name="box203"/>
          <p:cNvSpPr/>
          <p:nvPr/>
        </p:nvSpPr>
        <p:spPr>
          <a:xfrm>
            <a:off x="3246120" y="1143000"/>
            <a:ext cx="2606040" cy="333756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circ204"/>
          <p:cNvSpPr/>
          <p:nvPr/>
        </p:nvSpPr>
        <p:spPr>
          <a:xfrm>
            <a:off x="3474720" y="1325880"/>
            <a:ext cx="502920" cy="5029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xt205"/>
          <p:cNvSpPr txBox="1"/>
          <p:nvPr/>
        </p:nvSpPr>
        <p:spPr>
          <a:xfrm>
            <a:off x="347472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xt206"/>
          <p:cNvSpPr txBox="1"/>
          <p:nvPr/>
        </p:nvSpPr>
        <p:spPr>
          <a:xfrm>
            <a:off x="4114800" y="1371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</a:t>
            </a:r>
            <a:endParaRPr lang="en-US" sz="2000" dirty="0"/>
          </a:p>
        </p:txBody>
      </p:sp>
      <p:sp>
        <p:nvSpPr>
          <p:cNvPr id="13" name="txt207"/>
          <p:cNvSpPr txBox="1"/>
          <p:nvPr/>
        </p:nvSpPr>
        <p:spPr>
          <a:xfrm>
            <a:off x="3474720" y="2057400"/>
            <a:ext cx="2194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95 % de casos ejecutados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 de pruebas unitarias aprobadas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defectos críticos y altos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pruebas revisado</a:t>
            </a:r>
            <a:endParaRPr lang="en-US" sz="1400" dirty="0"/>
          </a:p>
        </p:txBody>
      </p:sp>
      <p:sp>
        <p:nvSpPr>
          <p:cNvPr id="14" name="box208"/>
          <p:cNvSpPr/>
          <p:nvPr/>
        </p:nvSpPr>
        <p:spPr>
          <a:xfrm>
            <a:off x="6035040" y="1143000"/>
            <a:ext cx="2606040" cy="3337560"/>
          </a:xfrm>
          <a:prstGeom prst="roundRect">
            <a:avLst>
              <a:gd name="adj" fmla="val 2807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circ209"/>
          <p:cNvSpPr/>
          <p:nvPr/>
        </p:nvSpPr>
        <p:spPr>
          <a:xfrm>
            <a:off x="6263640" y="1325880"/>
            <a:ext cx="502920" cy="5029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txt210"/>
          <p:cNvSpPr txBox="1"/>
          <p:nvPr/>
        </p:nvSpPr>
        <p:spPr>
          <a:xfrm>
            <a:off x="626364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❚❚</a:t>
            </a:r>
            <a:endParaRPr lang="en-US" sz="1400" dirty="0"/>
          </a:p>
        </p:txBody>
      </p:sp>
      <p:sp>
        <p:nvSpPr>
          <p:cNvPr id="17" name="txt211"/>
          <p:cNvSpPr txBox="1"/>
          <p:nvPr/>
        </p:nvSpPr>
        <p:spPr>
          <a:xfrm>
            <a:off x="6903720" y="1371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Suspensión</a:t>
            </a:r>
            <a:endParaRPr lang="en-US" sz="2000" dirty="0"/>
          </a:p>
        </p:txBody>
      </p:sp>
      <p:sp>
        <p:nvSpPr>
          <p:cNvPr id="18" name="txt212"/>
          <p:cNvSpPr txBox="1"/>
          <p:nvPr/>
        </p:nvSpPr>
        <p:spPr>
          <a:xfrm>
            <a:off x="6263640" y="2057400"/>
            <a:ext cx="2194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Defecto bloqueante en el flujo de compra o en el login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reanuda al corregirlo y pasar la regresión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CP01–CP06: catálogo y carrito</a:t>
            </a:r>
            <a:endParaRPr lang="en-US" sz="2800" dirty="0"/>
          </a:p>
        </p:txBody>
      </p:sp>
      <p:graphicFrame>
        <p:nvGraphicFramePr>
          <p:cNvPr id="15" name="tabla2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Escenario / entrada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 esperado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Buscar un término sin coincidencias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«sin resultados»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Agregar 11 unidades de un producto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«Solo puedes llevar hasta 10 unidad(es)…»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Cantidad 0 en el carrito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«La cantidad mínima es 1…»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Carrito con total S/ 1 180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IGV = S/ 180,00 (total − total/1,18)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TECH50 con subtotal &lt; S/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«El cupón TECH50 requiere una compra mínima de S/ 500.00.»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CP06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Envío estándar con compra ≥ S/ 300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Envío gratis; si es menor, S/ 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xt214"/>
          <p:cNvSpPr txBox="1"/>
          <p:nvPr/>
        </p:nvSpPr>
        <p:spPr>
          <a:xfrm>
            <a:off x="457200" y="44348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 prueba: demo@techstore.pe / Demo@1234 · tarjeta 4111 1111 1111 1111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CP07–CP12: cuenta, checkout y postventa</a:t>
            </a:r>
            <a:endParaRPr lang="en-US" sz="2800" dirty="0"/>
          </a:p>
        </p:txBody>
      </p:sp>
      <p:graphicFrame>
        <p:nvGraphicFramePr>
          <p:cNvPr id="16" name="tabla2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Escenario / entrada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 esperado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CP07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Contraseña «Abcd1234»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«Debe incluir al menos un carácter especial…»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CP08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 sin consentimiento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«Debes aceptar la Política de Privacidad…»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intentos de login fallidos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«Has superado 5 intentos. Cuenta bloqueada por 5 minutos.»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Tarjeta 4111 1111 1111 1112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«Número de tarjeta inválido.» (Luhn)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Compra válida con tarjeta de prueba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Número de pedido, stock baja, carrito vacío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HU29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 historial tras comprar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Pedido «Confirmado», solo los del usuario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xt216"/>
          <p:cNvSpPr txBox="1"/>
          <p:nvPr/>
        </p:nvSpPr>
        <p:spPr>
          <a:xfrm>
            <a:off x="457200" y="44348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 prueba: demo@techstore.pe / Demo@1234 · tarjeta 4111 1111 1111 1111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y responsabilidades</a:t>
            </a:r>
            <a:endParaRPr lang="en-US" sz="2800" dirty="0"/>
          </a:p>
        </p:txBody>
      </p:sp>
      <p:sp>
        <p:nvSpPr>
          <p:cNvPr id="4" name="box198"/>
          <p:cNvSpPr/>
          <p:nvPr/>
        </p:nvSpPr>
        <p:spPr>
          <a:xfrm>
            <a:off x="457200" y="1143000"/>
            <a:ext cx="2606040" cy="333756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circ199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xt200"/>
          <p:cNvSpPr txBox="1"/>
          <p:nvPr/>
        </p:nvSpPr>
        <p:spPr>
          <a:xfrm>
            <a:off x="68580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xt201"/>
          <p:cNvSpPr txBox="1"/>
          <p:nvPr/>
        </p:nvSpPr>
        <p:spPr>
          <a:xfrm>
            <a:off x="1325880" y="1371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</a:t>
            </a:r>
            <a:endParaRPr lang="en-US" sz="2000" dirty="0"/>
          </a:p>
        </p:txBody>
      </p:sp>
      <p:sp>
        <p:nvSpPr>
          <p:cNvPr id="8" name="txt202"/>
          <p:cNvSpPr txBox="1"/>
          <p:nvPr/>
        </p:nvSpPr>
        <p:spPr>
          <a:xfrm>
            <a:off x="685800" y="2057400"/>
            <a:ext cx="2194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s-MX" sz="14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Líder de QA: coordina y aprueba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s-MX" sz="14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Desarrollador: unitarias y correcciones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s-MX" sz="14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Analista de QA: diseña y ejecuta casos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s-MX" sz="14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clave: UAT en Maze</a:t>
            </a:r>
            <a:endParaRPr lang="en-US" sz="1400" dirty="0"/>
          </a:p>
        </p:txBody>
      </p:sp>
      <p:sp>
        <p:nvSpPr>
          <p:cNvPr id="9" name="box203"/>
          <p:cNvSpPr/>
          <p:nvPr/>
        </p:nvSpPr>
        <p:spPr>
          <a:xfrm>
            <a:off x="3246120" y="1143000"/>
            <a:ext cx="2606040" cy="333756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circ204"/>
          <p:cNvSpPr/>
          <p:nvPr/>
        </p:nvSpPr>
        <p:spPr>
          <a:xfrm>
            <a:off x="3474720" y="1325880"/>
            <a:ext cx="502920" cy="5029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xt205"/>
          <p:cNvSpPr txBox="1"/>
          <p:nvPr/>
        </p:nvSpPr>
        <p:spPr>
          <a:xfrm>
            <a:off x="347472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400" dirty="0"/>
          </a:p>
        </p:txBody>
      </p:sp>
      <p:sp>
        <p:nvSpPr>
          <p:cNvPr id="12" name="txt206"/>
          <p:cNvSpPr txBox="1"/>
          <p:nvPr/>
        </p:nvSpPr>
        <p:spPr>
          <a:xfrm>
            <a:off x="4114800" y="1371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Entorno</a:t>
            </a:r>
            <a:endParaRPr lang="en-US" sz="2000" dirty="0"/>
          </a:p>
        </p:txBody>
      </p:sp>
      <p:sp>
        <p:nvSpPr>
          <p:cNvPr id="13" name="txt207"/>
          <p:cNvSpPr txBox="1"/>
          <p:nvPr/>
        </p:nvSpPr>
        <p:spPr>
          <a:xfrm>
            <a:off x="3474720" y="2057400"/>
            <a:ext cx="2194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Pages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Chrome, Edge y Firefox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móvil de 375 px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tests.html, DevTools, Lighthouse, Maze, GitHub Issues</a:t>
            </a:r>
            <a:endParaRPr lang="en-US" sz="1400" dirty="0"/>
          </a:p>
        </p:txBody>
      </p:sp>
      <p:sp>
        <p:nvSpPr>
          <p:cNvPr id="14" name="box208"/>
          <p:cNvSpPr/>
          <p:nvPr/>
        </p:nvSpPr>
        <p:spPr>
          <a:xfrm>
            <a:off x="6035040" y="1143000"/>
            <a:ext cx="2606040" cy="333756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circ209"/>
          <p:cNvSpPr/>
          <p:nvPr/>
        </p:nvSpPr>
        <p:spPr>
          <a:xfrm>
            <a:off x="6263640" y="1325880"/>
            <a:ext cx="502920" cy="5029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txt210"/>
          <p:cNvSpPr txBox="1"/>
          <p:nvPr/>
        </p:nvSpPr>
        <p:spPr>
          <a:xfrm>
            <a:off x="626364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1400" dirty="0"/>
          </a:p>
        </p:txBody>
      </p:sp>
      <p:sp>
        <p:nvSpPr>
          <p:cNvPr id="17" name="txt211"/>
          <p:cNvSpPr txBox="1"/>
          <p:nvPr/>
        </p:nvSpPr>
        <p:spPr>
          <a:xfrm>
            <a:off x="6903720" y="1371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demo</a:t>
            </a:r>
            <a:endParaRPr lang="en-US" sz="2000" dirty="0"/>
          </a:p>
        </p:txBody>
      </p:sp>
      <p:sp>
        <p:nvSpPr>
          <p:cNvPr id="18" name="txt212"/>
          <p:cNvSpPr txBox="1"/>
          <p:nvPr/>
        </p:nvSpPr>
        <p:spPr>
          <a:xfrm>
            <a:off x="6263640" y="2057400"/>
            <a:ext cx="2194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s-MX" sz="14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Usuario: demo@techstore.pe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s-MX" sz="14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Clave: Demo@1234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s-MX" sz="14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Tarjeta:</a:t>
            </a:r>
            <a:br>
              <a:rPr lang="es-MX" sz="14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s-MX" sz="14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4111 1111 1111 1111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s-MX" sz="14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Restablecer datos de demo antes de cada ciclo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4682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Cronograma y métricas de prueba</a:t>
            </a:r>
            <a:endParaRPr lang="en-US" sz="2800" dirty="0"/>
          </a:p>
        </p:txBody>
      </p:sp>
      <p:sp>
        <p:nvSpPr>
          <p:cNvPr id="4" name="linea217"/>
          <p:cNvSpPr/>
          <p:nvPr/>
        </p:nvSpPr>
        <p:spPr>
          <a:xfrm>
            <a:off x="731520" y="1481328"/>
            <a:ext cx="7680960" cy="0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circ218"/>
          <p:cNvSpPr/>
          <p:nvPr/>
        </p:nvSpPr>
        <p:spPr>
          <a:xfrm>
            <a:off x="960120" y="1234440"/>
            <a:ext cx="502920" cy="5029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xt219"/>
          <p:cNvSpPr txBox="1"/>
          <p:nvPr/>
        </p:nvSpPr>
        <p:spPr>
          <a:xfrm>
            <a:off x="960120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300" dirty="0"/>
          </a:p>
        </p:txBody>
      </p:sp>
      <p:sp>
        <p:nvSpPr>
          <p:cNvPr id="7" name="txt220"/>
          <p:cNvSpPr txBox="1"/>
          <p:nvPr/>
        </p:nvSpPr>
        <p:spPr>
          <a:xfrm>
            <a:off x="457200" y="182880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de casos</a:t>
            </a:r>
            <a:endParaRPr lang="en-US" sz="1300" dirty="0"/>
          </a:p>
        </p:txBody>
      </p:sp>
      <p:sp>
        <p:nvSpPr>
          <p:cNvPr id="8" name="txt221"/>
          <p:cNvSpPr txBox="1"/>
          <p:nvPr/>
        </p:nvSpPr>
        <p:spPr>
          <a:xfrm>
            <a:off x="457200" y="23317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</a:t>
            </a:r>
            <a:endParaRPr lang="en-US" sz="1100" dirty="0"/>
          </a:p>
        </p:txBody>
      </p:sp>
      <p:sp>
        <p:nvSpPr>
          <p:cNvPr id="9" name="circ222"/>
          <p:cNvSpPr/>
          <p:nvPr/>
        </p:nvSpPr>
        <p:spPr>
          <a:xfrm>
            <a:off x="2651760" y="1234440"/>
            <a:ext cx="502920" cy="5029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xt223"/>
          <p:cNvSpPr txBox="1"/>
          <p:nvPr/>
        </p:nvSpPr>
        <p:spPr>
          <a:xfrm>
            <a:off x="2651760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300" dirty="0"/>
          </a:p>
        </p:txBody>
      </p:sp>
      <p:sp>
        <p:nvSpPr>
          <p:cNvPr id="11" name="txt224"/>
          <p:cNvSpPr txBox="1"/>
          <p:nvPr/>
        </p:nvSpPr>
        <p:spPr>
          <a:xfrm>
            <a:off x="2148840" y="182880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Unitarias e integración</a:t>
            </a:r>
            <a:endParaRPr lang="en-US" sz="1300" dirty="0"/>
          </a:p>
        </p:txBody>
      </p:sp>
      <p:sp>
        <p:nvSpPr>
          <p:cNvPr id="12" name="txt225"/>
          <p:cNvSpPr txBox="1"/>
          <p:nvPr/>
        </p:nvSpPr>
        <p:spPr>
          <a:xfrm>
            <a:off x="2148840" y="23317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Desarrollador</a:t>
            </a:r>
            <a:endParaRPr lang="en-US" sz="1100" dirty="0"/>
          </a:p>
        </p:txBody>
      </p:sp>
      <p:sp>
        <p:nvSpPr>
          <p:cNvPr id="13" name="circ226"/>
          <p:cNvSpPr/>
          <p:nvPr/>
        </p:nvSpPr>
        <p:spPr>
          <a:xfrm>
            <a:off x="4343400" y="1234440"/>
            <a:ext cx="502920" cy="5029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xt227"/>
          <p:cNvSpPr txBox="1"/>
          <p:nvPr/>
        </p:nvSpPr>
        <p:spPr>
          <a:xfrm>
            <a:off x="4343400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1300" dirty="0"/>
          </a:p>
        </p:txBody>
      </p:sp>
      <p:sp>
        <p:nvSpPr>
          <p:cNvPr id="15" name="txt228"/>
          <p:cNvSpPr txBox="1"/>
          <p:nvPr/>
        </p:nvSpPr>
        <p:spPr>
          <a:xfrm>
            <a:off x="3840480" y="182880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sistema</a:t>
            </a:r>
            <a:endParaRPr lang="en-US" sz="1300" dirty="0"/>
          </a:p>
        </p:txBody>
      </p:sp>
      <p:sp>
        <p:nvSpPr>
          <p:cNvPr id="16" name="txt229"/>
          <p:cNvSpPr txBox="1"/>
          <p:nvPr/>
        </p:nvSpPr>
        <p:spPr>
          <a:xfrm>
            <a:off x="3840480" y="23317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</a:t>
            </a:r>
            <a:endParaRPr lang="en-US" sz="1100" dirty="0"/>
          </a:p>
        </p:txBody>
      </p:sp>
      <p:sp>
        <p:nvSpPr>
          <p:cNvPr id="17" name="circ230"/>
          <p:cNvSpPr/>
          <p:nvPr/>
        </p:nvSpPr>
        <p:spPr>
          <a:xfrm>
            <a:off x="6035040" y="1234440"/>
            <a:ext cx="502920" cy="5029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8" name="txt231"/>
          <p:cNvSpPr txBox="1"/>
          <p:nvPr/>
        </p:nvSpPr>
        <p:spPr>
          <a:xfrm>
            <a:off x="6035040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</a:t>
            </a:r>
            <a:endParaRPr lang="en-US" sz="1300" dirty="0"/>
          </a:p>
        </p:txBody>
      </p:sp>
      <p:sp>
        <p:nvSpPr>
          <p:cNvPr id="19" name="txt232"/>
          <p:cNvSpPr txBox="1"/>
          <p:nvPr/>
        </p:nvSpPr>
        <p:spPr>
          <a:xfrm>
            <a:off x="5532120" y="182880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Usabilidad Maze (UAT)</a:t>
            </a:r>
            <a:endParaRPr lang="en-US" sz="1300" dirty="0"/>
          </a:p>
        </p:txBody>
      </p:sp>
      <p:sp>
        <p:nvSpPr>
          <p:cNvPr id="20" name="txt233"/>
          <p:cNvSpPr txBox="1"/>
          <p:nvPr/>
        </p:nvSpPr>
        <p:spPr>
          <a:xfrm>
            <a:off x="5532120" y="23317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clave</a:t>
            </a:r>
            <a:endParaRPr lang="en-US" sz="1100" dirty="0"/>
          </a:p>
        </p:txBody>
      </p:sp>
      <p:sp>
        <p:nvSpPr>
          <p:cNvPr id="21" name="circ234"/>
          <p:cNvSpPr/>
          <p:nvPr/>
        </p:nvSpPr>
        <p:spPr>
          <a:xfrm>
            <a:off x="7726680" y="1234440"/>
            <a:ext cx="502920" cy="50292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2" name="txt235"/>
          <p:cNvSpPr txBox="1"/>
          <p:nvPr/>
        </p:nvSpPr>
        <p:spPr>
          <a:xfrm>
            <a:off x="7726680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</a:t>
            </a:r>
            <a:endParaRPr lang="en-US" sz="1300" dirty="0"/>
          </a:p>
        </p:txBody>
      </p:sp>
      <p:sp>
        <p:nvSpPr>
          <p:cNvPr id="23" name="txt236"/>
          <p:cNvSpPr txBox="1"/>
          <p:nvPr/>
        </p:nvSpPr>
        <p:spPr>
          <a:xfrm>
            <a:off x="7223760" y="182880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Conformidad e informe</a:t>
            </a:r>
            <a:endParaRPr lang="en-US" sz="1300" dirty="0"/>
          </a:p>
        </p:txBody>
      </p:sp>
      <p:sp>
        <p:nvSpPr>
          <p:cNvPr id="24" name="txt237"/>
          <p:cNvSpPr txBox="1"/>
          <p:nvPr/>
        </p:nvSpPr>
        <p:spPr>
          <a:xfrm>
            <a:off x="7223760" y="23317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</a:t>
            </a:r>
            <a:endParaRPr lang="en-US" sz="1100" dirty="0"/>
          </a:p>
        </p:txBody>
      </p:sp>
      <p:sp>
        <p:nvSpPr>
          <p:cNvPr id="25" name="box238"/>
          <p:cNvSpPr/>
          <p:nvPr/>
        </p:nvSpPr>
        <p:spPr>
          <a:xfrm>
            <a:off x="457200" y="2971800"/>
            <a:ext cx="192024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xt239"/>
          <p:cNvSpPr txBox="1"/>
          <p:nvPr/>
        </p:nvSpPr>
        <p:spPr>
          <a:xfrm>
            <a:off x="594360" y="30632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95 %</a:t>
            </a:r>
            <a:endParaRPr lang="en-US" sz="3000" dirty="0"/>
          </a:p>
        </p:txBody>
      </p:sp>
      <p:sp>
        <p:nvSpPr>
          <p:cNvPr id="27" name="txt240"/>
          <p:cNvSpPr txBox="1"/>
          <p:nvPr/>
        </p:nvSpPr>
        <p:spPr>
          <a:xfrm>
            <a:off x="594360" y="37490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ejecutados ÷ diseñados</a:t>
            </a:r>
            <a:endParaRPr lang="en-US" sz="1200" dirty="0"/>
          </a:p>
        </p:txBody>
      </p:sp>
      <p:sp>
        <p:nvSpPr>
          <p:cNvPr id="28" name="box241"/>
          <p:cNvSpPr/>
          <p:nvPr/>
        </p:nvSpPr>
        <p:spPr>
          <a:xfrm>
            <a:off x="2560320" y="2971800"/>
            <a:ext cx="192024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xt242"/>
          <p:cNvSpPr txBox="1"/>
          <p:nvPr/>
        </p:nvSpPr>
        <p:spPr>
          <a:xfrm>
            <a:off x="2697480" y="30632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90 %</a:t>
            </a:r>
            <a:endParaRPr lang="en-US" sz="3000" dirty="0"/>
          </a:p>
        </p:txBody>
      </p:sp>
      <p:sp>
        <p:nvSpPr>
          <p:cNvPr id="30" name="txt243"/>
          <p:cNvSpPr txBox="1"/>
          <p:nvPr/>
        </p:nvSpPr>
        <p:spPr>
          <a:xfrm>
            <a:off x="2697480" y="37490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aprobados ÷ ejecutados</a:t>
            </a:r>
            <a:endParaRPr lang="en-US" sz="1200" dirty="0"/>
          </a:p>
        </p:txBody>
      </p:sp>
      <p:sp>
        <p:nvSpPr>
          <p:cNvPr id="31" name="box244"/>
          <p:cNvSpPr/>
          <p:nvPr/>
        </p:nvSpPr>
        <p:spPr>
          <a:xfrm>
            <a:off x="4663440" y="2971800"/>
            <a:ext cx="192024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xt245"/>
          <p:cNvSpPr txBox="1"/>
          <p:nvPr/>
        </p:nvSpPr>
        <p:spPr>
          <a:xfrm>
            <a:off x="4800600" y="30632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</a:t>
            </a:r>
            <a:endParaRPr lang="en-US" sz="3000" dirty="0"/>
          </a:p>
        </p:txBody>
      </p:sp>
      <p:sp>
        <p:nvSpPr>
          <p:cNvPr id="33" name="txt246"/>
          <p:cNvSpPr txBox="1"/>
          <p:nvPr/>
        </p:nvSpPr>
        <p:spPr>
          <a:xfrm>
            <a:off x="4800600" y="37490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HU con al menos un caso</a:t>
            </a:r>
            <a:endParaRPr lang="en-US" sz="1200" dirty="0"/>
          </a:p>
        </p:txBody>
      </p:sp>
      <p:sp>
        <p:nvSpPr>
          <p:cNvPr id="34" name="box247"/>
          <p:cNvSpPr/>
          <p:nvPr/>
        </p:nvSpPr>
        <p:spPr>
          <a:xfrm>
            <a:off x="6766560" y="2971800"/>
            <a:ext cx="192024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xt248"/>
          <p:cNvSpPr txBox="1"/>
          <p:nvPr/>
        </p:nvSpPr>
        <p:spPr>
          <a:xfrm>
            <a:off x="6903720" y="30632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1</a:t>
            </a:r>
            <a:endParaRPr lang="en-US" sz="3000" dirty="0"/>
          </a:p>
        </p:txBody>
      </p:sp>
      <p:sp>
        <p:nvSpPr>
          <p:cNvPr id="36" name="txt249"/>
          <p:cNvSpPr txBox="1"/>
          <p:nvPr/>
        </p:nvSpPr>
        <p:spPr>
          <a:xfrm>
            <a:off x="6903720" y="37490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defecto crítico por épica (0 al cierre)</a:t>
            </a:r>
            <a:endParaRPr lang="en-US" sz="12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 y mitigación</a:t>
            </a:r>
            <a:endParaRPr lang="en-US" sz="2800" dirty="0"/>
          </a:p>
        </p:txBody>
      </p:sp>
      <p:sp>
        <p:nvSpPr>
          <p:cNvPr id="4" name="box250"/>
          <p:cNvSpPr/>
          <p:nvPr/>
        </p:nvSpPr>
        <p:spPr>
          <a:xfrm>
            <a:off x="457200" y="1097280"/>
            <a:ext cx="3657600" cy="731520"/>
          </a:xfrm>
          <a:prstGeom prst="roundRect">
            <a:avLst>
              <a:gd name="adj" fmla="val 10000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xt251"/>
          <p:cNvSpPr txBox="1"/>
          <p:nvPr/>
        </p:nvSpPr>
        <p:spPr>
          <a:xfrm>
            <a:off x="640080" y="10972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 localStorage alterados entre pruebas</a:t>
            </a:r>
            <a:endParaRPr lang="en-US" sz="1400" dirty="0"/>
          </a:p>
        </p:txBody>
      </p:sp>
      <p:sp>
        <p:nvSpPr>
          <p:cNvPr id="6" name="flecha252"/>
          <p:cNvSpPr/>
          <p:nvPr/>
        </p:nvSpPr>
        <p:spPr>
          <a:xfrm rot="5400000">
            <a:off x="4206240" y="1362456"/>
            <a:ext cx="237744" cy="201168"/>
          </a:xfrm>
          <a:prstGeom prst="triangl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box253"/>
          <p:cNvSpPr/>
          <p:nvPr/>
        </p:nvSpPr>
        <p:spPr>
          <a:xfrm>
            <a:off x="4526280" y="1097280"/>
            <a:ext cx="4160520" cy="73152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xt254"/>
          <p:cNvSpPr txBox="1"/>
          <p:nvPr/>
        </p:nvSpPr>
        <p:spPr>
          <a:xfrm>
            <a:off x="4709160" y="1097280"/>
            <a:ext cx="3794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Restablecer los datos de demo antes de cada ciclo; las pruebas unitarias usan memoria</a:t>
            </a:r>
            <a:endParaRPr lang="en-US" sz="1300" dirty="0"/>
          </a:p>
        </p:txBody>
      </p:sp>
      <p:sp>
        <p:nvSpPr>
          <p:cNvPr id="9" name="box255"/>
          <p:cNvSpPr/>
          <p:nvPr/>
        </p:nvSpPr>
        <p:spPr>
          <a:xfrm>
            <a:off x="457200" y="1965960"/>
            <a:ext cx="3657600" cy="731520"/>
          </a:xfrm>
          <a:prstGeom prst="roundRect">
            <a:avLst>
              <a:gd name="adj" fmla="val 10000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xt256"/>
          <p:cNvSpPr txBox="1"/>
          <p:nvPr/>
        </p:nvSpPr>
        <p:spPr>
          <a:xfrm>
            <a:off x="640080" y="19659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Pocos participantes para Maze</a:t>
            </a:r>
            <a:endParaRPr lang="en-US" sz="1400" dirty="0"/>
          </a:p>
        </p:txBody>
      </p:sp>
      <p:sp>
        <p:nvSpPr>
          <p:cNvPr id="11" name="flecha257"/>
          <p:cNvSpPr/>
          <p:nvPr/>
        </p:nvSpPr>
        <p:spPr>
          <a:xfrm rot="5400000">
            <a:off x="4206240" y="2231136"/>
            <a:ext cx="237744" cy="201168"/>
          </a:xfrm>
          <a:prstGeom prst="triangl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box258"/>
          <p:cNvSpPr/>
          <p:nvPr/>
        </p:nvSpPr>
        <p:spPr>
          <a:xfrm>
            <a:off x="4526280" y="1965960"/>
            <a:ext cx="4160520" cy="73152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xt259"/>
          <p:cNvSpPr txBox="1"/>
          <p:nvPr/>
        </p:nvSpPr>
        <p:spPr>
          <a:xfrm>
            <a:off x="4709160" y="1965960"/>
            <a:ext cx="3794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Invitar con anticipación a compañeros del curso; mínimo 5 participantes</a:t>
            </a:r>
            <a:endParaRPr lang="en-US" sz="1300" dirty="0"/>
          </a:p>
        </p:txBody>
      </p:sp>
      <p:sp>
        <p:nvSpPr>
          <p:cNvPr id="14" name="box260"/>
          <p:cNvSpPr/>
          <p:nvPr/>
        </p:nvSpPr>
        <p:spPr>
          <a:xfrm>
            <a:off x="457200" y="2834640"/>
            <a:ext cx="3657600" cy="731520"/>
          </a:xfrm>
          <a:prstGeom prst="roundRect">
            <a:avLst>
              <a:gd name="adj" fmla="val 10000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txt261"/>
          <p:cNvSpPr txBox="1"/>
          <p:nvPr/>
        </p:nvSpPr>
        <p:spPr>
          <a:xfrm>
            <a:off x="640080" y="28346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timeout de 15 min consume tiempo</a:t>
            </a:r>
            <a:endParaRPr lang="en-US" sz="1400" dirty="0"/>
          </a:p>
        </p:txBody>
      </p:sp>
      <p:sp>
        <p:nvSpPr>
          <p:cNvPr id="16" name="flecha262"/>
          <p:cNvSpPr/>
          <p:nvPr/>
        </p:nvSpPr>
        <p:spPr>
          <a:xfrm rot="5400000">
            <a:off x="4206240" y="3099816"/>
            <a:ext cx="237744" cy="201168"/>
          </a:xfrm>
          <a:prstGeom prst="triangl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box263"/>
          <p:cNvSpPr/>
          <p:nvPr/>
        </p:nvSpPr>
        <p:spPr>
          <a:xfrm>
            <a:off x="4526280" y="2834640"/>
            <a:ext cx="4160520" cy="73152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8" name="txt264"/>
          <p:cNvSpPr txBox="1"/>
          <p:nvPr/>
        </p:nvSpPr>
        <p:spPr>
          <a:xfrm>
            <a:off x="4709160" y="2834640"/>
            <a:ext cx="3794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Reducir el tiempo desde la consola, solo durante las pruebas</a:t>
            </a:r>
            <a:endParaRPr lang="en-US" sz="1300" dirty="0"/>
          </a:p>
        </p:txBody>
      </p:sp>
      <p:sp>
        <p:nvSpPr>
          <p:cNvPr id="19" name="box265"/>
          <p:cNvSpPr/>
          <p:nvPr/>
        </p:nvSpPr>
        <p:spPr>
          <a:xfrm>
            <a:off x="457200" y="3703320"/>
            <a:ext cx="3657600" cy="731520"/>
          </a:xfrm>
          <a:prstGeom prst="roundRect">
            <a:avLst>
              <a:gd name="adj" fmla="val 10000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xt266"/>
          <p:cNvSpPr txBox="1"/>
          <p:nvPr/>
        </p:nvSpPr>
        <p:spPr>
          <a:xfrm>
            <a:off x="640080" y="37033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Diferencias entre navegadores</a:t>
            </a:r>
            <a:endParaRPr lang="en-US" sz="1400" dirty="0"/>
          </a:p>
        </p:txBody>
      </p:sp>
      <p:sp>
        <p:nvSpPr>
          <p:cNvPr id="21" name="flecha267"/>
          <p:cNvSpPr/>
          <p:nvPr/>
        </p:nvSpPr>
        <p:spPr>
          <a:xfrm rot="5400000">
            <a:off x="4206240" y="3968496"/>
            <a:ext cx="237744" cy="201168"/>
          </a:xfrm>
          <a:prstGeom prst="triangl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2" name="box268"/>
          <p:cNvSpPr/>
          <p:nvPr/>
        </p:nvSpPr>
        <p:spPr>
          <a:xfrm>
            <a:off x="4526280" y="3703320"/>
            <a:ext cx="4160520" cy="73152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xt269"/>
          <p:cNvSpPr txBox="1"/>
          <p:nvPr/>
        </p:nvSpPr>
        <p:spPr>
          <a:xfrm>
            <a:off x="4709160" y="3703320"/>
            <a:ext cx="3794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el flujo principal en Chrome, Edge y Firefox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Aprobación del software</a:t>
            </a:r>
            <a:endParaRPr lang="en-US" sz="2800" dirty="0"/>
          </a:p>
        </p:txBody>
      </p:sp>
      <p:sp>
        <p:nvSpPr>
          <p:cNvPr id="4" name="box151"/>
          <p:cNvSpPr/>
          <p:nvPr/>
        </p:nvSpPr>
        <p:spPr>
          <a:xfrm>
            <a:off x="457200" y="1463040"/>
            <a:ext cx="1917700" cy="2377440"/>
          </a:xfrm>
          <a:prstGeom prst="roundRect">
            <a:avLst>
              <a:gd name="adj" fmla="val 3810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xt152"/>
          <p:cNvSpPr txBox="1"/>
          <p:nvPr/>
        </p:nvSpPr>
        <p:spPr>
          <a:xfrm>
            <a:off x="596900" y="1737360"/>
            <a:ext cx="16383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</a:t>
            </a:r>
            <a:endParaRPr lang="en-US" sz="3600" dirty="0"/>
          </a:p>
        </p:txBody>
      </p:sp>
      <p:sp>
        <p:nvSpPr>
          <p:cNvPr id="6" name="txt153"/>
          <p:cNvSpPr txBox="1"/>
          <p:nvPr/>
        </p:nvSpPr>
        <p:spPr>
          <a:xfrm>
            <a:off x="596900" y="2697480"/>
            <a:ext cx="16383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MX" sz="14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criterios de salida cumplidos</a:t>
            </a:r>
            <a:endParaRPr lang="en-US" sz="1400" dirty="0"/>
          </a:p>
        </p:txBody>
      </p:sp>
      <p:sp>
        <p:nvSpPr>
          <p:cNvPr id="7" name="box154"/>
          <p:cNvSpPr/>
          <p:nvPr/>
        </p:nvSpPr>
        <p:spPr>
          <a:xfrm>
            <a:off x="2560320" y="1463040"/>
            <a:ext cx="1917700" cy="237744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xt155"/>
          <p:cNvSpPr txBox="1"/>
          <p:nvPr/>
        </p:nvSpPr>
        <p:spPr>
          <a:xfrm>
            <a:off x="2700020" y="1737360"/>
            <a:ext cx="16383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600" dirty="0"/>
          </a:p>
        </p:txBody>
      </p:sp>
      <p:sp>
        <p:nvSpPr>
          <p:cNvPr id="9" name="txt156"/>
          <p:cNvSpPr txBox="1"/>
          <p:nvPr/>
        </p:nvSpPr>
        <p:spPr>
          <a:xfrm>
            <a:off x="2700020" y="2697480"/>
            <a:ext cx="16383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defectos críticos o altos sin corregir</a:t>
            </a:r>
            <a:endParaRPr lang="en-US" sz="1400" dirty="0"/>
          </a:p>
        </p:txBody>
      </p:sp>
      <p:sp>
        <p:nvSpPr>
          <p:cNvPr id="10" name="box157"/>
          <p:cNvSpPr/>
          <p:nvPr/>
        </p:nvSpPr>
        <p:spPr>
          <a:xfrm>
            <a:off x="4663440" y="1463040"/>
            <a:ext cx="1917700" cy="237744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xt158"/>
          <p:cNvSpPr txBox="1"/>
          <p:nvPr/>
        </p:nvSpPr>
        <p:spPr>
          <a:xfrm>
            <a:off x="4803140" y="1737360"/>
            <a:ext cx="16383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80 %</a:t>
            </a:r>
            <a:endParaRPr lang="en-US" sz="3600" dirty="0"/>
          </a:p>
        </p:txBody>
      </p:sp>
      <p:sp>
        <p:nvSpPr>
          <p:cNvPr id="12" name="txt159"/>
          <p:cNvSpPr txBox="1"/>
          <p:nvPr/>
        </p:nvSpPr>
        <p:spPr>
          <a:xfrm>
            <a:off x="4803140" y="2697480"/>
            <a:ext cx="16383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MX" sz="14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éxito en UAT (Maze) y SUS ≥ 68</a:t>
            </a:r>
            <a:endParaRPr lang="en-US" sz="1400" dirty="0"/>
          </a:p>
        </p:txBody>
      </p:sp>
      <p:sp>
        <p:nvSpPr>
          <p:cNvPr id="13" name="box160"/>
          <p:cNvSpPr/>
          <p:nvPr/>
        </p:nvSpPr>
        <p:spPr>
          <a:xfrm>
            <a:off x="6766560" y="1463040"/>
            <a:ext cx="1917700" cy="237744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xt161"/>
          <p:cNvSpPr txBox="1"/>
          <p:nvPr/>
        </p:nvSpPr>
        <p:spPr>
          <a:xfrm>
            <a:off x="6906260" y="1737360"/>
            <a:ext cx="16383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600" dirty="0"/>
          </a:p>
        </p:txBody>
      </p:sp>
      <p:sp>
        <p:nvSpPr>
          <p:cNvPr id="15" name="txt162"/>
          <p:cNvSpPr txBox="1"/>
          <p:nvPr/>
        </p:nvSpPr>
        <p:spPr>
          <a:xfrm>
            <a:off x="6906260" y="2697480"/>
            <a:ext cx="16383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MX" sz="14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firmas: Líder de QA y docente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8693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rc270"/>
          <p:cNvSpPr/>
          <p:nvPr/>
        </p:nvSpPr>
        <p:spPr>
          <a:xfrm>
            <a:off x="731520" y="960120"/>
            <a:ext cx="640080" cy="64008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txt271"/>
          <p:cNvSpPr txBox="1"/>
          <p:nvPr/>
        </p:nvSpPr>
        <p:spPr>
          <a:xfrm>
            <a:off x="731520" y="960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</a:t>
            </a:r>
            <a:endParaRPr lang="en-US" sz="20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73736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Conformidad</a:t>
            </a:r>
            <a:endParaRPr lang="en-US" sz="4000" dirty="0"/>
          </a:p>
        </p:txBody>
      </p:sp>
      <p:sp>
        <p:nvSpPr>
          <p:cNvPr id="5" name="txt272"/>
          <p:cNvSpPr txBox="1"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Normas o regulaciones que deben cumplirse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Normas y regulaciones que debe cumplir TechStore</a:t>
            </a:r>
            <a:endParaRPr lang="en-US" sz="2800" dirty="0"/>
          </a:p>
        </p:txBody>
      </p:sp>
      <p:graphicFrame>
        <p:nvGraphicFramePr>
          <p:cNvPr id="20" name="tabla27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 / regulación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exige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Cómo lo cumple TechStore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 / HU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ISO/IEC 25010 – Seguridad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Autenticación robusta y control de sesión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Política de contraseñas, bloqueo tras 5 intentos, cierre a los 15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RNF04, HU18, HU20–22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 N.° 29733 (Perú)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Consentimiento previo, expreso e informado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Casilla obligatoria y página de Política de Privacidad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RNF05, HU19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 DSS (buenas prácticas)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guardar número completo ni CVV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 marca y 4 últimos dígitos; validación de Luhn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WCAG 2.1 AA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Operable con teclado y perceptible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Etiquetas asociadas, foco visible, errores junto al campo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IGV 18 % y Ley N.° 29571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Precios finales transparentes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Precios con IGV incluido y desglosado en el carrito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ISO/IEC 25010 – Portabilidad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Varios dispositivos y navegadores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Responsive 375–1920 px; Chrome, Edge, Firefox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RNF02, RNF07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conformidad CC01–CC07</a:t>
            </a:r>
            <a:endParaRPr lang="en-US" sz="2800" dirty="0"/>
          </a:p>
        </p:txBody>
      </p:sp>
      <p:sp>
        <p:nvSpPr>
          <p:cNvPr id="4" name="box274"/>
          <p:cNvSpPr/>
          <p:nvPr/>
        </p:nvSpPr>
        <p:spPr>
          <a:xfrm>
            <a:off x="457200" y="1051560"/>
            <a:ext cx="19659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xt275"/>
          <p:cNvSpPr txBox="1"/>
          <p:nvPr/>
        </p:nvSpPr>
        <p:spPr>
          <a:xfrm>
            <a:off x="594360" y="11612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CC01</a:t>
            </a:r>
            <a:endParaRPr lang="en-US" sz="1300" dirty="0"/>
          </a:p>
        </p:txBody>
      </p:sp>
      <p:sp>
        <p:nvSpPr>
          <p:cNvPr id="6" name="txt276"/>
          <p:cNvSpPr txBox="1"/>
          <p:nvPr/>
        </p:nvSpPr>
        <p:spPr>
          <a:xfrm>
            <a:off x="1234440" y="116128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25010</a:t>
            </a:r>
            <a:endParaRPr lang="en-US" sz="900" dirty="0"/>
          </a:p>
        </p:txBody>
      </p:sp>
      <p:sp>
        <p:nvSpPr>
          <p:cNvPr id="7" name="txt277"/>
          <p:cNvSpPr txBox="1"/>
          <p:nvPr/>
        </p:nvSpPr>
        <p:spPr>
          <a:xfrm>
            <a:off x="594360" y="14630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Contraseñas</a:t>
            </a:r>
            <a:endParaRPr lang="en-US" sz="1500" dirty="0"/>
          </a:p>
        </p:txBody>
      </p:sp>
      <p:sp>
        <p:nvSpPr>
          <p:cNvPr id="8" name="txt278"/>
          <p:cNvSpPr txBox="1"/>
          <p:nvPr/>
        </p:nvSpPr>
        <p:spPr>
          <a:xfrm>
            <a:off x="594360" y="182880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 claves inseguras y acepta la válida</a:t>
            </a:r>
            <a:endParaRPr lang="en-US" sz="1200" dirty="0"/>
          </a:p>
        </p:txBody>
      </p:sp>
      <p:sp>
        <p:nvSpPr>
          <p:cNvPr id="9" name="box279"/>
          <p:cNvSpPr/>
          <p:nvPr/>
        </p:nvSpPr>
        <p:spPr>
          <a:xfrm>
            <a:off x="2542032" y="1051560"/>
            <a:ext cx="19659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xt280"/>
          <p:cNvSpPr txBox="1"/>
          <p:nvPr/>
        </p:nvSpPr>
        <p:spPr>
          <a:xfrm>
            <a:off x="2679192" y="11612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CC02</a:t>
            </a:r>
            <a:endParaRPr lang="en-US" sz="1300" dirty="0"/>
          </a:p>
        </p:txBody>
      </p:sp>
      <p:sp>
        <p:nvSpPr>
          <p:cNvPr id="11" name="txt281"/>
          <p:cNvSpPr txBox="1"/>
          <p:nvPr/>
        </p:nvSpPr>
        <p:spPr>
          <a:xfrm>
            <a:off x="3319272" y="116128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25010</a:t>
            </a:r>
            <a:endParaRPr lang="en-US" sz="900" dirty="0"/>
          </a:p>
        </p:txBody>
      </p:sp>
      <p:sp>
        <p:nvSpPr>
          <p:cNvPr id="12" name="txt282"/>
          <p:cNvSpPr txBox="1"/>
          <p:nvPr/>
        </p:nvSpPr>
        <p:spPr>
          <a:xfrm>
            <a:off x="2679192" y="14630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Bloqueo por intentos</a:t>
            </a:r>
            <a:endParaRPr lang="en-US" sz="1500" dirty="0"/>
          </a:p>
        </p:txBody>
      </p:sp>
      <p:sp>
        <p:nvSpPr>
          <p:cNvPr id="13" name="txt283"/>
          <p:cNvSpPr txBox="1"/>
          <p:nvPr/>
        </p:nvSpPr>
        <p:spPr>
          <a:xfrm>
            <a:off x="2679192" y="182880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Bloquea 5 min tras 5 intentos fallidos</a:t>
            </a:r>
            <a:endParaRPr lang="en-US" sz="1200" dirty="0"/>
          </a:p>
        </p:txBody>
      </p:sp>
      <p:sp>
        <p:nvSpPr>
          <p:cNvPr id="14" name="box284"/>
          <p:cNvSpPr/>
          <p:nvPr/>
        </p:nvSpPr>
        <p:spPr>
          <a:xfrm>
            <a:off x="4626864" y="1051560"/>
            <a:ext cx="19659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txt285"/>
          <p:cNvSpPr txBox="1"/>
          <p:nvPr/>
        </p:nvSpPr>
        <p:spPr>
          <a:xfrm>
            <a:off x="4764024" y="11612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CC03</a:t>
            </a:r>
            <a:endParaRPr lang="en-US" sz="1300" dirty="0"/>
          </a:p>
        </p:txBody>
      </p:sp>
      <p:sp>
        <p:nvSpPr>
          <p:cNvPr id="16" name="txt286"/>
          <p:cNvSpPr txBox="1"/>
          <p:nvPr/>
        </p:nvSpPr>
        <p:spPr>
          <a:xfrm>
            <a:off x="5404104" y="116128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25010</a:t>
            </a:r>
            <a:endParaRPr lang="en-US" sz="900" dirty="0"/>
          </a:p>
        </p:txBody>
      </p:sp>
      <p:sp>
        <p:nvSpPr>
          <p:cNvPr id="17" name="txt287"/>
          <p:cNvSpPr txBox="1"/>
          <p:nvPr/>
        </p:nvSpPr>
        <p:spPr>
          <a:xfrm>
            <a:off x="4764024" y="14630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segura</a:t>
            </a:r>
            <a:endParaRPr lang="en-US" sz="1500" dirty="0"/>
          </a:p>
        </p:txBody>
      </p:sp>
      <p:sp>
        <p:nvSpPr>
          <p:cNvPr id="18" name="txt288"/>
          <p:cNvSpPr txBox="1"/>
          <p:nvPr/>
        </p:nvSpPr>
        <p:spPr>
          <a:xfrm>
            <a:off x="4764024" y="182880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sesión expira a los 15 min y exige reingreso</a:t>
            </a:r>
            <a:endParaRPr lang="en-US" sz="1200" dirty="0"/>
          </a:p>
        </p:txBody>
      </p:sp>
      <p:sp>
        <p:nvSpPr>
          <p:cNvPr id="19" name="box289"/>
          <p:cNvSpPr/>
          <p:nvPr/>
        </p:nvSpPr>
        <p:spPr>
          <a:xfrm>
            <a:off x="6711696" y="1051560"/>
            <a:ext cx="19659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xt290"/>
          <p:cNvSpPr txBox="1"/>
          <p:nvPr/>
        </p:nvSpPr>
        <p:spPr>
          <a:xfrm>
            <a:off x="6848856" y="11612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CC04</a:t>
            </a:r>
            <a:endParaRPr lang="en-US" sz="1300" dirty="0"/>
          </a:p>
        </p:txBody>
      </p:sp>
      <p:sp>
        <p:nvSpPr>
          <p:cNvPr id="21" name="txt291"/>
          <p:cNvSpPr txBox="1"/>
          <p:nvPr/>
        </p:nvSpPr>
        <p:spPr>
          <a:xfrm>
            <a:off x="7488936" y="116128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 N.° 29733</a:t>
            </a:r>
            <a:endParaRPr lang="en-US" sz="900" dirty="0"/>
          </a:p>
        </p:txBody>
      </p:sp>
      <p:sp>
        <p:nvSpPr>
          <p:cNvPr id="22" name="txt292"/>
          <p:cNvSpPr txBox="1"/>
          <p:nvPr/>
        </p:nvSpPr>
        <p:spPr>
          <a:xfrm>
            <a:off x="6848856" y="14630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personales</a:t>
            </a:r>
            <a:endParaRPr lang="en-US" sz="1500" dirty="0"/>
          </a:p>
        </p:txBody>
      </p:sp>
      <p:sp>
        <p:nvSpPr>
          <p:cNvPr id="23" name="txt293"/>
          <p:cNvSpPr txBox="1"/>
          <p:nvPr/>
        </p:nvSpPr>
        <p:spPr>
          <a:xfrm>
            <a:off x="6848856" y="182880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permite registrarse sin consentimiento</a:t>
            </a:r>
            <a:endParaRPr lang="en-US" sz="1200" dirty="0"/>
          </a:p>
        </p:txBody>
      </p:sp>
      <p:sp>
        <p:nvSpPr>
          <p:cNvPr id="24" name="box294"/>
          <p:cNvSpPr/>
          <p:nvPr/>
        </p:nvSpPr>
        <p:spPr>
          <a:xfrm>
            <a:off x="1499616" y="2788920"/>
            <a:ext cx="1965960" cy="1600200"/>
          </a:xfrm>
          <a:prstGeom prst="roundRect">
            <a:avLst>
              <a:gd name="adj" fmla="val 4571"/>
            </a:avLst>
          </a:prstGeom>
          <a:solidFill>
            <a:srgbClr val="E4EAF2"/>
          </a:solidFill>
          <a:ln w="12700">
            <a:solidFill>
              <a:srgbClr val="E4EAF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xt295"/>
          <p:cNvSpPr txBox="1"/>
          <p:nvPr/>
        </p:nvSpPr>
        <p:spPr>
          <a:xfrm>
            <a:off x="1636776" y="28986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CC05</a:t>
            </a:r>
            <a:endParaRPr lang="en-US" sz="1300" dirty="0"/>
          </a:p>
        </p:txBody>
      </p:sp>
      <p:sp>
        <p:nvSpPr>
          <p:cNvPr id="26" name="txt296"/>
          <p:cNvSpPr txBox="1"/>
          <p:nvPr/>
        </p:nvSpPr>
        <p:spPr>
          <a:xfrm>
            <a:off x="2276856" y="289864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</a:t>
            </a:r>
            <a:endParaRPr lang="en-US" sz="900" dirty="0"/>
          </a:p>
        </p:txBody>
      </p:sp>
      <p:sp>
        <p:nvSpPr>
          <p:cNvPr id="27" name="txt297"/>
          <p:cNvSpPr txBox="1"/>
          <p:nvPr/>
        </p:nvSpPr>
        <p:spPr>
          <a:xfrm>
            <a:off x="1636776" y="32004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 tarjeta</a:t>
            </a:r>
            <a:endParaRPr lang="en-US" sz="1500" dirty="0"/>
          </a:p>
        </p:txBody>
      </p:sp>
      <p:sp>
        <p:nvSpPr>
          <p:cNvPr id="28" name="txt298"/>
          <p:cNvSpPr txBox="1"/>
          <p:nvPr/>
        </p:nvSpPr>
        <p:spPr>
          <a:xfrm>
            <a:off x="1636776" y="356616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guarda número completo ni CVV</a:t>
            </a:r>
            <a:endParaRPr lang="en-US" sz="1200" dirty="0"/>
          </a:p>
        </p:txBody>
      </p:sp>
      <p:sp>
        <p:nvSpPr>
          <p:cNvPr id="29" name="box299"/>
          <p:cNvSpPr/>
          <p:nvPr/>
        </p:nvSpPr>
        <p:spPr>
          <a:xfrm>
            <a:off x="3584448" y="2788920"/>
            <a:ext cx="1965960" cy="1600200"/>
          </a:xfrm>
          <a:prstGeom prst="roundRect">
            <a:avLst>
              <a:gd name="adj" fmla="val 4571"/>
            </a:avLst>
          </a:prstGeom>
          <a:solidFill>
            <a:srgbClr val="E4EAF2"/>
          </a:solidFill>
          <a:ln w="12700">
            <a:solidFill>
              <a:srgbClr val="E4EAF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0" name="txt300"/>
          <p:cNvSpPr txBox="1"/>
          <p:nvPr/>
        </p:nvSpPr>
        <p:spPr>
          <a:xfrm>
            <a:off x="3721608" y="28986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CC06</a:t>
            </a:r>
            <a:endParaRPr lang="en-US" sz="1300" dirty="0"/>
          </a:p>
        </p:txBody>
      </p:sp>
      <p:sp>
        <p:nvSpPr>
          <p:cNvPr id="31" name="txt301"/>
          <p:cNvSpPr txBox="1"/>
          <p:nvPr/>
        </p:nvSpPr>
        <p:spPr>
          <a:xfrm>
            <a:off x="4361688" y="289864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WCAG 2.1 AA</a:t>
            </a:r>
            <a:endParaRPr lang="en-US" sz="900" dirty="0"/>
          </a:p>
        </p:txBody>
      </p:sp>
      <p:sp>
        <p:nvSpPr>
          <p:cNvPr id="32" name="txt302"/>
          <p:cNvSpPr txBox="1"/>
          <p:nvPr/>
        </p:nvSpPr>
        <p:spPr>
          <a:xfrm>
            <a:off x="3721608" y="32004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Accesibilidad</a:t>
            </a:r>
            <a:endParaRPr lang="en-US" sz="1500" dirty="0"/>
          </a:p>
        </p:txBody>
      </p:sp>
      <p:sp>
        <p:nvSpPr>
          <p:cNvPr id="33" name="txt303"/>
          <p:cNvSpPr txBox="1"/>
          <p:nvPr/>
        </p:nvSpPr>
        <p:spPr>
          <a:xfrm>
            <a:off x="3721608" y="356616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 completa solo con teclado; Lighthouse ≥ 90</a:t>
            </a:r>
            <a:endParaRPr lang="en-US" sz="1200" dirty="0"/>
          </a:p>
        </p:txBody>
      </p:sp>
      <p:sp>
        <p:nvSpPr>
          <p:cNvPr id="34" name="box304"/>
          <p:cNvSpPr/>
          <p:nvPr/>
        </p:nvSpPr>
        <p:spPr>
          <a:xfrm>
            <a:off x="5669280" y="2788920"/>
            <a:ext cx="1965960" cy="1600200"/>
          </a:xfrm>
          <a:prstGeom prst="roundRect">
            <a:avLst>
              <a:gd name="adj" fmla="val 4571"/>
            </a:avLst>
          </a:prstGeom>
          <a:solidFill>
            <a:srgbClr val="E4EAF2"/>
          </a:solidFill>
          <a:ln w="12700">
            <a:solidFill>
              <a:srgbClr val="E4EAF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xt305"/>
          <p:cNvSpPr txBox="1"/>
          <p:nvPr/>
        </p:nvSpPr>
        <p:spPr>
          <a:xfrm>
            <a:off x="5806440" y="28986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CC07</a:t>
            </a:r>
            <a:endParaRPr lang="en-US" sz="1300" dirty="0"/>
          </a:p>
        </p:txBody>
      </p:sp>
      <p:sp>
        <p:nvSpPr>
          <p:cNvPr id="36" name="txt306"/>
          <p:cNvSpPr txBox="1"/>
          <p:nvPr/>
        </p:nvSpPr>
        <p:spPr>
          <a:xfrm>
            <a:off x="6446520" y="289864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IGV / Ley 29571</a:t>
            </a:r>
            <a:endParaRPr lang="en-US" sz="900" dirty="0"/>
          </a:p>
        </p:txBody>
      </p:sp>
      <p:sp>
        <p:nvSpPr>
          <p:cNvPr id="37" name="txt307"/>
          <p:cNvSpPr txBox="1"/>
          <p:nvPr/>
        </p:nvSpPr>
        <p:spPr>
          <a:xfrm>
            <a:off x="5806440" y="32004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Precios con IGV</a:t>
            </a:r>
            <a:endParaRPr lang="en-US" sz="1500" dirty="0"/>
          </a:p>
        </p:txBody>
      </p:sp>
      <p:sp>
        <p:nvSpPr>
          <p:cNvPr id="38" name="txt308"/>
          <p:cNvSpPr txBox="1"/>
          <p:nvPr/>
        </p:nvSpPr>
        <p:spPr>
          <a:xfrm>
            <a:off x="5806440" y="356616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precio mostrado + envío elegido</a:t>
            </a:r>
            <a:endParaRPr lang="en-US" sz="12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de caso: CC01 política de contraseñas</a:t>
            </a:r>
            <a:endParaRPr lang="en-US" sz="2800" dirty="0"/>
          </a:p>
        </p:txBody>
      </p:sp>
      <p:graphicFrame>
        <p:nvGraphicFramePr>
          <p:cNvPr id="22" name="tabla30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303520" cy="9144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Detalle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Requisito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 8 caracteres con mayúscula, minúscula, número y carácter especial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Precondiciones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usuario está en la pantalla de registro (registro.html)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Completar el formulario con datos válidos   2. Ingresar cada contraseña y pulsar «Crear cuenta»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 esperado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Inválidas → mensaje junto al campo · Válida → cuenta creada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Cumple si rechaza todas las contraseñas inseguras y acepta la válida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box310"/>
          <p:cNvSpPr/>
          <p:nvPr/>
        </p:nvSpPr>
        <p:spPr>
          <a:xfrm>
            <a:off x="5989320" y="1051560"/>
            <a:ext cx="2697480" cy="3429000"/>
          </a:xfrm>
          <a:prstGeom prst="roundRect">
            <a:avLst>
              <a:gd name="adj" fmla="val 2712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xt311"/>
          <p:cNvSpPr txBox="1"/>
          <p:nvPr/>
        </p:nvSpPr>
        <p:spPr>
          <a:xfrm>
            <a:off x="6172200" y="11887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Entradas</a:t>
            </a:r>
            <a:endParaRPr lang="en-US" sz="1600" dirty="0"/>
          </a:p>
        </p:txBody>
      </p:sp>
      <p:sp>
        <p:nvSpPr>
          <p:cNvPr id="7" name="circ312"/>
          <p:cNvSpPr/>
          <p:nvPr/>
        </p:nvSpPr>
        <p:spPr>
          <a:xfrm>
            <a:off x="6172200" y="1691640"/>
            <a:ext cx="411480" cy="411480"/>
          </a:xfrm>
          <a:prstGeom prst="ellipse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xt313"/>
          <p:cNvSpPr txBox="1"/>
          <p:nvPr/>
        </p:nvSpPr>
        <p:spPr>
          <a:xfrm>
            <a:off x="6172200" y="1691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9" name="txt314"/>
          <p:cNvSpPr txBox="1"/>
          <p:nvPr/>
        </p:nvSpPr>
        <p:spPr>
          <a:xfrm>
            <a:off x="6720840" y="1645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abcd123</a:t>
            </a:r>
            <a:endParaRPr lang="en-US" sz="1500" dirty="0"/>
          </a:p>
        </p:txBody>
      </p:sp>
      <p:sp>
        <p:nvSpPr>
          <p:cNvPr id="10" name="txt315"/>
          <p:cNvSpPr txBox="1"/>
          <p:nvPr/>
        </p:nvSpPr>
        <p:spPr>
          <a:xfrm>
            <a:off x="6720840" y="1965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corta, sin mayúscula ni especial</a:t>
            </a:r>
            <a:endParaRPr lang="en-US" sz="1100" dirty="0"/>
          </a:p>
        </p:txBody>
      </p:sp>
      <p:sp>
        <p:nvSpPr>
          <p:cNvPr id="11" name="circ316"/>
          <p:cNvSpPr/>
          <p:nvPr/>
        </p:nvSpPr>
        <p:spPr>
          <a:xfrm>
            <a:off x="6172200" y="2560320"/>
            <a:ext cx="411480" cy="411480"/>
          </a:xfrm>
          <a:prstGeom prst="ellipse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txt317"/>
          <p:cNvSpPr txBox="1"/>
          <p:nvPr/>
        </p:nvSpPr>
        <p:spPr>
          <a:xfrm>
            <a:off x="6172200" y="2560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13" name="txt318"/>
          <p:cNvSpPr txBox="1"/>
          <p:nvPr/>
        </p:nvSpPr>
        <p:spPr>
          <a:xfrm>
            <a:off x="6720840" y="2514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Abcd1234</a:t>
            </a:r>
            <a:endParaRPr lang="en-US" sz="1500" dirty="0"/>
          </a:p>
        </p:txBody>
      </p:sp>
      <p:sp>
        <p:nvSpPr>
          <p:cNvPr id="14" name="txt319"/>
          <p:cNvSpPr txBox="1"/>
          <p:nvPr/>
        </p:nvSpPr>
        <p:spPr>
          <a:xfrm>
            <a:off x="6720840" y="2834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carácter especial</a:t>
            </a:r>
            <a:endParaRPr lang="en-US" sz="1100" dirty="0"/>
          </a:p>
        </p:txBody>
      </p:sp>
      <p:sp>
        <p:nvSpPr>
          <p:cNvPr id="15" name="circ320"/>
          <p:cNvSpPr/>
          <p:nvPr/>
        </p:nvSpPr>
        <p:spPr>
          <a:xfrm>
            <a:off x="6172200" y="3429000"/>
            <a:ext cx="411480" cy="411480"/>
          </a:xfrm>
          <a:prstGeom prst="ellipse">
            <a:avLst/>
          </a:prstGeom>
          <a:solidFill>
            <a:srgbClr val="38A169"/>
          </a:solidFill>
          <a:ln w="12700">
            <a:solidFill>
              <a:srgbClr val="38A1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txt321"/>
          <p:cNvSpPr txBox="1"/>
          <p:nvPr/>
        </p:nvSpPr>
        <p:spPr>
          <a:xfrm>
            <a:off x="6172200" y="3429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xt322"/>
          <p:cNvSpPr txBox="1"/>
          <p:nvPr/>
        </p:nvSpPr>
        <p:spPr>
          <a:xfrm>
            <a:off x="6720840" y="3383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Abcd@1234</a:t>
            </a:r>
            <a:endParaRPr lang="en-US" sz="1500" dirty="0"/>
          </a:p>
        </p:txBody>
      </p:sp>
      <p:sp>
        <p:nvSpPr>
          <p:cNvPr id="18" name="txt323"/>
          <p:cNvSpPr txBox="1"/>
          <p:nvPr/>
        </p:nvSpPr>
        <p:spPr>
          <a:xfrm>
            <a:off x="6720840" y="3703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cumple la política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resultados de conformidad</a:t>
            </a:r>
            <a:endParaRPr lang="en-US" sz="2800" dirty="0"/>
          </a:p>
        </p:txBody>
      </p:sp>
      <p:graphicFrame>
        <p:nvGraphicFramePr>
          <p:cNvPr id="23" name="tabla3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6400800" cy="91440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Requisito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ISO/IEC 25010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Política de contraseñas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ejecutar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ISO/IEC 25010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Bloqueo por intentos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ejecutar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ISO/IEC 25010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Expiración de sesión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ejecutar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 N.° 29733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Consentimiento de datos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ejecutar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 DSS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Datos de tarjeta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ejecutar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CC06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WCAG 2.1 AA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Accesibilidad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ejecutar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CC07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IGV / Ley N.° 29571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Precios transparentes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ejecutar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box325"/>
          <p:cNvSpPr/>
          <p:nvPr/>
        </p:nvSpPr>
        <p:spPr>
          <a:xfrm>
            <a:off x="7086600" y="1051560"/>
            <a:ext cx="1600200" cy="34290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xt326"/>
          <p:cNvSpPr txBox="1"/>
          <p:nvPr/>
        </p:nvSpPr>
        <p:spPr>
          <a:xfrm>
            <a:off x="7132320" y="173736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/ 7</a:t>
            </a:r>
            <a:endParaRPr lang="en-US" sz="4000" dirty="0"/>
          </a:p>
        </p:txBody>
      </p:sp>
      <p:sp>
        <p:nvSpPr>
          <p:cNvPr id="7" name="txt327"/>
          <p:cNvSpPr txBox="1"/>
          <p:nvPr/>
        </p:nvSpPr>
        <p:spPr>
          <a:xfrm>
            <a:off x="7178040" y="260604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MX" sz="13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ejecutados (se ejecutan en la Prueba de Conformidad)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328"/>
          <p:cNvSpPr txBox="1"/>
          <p:nvPr/>
        </p:nvSpPr>
        <p:spPr>
          <a:xfrm>
            <a:off x="731520" y="54864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3600" dirty="0"/>
          </a:p>
        </p:txBody>
      </p:sp>
      <p:sp>
        <p:nvSpPr>
          <p:cNvPr id="3" name="circ329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txt330"/>
          <p:cNvSpPr txBox="1"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xt331"/>
          <p:cNvSpPr txBox="1"/>
          <p:nvPr/>
        </p:nvSpPr>
        <p:spPr>
          <a:xfrm>
            <a:off x="1371600" y="150876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los casos de prueba CP01–CP12 y de conformidad CC01–CC07</a:t>
            </a:r>
            <a:endParaRPr lang="en-US" sz="1700" dirty="0"/>
          </a:p>
        </p:txBody>
      </p:sp>
      <p:sp>
        <p:nvSpPr>
          <p:cNvPr id="6" name="circ332"/>
          <p:cNvSpPr/>
          <p:nvPr/>
        </p:nvSpPr>
        <p:spPr>
          <a:xfrm>
            <a:off x="731520" y="2194560"/>
            <a:ext cx="457200" cy="45720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xt333"/>
          <p:cNvSpPr txBox="1"/>
          <p:nvPr/>
        </p:nvSpPr>
        <p:spPr>
          <a:xfrm>
            <a:off x="73152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xt334"/>
          <p:cNvSpPr txBox="1"/>
          <p:nvPr/>
        </p:nvSpPr>
        <p:spPr>
          <a:xfrm>
            <a:off x="1371600" y="219456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resultados y evidencias (capturas)</a:t>
            </a:r>
            <a:endParaRPr lang="en-US" sz="1700" dirty="0"/>
          </a:p>
        </p:txBody>
      </p:sp>
      <p:sp>
        <p:nvSpPr>
          <p:cNvPr id="9" name="circ335"/>
          <p:cNvSpPr/>
          <p:nvPr/>
        </p:nvSpPr>
        <p:spPr>
          <a:xfrm>
            <a:off x="731520" y="2880360"/>
            <a:ext cx="457200" cy="45720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xt336"/>
          <p:cNvSpPr txBox="1"/>
          <p:nvPr/>
        </p:nvSpPr>
        <p:spPr>
          <a:xfrm>
            <a:off x="73152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xt337"/>
          <p:cNvSpPr txBox="1"/>
          <p:nvPr/>
        </p:nvSpPr>
        <p:spPr>
          <a:xfrm>
            <a:off x="1371600" y="288036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Completar la prueba de usabilidad en Maze</a:t>
            </a:r>
            <a:endParaRPr lang="en-US" sz="1700" dirty="0"/>
          </a:p>
        </p:txBody>
      </p:sp>
      <p:sp>
        <p:nvSpPr>
          <p:cNvPr id="12" name="circ338"/>
          <p:cNvSpPr/>
          <p:nvPr/>
        </p:nvSpPr>
        <p:spPr>
          <a:xfrm>
            <a:off x="731520" y="3566160"/>
            <a:ext cx="457200" cy="45720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xt339"/>
          <p:cNvSpPr txBox="1"/>
          <p:nvPr/>
        </p:nvSpPr>
        <p:spPr>
          <a:xfrm>
            <a:off x="73152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xt340"/>
          <p:cNvSpPr txBox="1"/>
          <p:nvPr/>
        </p:nvSpPr>
        <p:spPr>
          <a:xfrm>
            <a:off x="1371600" y="356616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Consolidar las métricas en el informe final</a:t>
            </a:r>
            <a:endParaRPr lang="en-US" sz="1700" dirty="0"/>
          </a:p>
        </p:txBody>
      </p:sp>
      <p:sp>
        <p:nvSpPr>
          <p:cNvPr id="15" name="txt341"/>
          <p:cNvSpPr txBox="1"/>
          <p:nvPr/>
        </p:nvSpPr>
        <p:spPr>
          <a:xfrm>
            <a:off x="731520" y="434340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· ¿Preguntas?</a:t>
            </a:r>
            <a:endParaRPr lang="en-US" sz="1800" dirty="0"/>
          </a:p>
        </p:txBody>
      </p:sp>
      <p:sp>
        <p:nvSpPr>
          <p:cNvPr id="17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73736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2782</Words>
  <Application>Microsoft Office PowerPoint</Application>
  <PresentationFormat>Presentación en pantalla (16:9)</PresentationFormat>
  <Paragraphs>544</Paragraphs>
  <Slides>25</Slides>
  <Notes>25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25</vt:i4>
      </vt:variant>
    </vt:vector>
  </HeadingPairs>
  <TitlesOfParts>
    <vt:vector size="29" baseType="lpstr">
      <vt:lpstr>Arial</vt:lpstr>
      <vt:lpstr>Calibri</vt:lpstr>
      <vt:lpstr>Courier New</vt:lpstr>
      <vt:lpstr>Office Theme</vt:lpstr>
      <vt:lpstr>Presentación de PowerPoint</vt:lpstr>
      <vt:lpstr>TechStore: el sistema bajo evaluación</vt:lpstr>
      <vt:lpstr>Lo que pide la actividad y cómo se responde</vt:lpstr>
      <vt:lpstr>Plan de Calidad</vt:lpstr>
      <vt:lpstr>Objetivos y alcance de calidad</vt:lpstr>
      <vt:lpstr>Normas y estándares aplicables</vt:lpstr>
      <vt:lpstr>Métricas de calidad (ISO/IEC 25010)</vt:lpstr>
      <vt:lpstr>Cómo se asegura y revisa la calidad</vt:lpstr>
      <vt:lpstr>Criterios de aceptación del producto</vt:lpstr>
      <vt:lpstr>Plan de Pruebas</vt:lpstr>
      <vt:lpstr>Alcance y estrategia por niveles</vt:lpstr>
      <vt:lpstr>Tipos de pruebas a aplicar</vt:lpstr>
      <vt:lpstr>Criterios de entrada, salida y suspensión</vt:lpstr>
      <vt:lpstr>Casos CP01–CP06: catálogo y carrito</vt:lpstr>
      <vt:lpstr>Casos CP07–CP12: cuenta, checkout y postventa</vt:lpstr>
      <vt:lpstr>Recursos y responsabilidades</vt:lpstr>
      <vt:lpstr>Cronograma y métricas de prueba</vt:lpstr>
      <vt:lpstr>Riesgos y mitigación</vt:lpstr>
      <vt:lpstr>Aprobación del software</vt:lpstr>
      <vt:lpstr>Pruebas de Conformidad</vt:lpstr>
      <vt:lpstr>Normas y regulaciones que debe cumplir TechStore</vt:lpstr>
      <vt:lpstr>Casos de conformidad CC01–CC07</vt:lpstr>
      <vt:lpstr>Ejemplo de caso: CC01 política de contraseñas</vt:lpstr>
      <vt:lpstr>Matriz de resultados de conformidad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Esquema de Plan de Calidad, Plan de Pruebas y Pruebas de Conformidad – TechStore</dc:title>
  <dc:subject>PptxGenJS Presentation</dc:subject>
  <dc:creator>Diego Aarón Damián Valdivia</dc:creator>
  <cp:lastModifiedBy>ALUMNO - Diego Aaron DAMIAN VALDIVIA</cp:lastModifiedBy>
  <cp:revision>9</cp:revision>
  <dcterms:created xsi:type="dcterms:W3CDTF">2026-10-03T22:47:17Z</dcterms:created>
  <dcterms:modified xsi:type="dcterms:W3CDTF">2026-10-09T23:11:35Z</dcterms:modified>
</cp:coreProperties>
</file>